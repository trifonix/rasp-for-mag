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handoutMasterIdLst>
    <p:handoutMasterId r:id="rId13"/>
  </p:handoutMasterIdLst>
  <p:sldIdLst>
    <p:sldId id="268" r:id="rId3"/>
    <p:sldId id="270" r:id="rId4"/>
    <p:sldId id="269" r:id="rId5"/>
    <p:sldId id="271" r:id="rId6"/>
    <p:sldId id="272" r:id="rId7"/>
    <p:sldId id="273" r:id="rId8"/>
    <p:sldId id="262" r:id="rId9"/>
    <p:sldId id="265" r:id="rId10"/>
    <p:sldId id="267" r:id="rId11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624" y="-77"/>
      </p:cViewPr>
      <p:guideLst>
        <p:guide orient="horz" pos="1786"/>
        <p:guide pos="31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Дата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3F9FC9B6-AA00-48E1-B863-D908255C60EB}" type="slidenum">
              <a:rPr/>
              <a:pPr marL="0" marR="0" lvl="0" indent="0" algn="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400"/>
              </a:pPr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 idx="2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Верхний колонтитул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Дата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9406CD20-6D6A-4994-B0B8-9FF3FFB82CBB}" type="slidenum">
              <a:rPr/>
              <a:pPr lvl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650" y="1762125"/>
            <a:ext cx="8569325" cy="12144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12888" y="3213100"/>
            <a:ext cx="7056437" cy="14493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480A893-AF87-4076-834E-FAEB2E2F3E8C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1A53DC-8DBF-4607-A575-3107C916FE9F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6925" y="3643313"/>
            <a:ext cx="8567738" cy="1127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96925" y="2403475"/>
            <a:ext cx="8567738" cy="12398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C824BF-3CAF-4C3B-9E8E-4A7CC1DAEE9C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39750" y="1260475"/>
            <a:ext cx="4422775" cy="3419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114925" y="1260475"/>
            <a:ext cx="4424363" cy="3419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F9B945-2F23-4B88-9E84-7AF6C75AEF1C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825" y="227013"/>
            <a:ext cx="9072563" cy="944562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04825" y="1270000"/>
            <a:ext cx="4452938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4825" y="1798638"/>
            <a:ext cx="4452938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121275" y="1270000"/>
            <a:ext cx="4456113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121275" y="1798638"/>
            <a:ext cx="4456113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A2F36E9-8186-4E72-B0B2-DF33081F2F76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344CE5-3A3B-4CE4-AAED-7FED58751CE8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46A3F8-4643-41B0-B448-7E11C255BFE3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825" y="225425"/>
            <a:ext cx="3316288" cy="9604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41763" y="225425"/>
            <a:ext cx="5635625" cy="48402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04825" y="1185863"/>
            <a:ext cx="3316288" cy="3879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9DF977-E3B6-41DE-9E55-DE3CB0446845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6438" y="3968750"/>
            <a:ext cx="6048375" cy="469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76438" y="506413"/>
            <a:ext cx="6048375" cy="34020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76438" y="4438650"/>
            <a:ext cx="6048375" cy="665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EE979E-ED67-4A7F-8AB6-F03189041137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FA7084F-7F5D-4474-8A2D-9CD76C9F1754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289800" y="179388"/>
            <a:ext cx="2249488" cy="4500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39750" y="179388"/>
            <a:ext cx="6597650" cy="4500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583460D-60F4-4352-B1DA-579F99B71635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650" y="1762125"/>
            <a:ext cx="8569325" cy="12144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12888" y="3213100"/>
            <a:ext cx="7056437" cy="14493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B06D846-6B0A-4D05-A72A-F35C6896EA88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A41BF1-F7AD-40B3-99EA-E0D84561D099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6925" y="3643313"/>
            <a:ext cx="8567738" cy="1127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96925" y="2403475"/>
            <a:ext cx="8567738" cy="12398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5199A0-C975-443D-9EA1-D952C947F2A2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39750" y="1260475"/>
            <a:ext cx="4422775" cy="3240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114925" y="1260475"/>
            <a:ext cx="4424363" cy="3240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B8C8B43-8B67-4E89-923B-BF6D883F73BB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825" y="227013"/>
            <a:ext cx="9072563" cy="944562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04825" y="1270000"/>
            <a:ext cx="4452938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4825" y="1798638"/>
            <a:ext cx="4452938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121275" y="1270000"/>
            <a:ext cx="4456113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121275" y="1798638"/>
            <a:ext cx="4456113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A4E768-406D-4AC9-8ECE-B98750761C55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1608A1-DDEA-4FE6-9D18-DFCB3805F90A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B684104-9DC0-4E59-B265-989A0146E153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825" y="225425"/>
            <a:ext cx="3316288" cy="9604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41763" y="225425"/>
            <a:ext cx="5635625" cy="48402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04825" y="1185863"/>
            <a:ext cx="3316288" cy="3879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F376833-1C2C-4C10-A5E4-211B74861ACB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6438" y="3968750"/>
            <a:ext cx="6048375" cy="469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76438" y="506413"/>
            <a:ext cx="6048375" cy="34020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76438" y="4438650"/>
            <a:ext cx="6048375" cy="665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9BCEEB9-547B-4B2A-BB9D-B2C210841F9A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0F6AF8-0102-4DBB-BFE0-F48C314EE037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289800" y="179388"/>
            <a:ext cx="2249488" cy="432117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39750" y="179388"/>
            <a:ext cx="6597650" cy="43211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32979C7-B800-4643-8837-85C692BB0F46}" type="slidenum">
              <a:rPr/>
              <a:pPr lvl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 1"/>
          <p:cNvSpPr/>
          <p:nvPr/>
        </p:nvSpPr>
        <p:spPr>
          <a:xfrm>
            <a:off x="0" y="5040000"/>
            <a:ext cx="10080000" cy="63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ECF6C"/>
          </a:solidFill>
          <a:ln>
            <a:noFill/>
            <a:prstDash val="solid"/>
          </a:ln>
        </p:spPr>
        <p:txBody>
          <a:bodyPr vert="horz" wrap="none" lIns="0" tIns="0" rIns="0" bIns="0" compatLnSpc="0"/>
          <a:lstStyle/>
          <a:p>
            <a:pPr lvl="0" rtl="0" hangingPunct="0">
              <a:buNone/>
              <a:tabLst/>
            </a:pPr>
            <a:endParaRPr lang="en-US" sz="1400" b="1">
              <a:solidFill>
                <a:srgbClr val="FFFFFF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2727360" y="4707720"/>
            <a:ext cx="506879" cy="663840"/>
            <a:chOff x="2727360" y="4707720"/>
            <a:chExt cx="506879" cy="663840"/>
          </a:xfrm>
        </p:grpSpPr>
        <p:sp>
          <p:nvSpPr>
            <p:cNvPr id="4" name="Полилиния 3"/>
            <p:cNvSpPr/>
            <p:nvPr/>
          </p:nvSpPr>
          <p:spPr>
            <a:xfrm>
              <a:off x="3145679" y="5162760"/>
              <a:ext cx="88560" cy="96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7" h="270">
                  <a:moveTo>
                    <a:pt x="247" y="135"/>
                  </a:moveTo>
                  <a:cubicBezTo>
                    <a:pt x="247" y="159"/>
                    <a:pt x="241" y="182"/>
                    <a:pt x="230" y="203"/>
                  </a:cubicBezTo>
                  <a:cubicBezTo>
                    <a:pt x="219" y="223"/>
                    <a:pt x="204" y="240"/>
                    <a:pt x="185" y="252"/>
                  </a:cubicBezTo>
                  <a:cubicBezTo>
                    <a:pt x="166" y="264"/>
                    <a:pt x="145" y="270"/>
                    <a:pt x="124" y="270"/>
                  </a:cubicBezTo>
                  <a:cubicBezTo>
                    <a:pt x="102" y="270"/>
                    <a:pt x="81" y="264"/>
                    <a:pt x="62" y="252"/>
                  </a:cubicBezTo>
                  <a:cubicBezTo>
                    <a:pt x="43" y="240"/>
                    <a:pt x="28" y="223"/>
                    <a:pt x="17" y="203"/>
                  </a:cubicBezTo>
                  <a:cubicBezTo>
                    <a:pt x="6" y="182"/>
                    <a:pt x="0" y="159"/>
                    <a:pt x="0" y="135"/>
                  </a:cubicBezTo>
                  <a:cubicBezTo>
                    <a:pt x="0" y="111"/>
                    <a:pt x="6" y="88"/>
                    <a:pt x="17" y="67"/>
                  </a:cubicBezTo>
                  <a:cubicBezTo>
                    <a:pt x="28" y="47"/>
                    <a:pt x="43" y="30"/>
                    <a:pt x="62" y="18"/>
                  </a:cubicBezTo>
                  <a:cubicBezTo>
                    <a:pt x="81" y="6"/>
                    <a:pt x="102" y="0"/>
                    <a:pt x="124" y="0"/>
                  </a:cubicBezTo>
                  <a:cubicBezTo>
                    <a:pt x="145" y="0"/>
                    <a:pt x="166" y="6"/>
                    <a:pt x="185" y="18"/>
                  </a:cubicBezTo>
                  <a:cubicBezTo>
                    <a:pt x="204" y="30"/>
                    <a:pt x="219" y="47"/>
                    <a:pt x="230" y="67"/>
                  </a:cubicBezTo>
                  <a:cubicBezTo>
                    <a:pt x="241" y="88"/>
                    <a:pt x="247" y="111"/>
                    <a:pt x="247" y="13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" name="Полилиния 4"/>
            <p:cNvSpPr/>
            <p:nvPr/>
          </p:nvSpPr>
          <p:spPr>
            <a:xfrm>
              <a:off x="3048480" y="5151600"/>
              <a:ext cx="153360" cy="193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7" h="538">
                  <a:moveTo>
                    <a:pt x="403" y="452"/>
                  </a:moveTo>
                  <a:cubicBezTo>
                    <a:pt x="495" y="104"/>
                    <a:pt x="301" y="151"/>
                    <a:pt x="250" y="0"/>
                  </a:cubicBezTo>
                  <a:cubicBezTo>
                    <a:pt x="177" y="36"/>
                    <a:pt x="104" y="71"/>
                    <a:pt x="31" y="107"/>
                  </a:cubicBezTo>
                  <a:cubicBezTo>
                    <a:pt x="31" y="104"/>
                    <a:pt x="-36" y="440"/>
                    <a:pt x="28" y="514"/>
                  </a:cubicBezTo>
                  <a:cubicBezTo>
                    <a:pt x="78" y="569"/>
                    <a:pt x="384" y="523"/>
                    <a:pt x="403" y="452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" name="Полилиния 5"/>
            <p:cNvSpPr/>
            <p:nvPr/>
          </p:nvSpPr>
          <p:spPr>
            <a:xfrm>
              <a:off x="3059279" y="5259600"/>
              <a:ext cx="90720" cy="46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3" h="131">
                  <a:moveTo>
                    <a:pt x="34" y="63"/>
                  </a:moveTo>
                  <a:cubicBezTo>
                    <a:pt x="52" y="44"/>
                    <a:pt x="74" y="26"/>
                    <a:pt x="99" y="17"/>
                  </a:cubicBezTo>
                  <a:cubicBezTo>
                    <a:pt x="148" y="-5"/>
                    <a:pt x="204" y="-5"/>
                    <a:pt x="253" y="14"/>
                  </a:cubicBezTo>
                  <a:cubicBezTo>
                    <a:pt x="200" y="14"/>
                    <a:pt x="154" y="17"/>
                    <a:pt x="108" y="38"/>
                  </a:cubicBezTo>
                  <a:cubicBezTo>
                    <a:pt x="87" y="47"/>
                    <a:pt x="65" y="60"/>
                    <a:pt x="47" y="75"/>
                  </a:cubicBezTo>
                  <a:cubicBezTo>
                    <a:pt x="31" y="91"/>
                    <a:pt x="13" y="109"/>
                    <a:pt x="0" y="131"/>
                  </a:cubicBezTo>
                  <a:cubicBezTo>
                    <a:pt x="4" y="106"/>
                    <a:pt x="15" y="81"/>
                    <a:pt x="34" y="6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" name="Полилиния 6"/>
            <p:cNvSpPr/>
            <p:nvPr/>
          </p:nvSpPr>
          <p:spPr>
            <a:xfrm>
              <a:off x="2947679" y="5136120"/>
              <a:ext cx="130680" cy="235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64" h="655">
                  <a:moveTo>
                    <a:pt x="290" y="615"/>
                  </a:moveTo>
                  <a:cubicBezTo>
                    <a:pt x="364" y="538"/>
                    <a:pt x="361" y="197"/>
                    <a:pt x="364" y="27"/>
                  </a:cubicBezTo>
                  <a:cubicBezTo>
                    <a:pt x="259" y="18"/>
                    <a:pt x="154" y="9"/>
                    <a:pt x="50" y="0"/>
                  </a:cubicBezTo>
                  <a:cubicBezTo>
                    <a:pt x="47" y="0"/>
                    <a:pt x="-39" y="541"/>
                    <a:pt x="22" y="615"/>
                  </a:cubicBezTo>
                  <a:cubicBezTo>
                    <a:pt x="68" y="670"/>
                    <a:pt x="238" y="667"/>
                    <a:pt x="290" y="61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" name="Полилиния 7"/>
            <p:cNvSpPr/>
            <p:nvPr/>
          </p:nvSpPr>
          <p:spPr>
            <a:xfrm>
              <a:off x="2832840" y="5136120"/>
              <a:ext cx="130680" cy="235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64" h="655">
                  <a:moveTo>
                    <a:pt x="74" y="615"/>
                  </a:moveTo>
                  <a:cubicBezTo>
                    <a:pt x="0" y="538"/>
                    <a:pt x="3" y="197"/>
                    <a:pt x="0" y="27"/>
                  </a:cubicBezTo>
                  <a:cubicBezTo>
                    <a:pt x="105" y="18"/>
                    <a:pt x="209" y="9"/>
                    <a:pt x="314" y="0"/>
                  </a:cubicBezTo>
                  <a:cubicBezTo>
                    <a:pt x="323" y="205"/>
                    <a:pt x="403" y="541"/>
                    <a:pt x="341" y="615"/>
                  </a:cubicBezTo>
                  <a:cubicBezTo>
                    <a:pt x="295" y="670"/>
                    <a:pt x="126" y="667"/>
                    <a:pt x="74" y="61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" name="Полилиния 8"/>
            <p:cNvSpPr/>
            <p:nvPr/>
          </p:nvSpPr>
          <p:spPr>
            <a:xfrm>
              <a:off x="2951279" y="5262120"/>
              <a:ext cx="8640" cy="95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" h="265">
                  <a:moveTo>
                    <a:pt x="0" y="133"/>
                  </a:moveTo>
                  <a:cubicBezTo>
                    <a:pt x="0" y="90"/>
                    <a:pt x="3" y="44"/>
                    <a:pt x="12" y="0"/>
                  </a:cubicBezTo>
                  <a:cubicBezTo>
                    <a:pt x="21" y="44"/>
                    <a:pt x="25" y="90"/>
                    <a:pt x="25" y="133"/>
                  </a:cubicBezTo>
                  <a:cubicBezTo>
                    <a:pt x="21" y="179"/>
                    <a:pt x="21" y="222"/>
                    <a:pt x="12" y="265"/>
                  </a:cubicBezTo>
                  <a:cubicBezTo>
                    <a:pt x="3" y="222"/>
                    <a:pt x="0" y="176"/>
                    <a:pt x="0" y="13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0" name="Полилиния 9"/>
            <p:cNvSpPr/>
            <p:nvPr/>
          </p:nvSpPr>
          <p:spPr>
            <a:xfrm>
              <a:off x="2855880" y="5127120"/>
              <a:ext cx="199080" cy="192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54" h="535">
                  <a:moveTo>
                    <a:pt x="277" y="535"/>
                  </a:moveTo>
                  <a:cubicBezTo>
                    <a:pt x="185" y="440"/>
                    <a:pt x="0" y="390"/>
                    <a:pt x="0" y="252"/>
                  </a:cubicBezTo>
                  <a:cubicBezTo>
                    <a:pt x="0" y="113"/>
                    <a:pt x="123" y="0"/>
                    <a:pt x="277" y="0"/>
                  </a:cubicBezTo>
                  <a:cubicBezTo>
                    <a:pt x="431" y="0"/>
                    <a:pt x="554" y="113"/>
                    <a:pt x="554" y="252"/>
                  </a:cubicBezTo>
                  <a:cubicBezTo>
                    <a:pt x="554" y="390"/>
                    <a:pt x="369" y="440"/>
                    <a:pt x="277" y="53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1" name="Полилиния 10"/>
            <p:cNvSpPr/>
            <p:nvPr/>
          </p:nvSpPr>
          <p:spPr>
            <a:xfrm>
              <a:off x="3033000" y="4707720"/>
              <a:ext cx="149760" cy="290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7" h="809">
                  <a:moveTo>
                    <a:pt x="37" y="354"/>
                  </a:moveTo>
                  <a:cubicBezTo>
                    <a:pt x="21" y="677"/>
                    <a:pt x="12" y="629"/>
                    <a:pt x="0" y="766"/>
                  </a:cubicBezTo>
                  <a:cubicBezTo>
                    <a:pt x="57" y="780"/>
                    <a:pt x="115" y="795"/>
                    <a:pt x="172" y="809"/>
                  </a:cubicBezTo>
                  <a:cubicBezTo>
                    <a:pt x="243" y="686"/>
                    <a:pt x="163" y="778"/>
                    <a:pt x="384" y="440"/>
                  </a:cubicBezTo>
                  <a:cubicBezTo>
                    <a:pt x="464" y="314"/>
                    <a:pt x="378" y="18"/>
                    <a:pt x="329" y="0"/>
                  </a:cubicBezTo>
                  <a:cubicBezTo>
                    <a:pt x="298" y="-9"/>
                    <a:pt x="43" y="188"/>
                    <a:pt x="37" y="35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2" name="Полилиния 11"/>
            <p:cNvSpPr/>
            <p:nvPr/>
          </p:nvSpPr>
          <p:spPr>
            <a:xfrm>
              <a:off x="3044880" y="4766040"/>
              <a:ext cx="108720" cy="230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3" h="640">
                  <a:moveTo>
                    <a:pt x="77" y="210"/>
                  </a:moveTo>
                  <a:cubicBezTo>
                    <a:pt x="19" y="523"/>
                    <a:pt x="26" y="478"/>
                    <a:pt x="0" y="612"/>
                  </a:cubicBezTo>
                  <a:cubicBezTo>
                    <a:pt x="38" y="622"/>
                    <a:pt x="76" y="631"/>
                    <a:pt x="114" y="640"/>
                  </a:cubicBezTo>
                  <a:cubicBezTo>
                    <a:pt x="169" y="513"/>
                    <a:pt x="114" y="618"/>
                    <a:pt x="280" y="258"/>
                  </a:cubicBezTo>
                  <a:cubicBezTo>
                    <a:pt x="324" y="167"/>
                    <a:pt x="299" y="16"/>
                    <a:pt x="253" y="1"/>
                  </a:cubicBezTo>
                  <a:cubicBezTo>
                    <a:pt x="222" y="-8"/>
                    <a:pt x="102" y="81"/>
                    <a:pt x="77" y="21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3" name="Полилиния 12"/>
            <p:cNvSpPr/>
            <p:nvPr/>
          </p:nvSpPr>
          <p:spPr>
            <a:xfrm>
              <a:off x="2727360" y="4707720"/>
              <a:ext cx="150480" cy="290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9" h="809">
                  <a:moveTo>
                    <a:pt x="382" y="354"/>
                  </a:moveTo>
                  <a:cubicBezTo>
                    <a:pt x="397" y="677"/>
                    <a:pt x="406" y="629"/>
                    <a:pt x="419" y="766"/>
                  </a:cubicBezTo>
                  <a:cubicBezTo>
                    <a:pt x="361" y="780"/>
                    <a:pt x="304" y="795"/>
                    <a:pt x="247" y="809"/>
                  </a:cubicBezTo>
                  <a:cubicBezTo>
                    <a:pt x="176" y="686"/>
                    <a:pt x="256" y="778"/>
                    <a:pt x="34" y="440"/>
                  </a:cubicBezTo>
                  <a:cubicBezTo>
                    <a:pt x="-49" y="314"/>
                    <a:pt x="40" y="18"/>
                    <a:pt x="90" y="0"/>
                  </a:cubicBezTo>
                  <a:cubicBezTo>
                    <a:pt x="120" y="-9"/>
                    <a:pt x="376" y="188"/>
                    <a:pt x="382" y="35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4" name="Полилиния 13"/>
            <p:cNvSpPr/>
            <p:nvPr/>
          </p:nvSpPr>
          <p:spPr>
            <a:xfrm>
              <a:off x="2756880" y="4766040"/>
              <a:ext cx="108720" cy="231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3" h="643">
                  <a:moveTo>
                    <a:pt x="226" y="210"/>
                  </a:moveTo>
                  <a:cubicBezTo>
                    <a:pt x="285" y="523"/>
                    <a:pt x="277" y="478"/>
                    <a:pt x="303" y="612"/>
                  </a:cubicBezTo>
                  <a:cubicBezTo>
                    <a:pt x="266" y="623"/>
                    <a:pt x="229" y="633"/>
                    <a:pt x="192" y="643"/>
                  </a:cubicBezTo>
                  <a:cubicBezTo>
                    <a:pt x="136" y="516"/>
                    <a:pt x="192" y="622"/>
                    <a:pt x="23" y="262"/>
                  </a:cubicBezTo>
                  <a:cubicBezTo>
                    <a:pt x="-20" y="167"/>
                    <a:pt x="1" y="16"/>
                    <a:pt x="51" y="1"/>
                  </a:cubicBezTo>
                  <a:cubicBezTo>
                    <a:pt x="81" y="-8"/>
                    <a:pt x="201" y="81"/>
                    <a:pt x="226" y="21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5" name="Полилиния 14"/>
            <p:cNvSpPr/>
            <p:nvPr/>
          </p:nvSpPr>
          <p:spPr>
            <a:xfrm>
              <a:off x="2752560" y="4884840"/>
              <a:ext cx="405360" cy="355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27" h="988">
                  <a:moveTo>
                    <a:pt x="564" y="0"/>
                  </a:moveTo>
                  <a:cubicBezTo>
                    <a:pt x="874" y="0"/>
                    <a:pt x="1016" y="133"/>
                    <a:pt x="1016" y="317"/>
                  </a:cubicBezTo>
                  <a:cubicBezTo>
                    <a:pt x="1016" y="471"/>
                    <a:pt x="1249" y="699"/>
                    <a:pt x="1040" y="849"/>
                  </a:cubicBezTo>
                  <a:cubicBezTo>
                    <a:pt x="939" y="923"/>
                    <a:pt x="766" y="988"/>
                    <a:pt x="564" y="988"/>
                  </a:cubicBezTo>
                  <a:cubicBezTo>
                    <a:pt x="361" y="988"/>
                    <a:pt x="189" y="923"/>
                    <a:pt x="87" y="849"/>
                  </a:cubicBezTo>
                  <a:cubicBezTo>
                    <a:pt x="-122" y="696"/>
                    <a:pt x="112" y="471"/>
                    <a:pt x="112" y="317"/>
                  </a:cubicBezTo>
                  <a:cubicBezTo>
                    <a:pt x="112" y="133"/>
                    <a:pt x="250" y="0"/>
                    <a:pt x="564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6" name="Полилиния 15"/>
            <p:cNvSpPr/>
            <p:nvPr/>
          </p:nvSpPr>
          <p:spPr>
            <a:xfrm>
              <a:off x="2777040" y="4933440"/>
              <a:ext cx="354240" cy="294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85" h="818">
                  <a:moveTo>
                    <a:pt x="536" y="28"/>
                  </a:moveTo>
                  <a:cubicBezTo>
                    <a:pt x="509" y="-9"/>
                    <a:pt x="484" y="-9"/>
                    <a:pt x="456" y="28"/>
                  </a:cubicBezTo>
                  <a:cubicBezTo>
                    <a:pt x="392" y="111"/>
                    <a:pt x="290" y="290"/>
                    <a:pt x="284" y="438"/>
                  </a:cubicBezTo>
                  <a:cubicBezTo>
                    <a:pt x="167" y="422"/>
                    <a:pt x="35" y="428"/>
                    <a:pt x="7" y="490"/>
                  </a:cubicBezTo>
                  <a:cubicBezTo>
                    <a:pt x="-45" y="612"/>
                    <a:pt x="201" y="818"/>
                    <a:pt x="493" y="818"/>
                  </a:cubicBezTo>
                  <a:cubicBezTo>
                    <a:pt x="789" y="818"/>
                    <a:pt x="1031" y="612"/>
                    <a:pt x="978" y="490"/>
                  </a:cubicBezTo>
                  <a:cubicBezTo>
                    <a:pt x="958" y="428"/>
                    <a:pt x="822" y="422"/>
                    <a:pt x="709" y="438"/>
                  </a:cubicBezTo>
                  <a:cubicBezTo>
                    <a:pt x="702" y="290"/>
                    <a:pt x="601" y="111"/>
                    <a:pt x="536" y="2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7" name="Полилиния 16"/>
            <p:cNvSpPr/>
            <p:nvPr/>
          </p:nvSpPr>
          <p:spPr>
            <a:xfrm>
              <a:off x="2871720" y="5143679"/>
              <a:ext cx="167400" cy="60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6" h="169">
                  <a:moveTo>
                    <a:pt x="372" y="62"/>
                  </a:moveTo>
                  <a:cubicBezTo>
                    <a:pt x="338" y="65"/>
                    <a:pt x="301" y="56"/>
                    <a:pt x="273" y="37"/>
                  </a:cubicBezTo>
                  <a:cubicBezTo>
                    <a:pt x="258" y="28"/>
                    <a:pt x="246" y="16"/>
                    <a:pt x="233" y="0"/>
                  </a:cubicBezTo>
                  <a:cubicBezTo>
                    <a:pt x="224" y="16"/>
                    <a:pt x="209" y="28"/>
                    <a:pt x="193" y="37"/>
                  </a:cubicBezTo>
                  <a:cubicBezTo>
                    <a:pt x="162" y="56"/>
                    <a:pt x="129" y="65"/>
                    <a:pt x="95" y="62"/>
                  </a:cubicBezTo>
                  <a:cubicBezTo>
                    <a:pt x="61" y="62"/>
                    <a:pt x="27" y="49"/>
                    <a:pt x="2" y="28"/>
                  </a:cubicBezTo>
                  <a:cubicBezTo>
                    <a:pt x="-13" y="16"/>
                    <a:pt x="67" y="169"/>
                    <a:pt x="233" y="169"/>
                  </a:cubicBezTo>
                  <a:cubicBezTo>
                    <a:pt x="399" y="169"/>
                    <a:pt x="479" y="16"/>
                    <a:pt x="464" y="28"/>
                  </a:cubicBezTo>
                  <a:cubicBezTo>
                    <a:pt x="439" y="46"/>
                    <a:pt x="406" y="59"/>
                    <a:pt x="372" y="62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8" name="Полилиния 17"/>
            <p:cNvSpPr/>
            <p:nvPr/>
          </p:nvSpPr>
          <p:spPr>
            <a:xfrm>
              <a:off x="3000240" y="4977000"/>
              <a:ext cx="97920" cy="116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3" h="325">
                  <a:moveTo>
                    <a:pt x="95" y="9"/>
                  </a:moveTo>
                  <a:cubicBezTo>
                    <a:pt x="187" y="-28"/>
                    <a:pt x="249" y="61"/>
                    <a:pt x="264" y="110"/>
                  </a:cubicBezTo>
                  <a:cubicBezTo>
                    <a:pt x="289" y="184"/>
                    <a:pt x="258" y="267"/>
                    <a:pt x="249" y="286"/>
                  </a:cubicBezTo>
                  <a:cubicBezTo>
                    <a:pt x="242" y="298"/>
                    <a:pt x="175" y="357"/>
                    <a:pt x="24" y="301"/>
                  </a:cubicBezTo>
                  <a:cubicBezTo>
                    <a:pt x="27" y="301"/>
                    <a:pt x="-13" y="218"/>
                    <a:pt x="5" y="141"/>
                  </a:cubicBezTo>
                  <a:cubicBezTo>
                    <a:pt x="35" y="97"/>
                    <a:pt x="15" y="40"/>
                    <a:pt x="95" y="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9" name="Полилиния 18"/>
            <p:cNvSpPr/>
            <p:nvPr/>
          </p:nvSpPr>
          <p:spPr>
            <a:xfrm>
              <a:off x="3001679" y="4970520"/>
              <a:ext cx="102600" cy="126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6" h="351">
                  <a:moveTo>
                    <a:pt x="34" y="57"/>
                  </a:moveTo>
                  <a:cubicBezTo>
                    <a:pt x="47" y="41"/>
                    <a:pt x="59" y="29"/>
                    <a:pt x="74" y="20"/>
                  </a:cubicBezTo>
                  <a:cubicBezTo>
                    <a:pt x="80" y="14"/>
                    <a:pt x="90" y="10"/>
                    <a:pt x="99" y="7"/>
                  </a:cubicBezTo>
                  <a:cubicBezTo>
                    <a:pt x="108" y="4"/>
                    <a:pt x="117" y="1"/>
                    <a:pt x="127" y="1"/>
                  </a:cubicBezTo>
                  <a:cubicBezTo>
                    <a:pt x="164" y="-5"/>
                    <a:pt x="200" y="14"/>
                    <a:pt x="225" y="38"/>
                  </a:cubicBezTo>
                  <a:cubicBezTo>
                    <a:pt x="250" y="63"/>
                    <a:pt x="270" y="98"/>
                    <a:pt x="280" y="134"/>
                  </a:cubicBezTo>
                  <a:cubicBezTo>
                    <a:pt x="289" y="171"/>
                    <a:pt x="287" y="210"/>
                    <a:pt x="277" y="247"/>
                  </a:cubicBezTo>
                  <a:cubicBezTo>
                    <a:pt x="274" y="266"/>
                    <a:pt x="268" y="284"/>
                    <a:pt x="259" y="300"/>
                  </a:cubicBezTo>
                  <a:cubicBezTo>
                    <a:pt x="258" y="302"/>
                    <a:pt x="257" y="304"/>
                    <a:pt x="256" y="306"/>
                  </a:cubicBezTo>
                  <a:cubicBezTo>
                    <a:pt x="256" y="309"/>
                    <a:pt x="256" y="312"/>
                    <a:pt x="256" y="315"/>
                  </a:cubicBezTo>
                  <a:cubicBezTo>
                    <a:pt x="255" y="316"/>
                    <a:pt x="254" y="317"/>
                    <a:pt x="253" y="318"/>
                  </a:cubicBezTo>
                  <a:cubicBezTo>
                    <a:pt x="250" y="321"/>
                    <a:pt x="247" y="324"/>
                    <a:pt x="240" y="327"/>
                  </a:cubicBezTo>
                  <a:cubicBezTo>
                    <a:pt x="231" y="334"/>
                    <a:pt x="225" y="337"/>
                    <a:pt x="216" y="340"/>
                  </a:cubicBezTo>
                  <a:cubicBezTo>
                    <a:pt x="182" y="352"/>
                    <a:pt x="148" y="352"/>
                    <a:pt x="114" y="349"/>
                  </a:cubicBezTo>
                  <a:cubicBezTo>
                    <a:pt x="80" y="343"/>
                    <a:pt x="50" y="334"/>
                    <a:pt x="19" y="318"/>
                  </a:cubicBezTo>
                  <a:cubicBezTo>
                    <a:pt x="50" y="324"/>
                    <a:pt x="83" y="334"/>
                    <a:pt x="114" y="334"/>
                  </a:cubicBezTo>
                  <a:cubicBezTo>
                    <a:pt x="144" y="334"/>
                    <a:pt x="179" y="330"/>
                    <a:pt x="207" y="318"/>
                  </a:cubicBezTo>
                  <a:cubicBezTo>
                    <a:pt x="213" y="315"/>
                    <a:pt x="219" y="312"/>
                    <a:pt x="225" y="306"/>
                  </a:cubicBezTo>
                  <a:cubicBezTo>
                    <a:pt x="228" y="303"/>
                    <a:pt x="231" y="303"/>
                    <a:pt x="231" y="300"/>
                  </a:cubicBezTo>
                  <a:cubicBezTo>
                    <a:pt x="232" y="298"/>
                    <a:pt x="233" y="296"/>
                    <a:pt x="234" y="294"/>
                  </a:cubicBezTo>
                  <a:cubicBezTo>
                    <a:pt x="240" y="278"/>
                    <a:pt x="244" y="263"/>
                    <a:pt x="250" y="247"/>
                  </a:cubicBezTo>
                  <a:cubicBezTo>
                    <a:pt x="256" y="214"/>
                    <a:pt x="259" y="180"/>
                    <a:pt x="250" y="149"/>
                  </a:cubicBezTo>
                  <a:cubicBezTo>
                    <a:pt x="244" y="118"/>
                    <a:pt x="225" y="90"/>
                    <a:pt x="204" y="69"/>
                  </a:cubicBezTo>
                  <a:cubicBezTo>
                    <a:pt x="182" y="47"/>
                    <a:pt x="154" y="32"/>
                    <a:pt x="127" y="35"/>
                  </a:cubicBezTo>
                  <a:cubicBezTo>
                    <a:pt x="120" y="35"/>
                    <a:pt x="111" y="35"/>
                    <a:pt x="105" y="38"/>
                  </a:cubicBezTo>
                  <a:cubicBezTo>
                    <a:pt x="99" y="41"/>
                    <a:pt x="90" y="41"/>
                    <a:pt x="84" y="44"/>
                  </a:cubicBezTo>
                  <a:cubicBezTo>
                    <a:pt x="68" y="50"/>
                    <a:pt x="56" y="60"/>
                    <a:pt x="47" y="72"/>
                  </a:cubicBezTo>
                  <a:cubicBezTo>
                    <a:pt x="25" y="90"/>
                    <a:pt x="10" y="121"/>
                    <a:pt x="0" y="158"/>
                  </a:cubicBezTo>
                  <a:cubicBezTo>
                    <a:pt x="0" y="121"/>
                    <a:pt x="13" y="87"/>
                    <a:pt x="34" y="5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0" name="Полилиния 19"/>
            <p:cNvSpPr/>
            <p:nvPr/>
          </p:nvSpPr>
          <p:spPr>
            <a:xfrm>
              <a:off x="3015000" y="5004720"/>
              <a:ext cx="57240" cy="70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7" y="132"/>
                    <a:pt x="150" y="147"/>
                  </a:cubicBezTo>
                  <a:cubicBezTo>
                    <a:pt x="143" y="162"/>
                    <a:pt x="132" y="174"/>
                    <a:pt x="120" y="183"/>
                  </a:cubicBezTo>
                  <a:cubicBezTo>
                    <a:pt x="107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7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7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7" y="4"/>
                    <a:pt x="120" y="13"/>
                  </a:cubicBezTo>
                  <a:cubicBezTo>
                    <a:pt x="132" y="21"/>
                    <a:pt x="143" y="34"/>
                    <a:pt x="150" y="49"/>
                  </a:cubicBezTo>
                  <a:cubicBezTo>
                    <a:pt x="157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1" name="Полилиния 20"/>
            <p:cNvSpPr/>
            <p:nvPr/>
          </p:nvSpPr>
          <p:spPr>
            <a:xfrm>
              <a:off x="2812680" y="4977000"/>
              <a:ext cx="96840" cy="116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0" h="325">
                  <a:moveTo>
                    <a:pt x="178" y="9"/>
                  </a:moveTo>
                  <a:cubicBezTo>
                    <a:pt x="86" y="-28"/>
                    <a:pt x="25" y="61"/>
                    <a:pt x="10" y="110"/>
                  </a:cubicBezTo>
                  <a:cubicBezTo>
                    <a:pt x="-15" y="184"/>
                    <a:pt x="15" y="267"/>
                    <a:pt x="25" y="286"/>
                  </a:cubicBezTo>
                  <a:cubicBezTo>
                    <a:pt x="30" y="298"/>
                    <a:pt x="99" y="357"/>
                    <a:pt x="249" y="301"/>
                  </a:cubicBezTo>
                  <a:cubicBezTo>
                    <a:pt x="245" y="301"/>
                    <a:pt x="282" y="218"/>
                    <a:pt x="267" y="141"/>
                  </a:cubicBezTo>
                  <a:cubicBezTo>
                    <a:pt x="238" y="97"/>
                    <a:pt x="258" y="40"/>
                    <a:pt x="178" y="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2" name="Полилиния 21"/>
            <p:cNvSpPr/>
            <p:nvPr/>
          </p:nvSpPr>
          <p:spPr>
            <a:xfrm>
              <a:off x="2805840" y="4971600"/>
              <a:ext cx="102960" cy="124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7" h="346">
                  <a:moveTo>
                    <a:pt x="241" y="66"/>
                  </a:moveTo>
                  <a:cubicBezTo>
                    <a:pt x="229" y="54"/>
                    <a:pt x="216" y="44"/>
                    <a:pt x="204" y="38"/>
                  </a:cubicBezTo>
                  <a:cubicBezTo>
                    <a:pt x="198" y="35"/>
                    <a:pt x="189" y="32"/>
                    <a:pt x="182" y="32"/>
                  </a:cubicBezTo>
                  <a:cubicBezTo>
                    <a:pt x="176" y="29"/>
                    <a:pt x="167" y="29"/>
                    <a:pt x="161" y="29"/>
                  </a:cubicBezTo>
                  <a:cubicBezTo>
                    <a:pt x="133" y="29"/>
                    <a:pt x="102" y="41"/>
                    <a:pt x="84" y="63"/>
                  </a:cubicBezTo>
                  <a:cubicBezTo>
                    <a:pt x="62" y="84"/>
                    <a:pt x="44" y="115"/>
                    <a:pt x="38" y="143"/>
                  </a:cubicBezTo>
                  <a:cubicBezTo>
                    <a:pt x="32" y="174"/>
                    <a:pt x="32" y="207"/>
                    <a:pt x="38" y="241"/>
                  </a:cubicBezTo>
                  <a:cubicBezTo>
                    <a:pt x="41" y="257"/>
                    <a:pt x="47" y="275"/>
                    <a:pt x="53" y="287"/>
                  </a:cubicBezTo>
                  <a:cubicBezTo>
                    <a:pt x="54" y="289"/>
                    <a:pt x="55" y="292"/>
                    <a:pt x="56" y="294"/>
                  </a:cubicBezTo>
                  <a:cubicBezTo>
                    <a:pt x="59" y="297"/>
                    <a:pt x="62" y="297"/>
                    <a:pt x="62" y="300"/>
                  </a:cubicBezTo>
                  <a:cubicBezTo>
                    <a:pt x="69" y="303"/>
                    <a:pt x="75" y="309"/>
                    <a:pt x="81" y="312"/>
                  </a:cubicBezTo>
                  <a:cubicBezTo>
                    <a:pt x="109" y="324"/>
                    <a:pt x="139" y="331"/>
                    <a:pt x="173" y="327"/>
                  </a:cubicBezTo>
                  <a:cubicBezTo>
                    <a:pt x="204" y="327"/>
                    <a:pt x="238" y="321"/>
                    <a:pt x="269" y="312"/>
                  </a:cubicBezTo>
                  <a:cubicBezTo>
                    <a:pt x="238" y="327"/>
                    <a:pt x="207" y="337"/>
                    <a:pt x="173" y="343"/>
                  </a:cubicBezTo>
                  <a:cubicBezTo>
                    <a:pt x="139" y="349"/>
                    <a:pt x="105" y="346"/>
                    <a:pt x="72" y="334"/>
                  </a:cubicBezTo>
                  <a:cubicBezTo>
                    <a:pt x="62" y="331"/>
                    <a:pt x="56" y="327"/>
                    <a:pt x="47" y="321"/>
                  </a:cubicBezTo>
                  <a:cubicBezTo>
                    <a:pt x="44" y="318"/>
                    <a:pt x="38" y="315"/>
                    <a:pt x="35" y="312"/>
                  </a:cubicBezTo>
                  <a:cubicBezTo>
                    <a:pt x="34" y="311"/>
                    <a:pt x="33" y="310"/>
                    <a:pt x="32" y="309"/>
                  </a:cubicBezTo>
                  <a:cubicBezTo>
                    <a:pt x="31" y="308"/>
                    <a:pt x="30" y="307"/>
                    <a:pt x="29" y="306"/>
                  </a:cubicBezTo>
                  <a:cubicBezTo>
                    <a:pt x="29" y="305"/>
                    <a:pt x="29" y="304"/>
                    <a:pt x="29" y="303"/>
                  </a:cubicBezTo>
                  <a:cubicBezTo>
                    <a:pt x="28" y="302"/>
                    <a:pt x="27" y="301"/>
                    <a:pt x="25" y="300"/>
                  </a:cubicBezTo>
                  <a:cubicBezTo>
                    <a:pt x="19" y="281"/>
                    <a:pt x="13" y="266"/>
                    <a:pt x="7" y="247"/>
                  </a:cubicBezTo>
                  <a:cubicBezTo>
                    <a:pt x="-2" y="211"/>
                    <a:pt x="-2" y="174"/>
                    <a:pt x="4" y="134"/>
                  </a:cubicBezTo>
                  <a:cubicBezTo>
                    <a:pt x="13" y="97"/>
                    <a:pt x="35" y="63"/>
                    <a:pt x="59" y="38"/>
                  </a:cubicBezTo>
                  <a:cubicBezTo>
                    <a:pt x="87" y="14"/>
                    <a:pt x="121" y="-5"/>
                    <a:pt x="158" y="1"/>
                  </a:cubicBezTo>
                  <a:cubicBezTo>
                    <a:pt x="167" y="1"/>
                    <a:pt x="176" y="4"/>
                    <a:pt x="185" y="7"/>
                  </a:cubicBezTo>
                  <a:cubicBezTo>
                    <a:pt x="195" y="11"/>
                    <a:pt x="201" y="14"/>
                    <a:pt x="210" y="20"/>
                  </a:cubicBezTo>
                  <a:cubicBezTo>
                    <a:pt x="225" y="29"/>
                    <a:pt x="238" y="41"/>
                    <a:pt x="250" y="57"/>
                  </a:cubicBezTo>
                  <a:cubicBezTo>
                    <a:pt x="272" y="81"/>
                    <a:pt x="284" y="118"/>
                    <a:pt x="287" y="155"/>
                  </a:cubicBezTo>
                  <a:cubicBezTo>
                    <a:pt x="278" y="121"/>
                    <a:pt x="265" y="87"/>
                    <a:pt x="241" y="66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3" name="Полилиния 22"/>
            <p:cNvSpPr/>
            <p:nvPr/>
          </p:nvSpPr>
          <p:spPr>
            <a:xfrm>
              <a:off x="2837160" y="5004720"/>
              <a:ext cx="57240" cy="70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6" y="132"/>
                    <a:pt x="149" y="147"/>
                  </a:cubicBezTo>
                  <a:cubicBezTo>
                    <a:pt x="142" y="162"/>
                    <a:pt x="132" y="174"/>
                    <a:pt x="120" y="183"/>
                  </a:cubicBezTo>
                  <a:cubicBezTo>
                    <a:pt x="108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8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8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8" y="4"/>
                    <a:pt x="120" y="13"/>
                  </a:cubicBezTo>
                  <a:cubicBezTo>
                    <a:pt x="132" y="21"/>
                    <a:pt x="142" y="34"/>
                    <a:pt x="149" y="49"/>
                  </a:cubicBezTo>
                  <a:cubicBezTo>
                    <a:pt x="156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4" name="Полилиния 23"/>
            <p:cNvSpPr/>
            <p:nvPr/>
          </p:nvSpPr>
          <p:spPr>
            <a:xfrm>
              <a:off x="2925719" y="5129279"/>
              <a:ext cx="58320" cy="48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3" h="136">
                  <a:moveTo>
                    <a:pt x="0" y="0"/>
                  </a:moveTo>
                  <a:cubicBezTo>
                    <a:pt x="54" y="0"/>
                    <a:pt x="109" y="0"/>
                    <a:pt x="163" y="0"/>
                  </a:cubicBezTo>
                  <a:cubicBezTo>
                    <a:pt x="163" y="45"/>
                    <a:pt x="163" y="91"/>
                    <a:pt x="163" y="136"/>
                  </a:cubicBezTo>
                  <a:cubicBezTo>
                    <a:pt x="109" y="136"/>
                    <a:pt x="54" y="136"/>
                    <a:pt x="0" y="136"/>
                  </a:cubicBezTo>
                  <a:cubicBezTo>
                    <a:pt x="0" y="91"/>
                    <a:pt x="0" y="45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5" name="Полилиния 24"/>
            <p:cNvSpPr/>
            <p:nvPr/>
          </p:nvSpPr>
          <p:spPr>
            <a:xfrm>
              <a:off x="2843640" y="5088239"/>
              <a:ext cx="221400" cy="78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16" h="220">
                  <a:moveTo>
                    <a:pt x="465" y="188"/>
                  </a:moveTo>
                  <a:cubicBezTo>
                    <a:pt x="434" y="185"/>
                    <a:pt x="404" y="178"/>
                    <a:pt x="379" y="163"/>
                  </a:cubicBezTo>
                  <a:cubicBezTo>
                    <a:pt x="354" y="147"/>
                    <a:pt x="336" y="127"/>
                    <a:pt x="333" y="105"/>
                  </a:cubicBezTo>
                  <a:cubicBezTo>
                    <a:pt x="326" y="70"/>
                    <a:pt x="318" y="35"/>
                    <a:pt x="311" y="0"/>
                  </a:cubicBezTo>
                  <a:cubicBezTo>
                    <a:pt x="304" y="35"/>
                    <a:pt x="297" y="70"/>
                    <a:pt x="290" y="105"/>
                  </a:cubicBezTo>
                  <a:cubicBezTo>
                    <a:pt x="284" y="130"/>
                    <a:pt x="268" y="147"/>
                    <a:pt x="244" y="163"/>
                  </a:cubicBezTo>
                  <a:cubicBezTo>
                    <a:pt x="219" y="178"/>
                    <a:pt x="188" y="188"/>
                    <a:pt x="157" y="188"/>
                  </a:cubicBezTo>
                  <a:cubicBezTo>
                    <a:pt x="124" y="188"/>
                    <a:pt x="93" y="185"/>
                    <a:pt x="65" y="170"/>
                  </a:cubicBezTo>
                  <a:cubicBezTo>
                    <a:pt x="37" y="157"/>
                    <a:pt x="13" y="136"/>
                    <a:pt x="0" y="108"/>
                  </a:cubicBezTo>
                  <a:cubicBezTo>
                    <a:pt x="4" y="139"/>
                    <a:pt x="22" y="167"/>
                    <a:pt x="50" y="185"/>
                  </a:cubicBezTo>
                  <a:cubicBezTo>
                    <a:pt x="77" y="203"/>
                    <a:pt x="117" y="216"/>
                    <a:pt x="154" y="219"/>
                  </a:cubicBezTo>
                  <a:cubicBezTo>
                    <a:pt x="194" y="222"/>
                    <a:pt x="231" y="213"/>
                    <a:pt x="265" y="194"/>
                  </a:cubicBezTo>
                  <a:cubicBezTo>
                    <a:pt x="284" y="185"/>
                    <a:pt x="296" y="173"/>
                    <a:pt x="308" y="157"/>
                  </a:cubicBezTo>
                  <a:cubicBezTo>
                    <a:pt x="320" y="173"/>
                    <a:pt x="336" y="185"/>
                    <a:pt x="351" y="194"/>
                  </a:cubicBezTo>
                  <a:cubicBezTo>
                    <a:pt x="385" y="213"/>
                    <a:pt x="425" y="222"/>
                    <a:pt x="462" y="219"/>
                  </a:cubicBezTo>
                  <a:cubicBezTo>
                    <a:pt x="499" y="219"/>
                    <a:pt x="539" y="207"/>
                    <a:pt x="567" y="185"/>
                  </a:cubicBezTo>
                  <a:cubicBezTo>
                    <a:pt x="594" y="167"/>
                    <a:pt x="616" y="136"/>
                    <a:pt x="616" y="108"/>
                  </a:cubicBezTo>
                  <a:cubicBezTo>
                    <a:pt x="610" y="133"/>
                    <a:pt x="585" y="154"/>
                    <a:pt x="557" y="170"/>
                  </a:cubicBezTo>
                  <a:cubicBezTo>
                    <a:pt x="530" y="182"/>
                    <a:pt x="496" y="188"/>
                    <a:pt x="465" y="18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6" name="Полилиния 25"/>
            <p:cNvSpPr/>
            <p:nvPr/>
          </p:nvSpPr>
          <p:spPr>
            <a:xfrm>
              <a:off x="2912040" y="5073840"/>
              <a:ext cx="84240" cy="39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5" h="111">
                  <a:moveTo>
                    <a:pt x="117" y="0"/>
                  </a:moveTo>
                  <a:cubicBezTo>
                    <a:pt x="96" y="0"/>
                    <a:pt x="31" y="0"/>
                    <a:pt x="6" y="19"/>
                  </a:cubicBezTo>
                  <a:cubicBezTo>
                    <a:pt x="-9" y="31"/>
                    <a:pt x="3" y="62"/>
                    <a:pt x="43" y="90"/>
                  </a:cubicBezTo>
                  <a:cubicBezTo>
                    <a:pt x="71" y="108"/>
                    <a:pt x="96" y="111"/>
                    <a:pt x="114" y="111"/>
                  </a:cubicBezTo>
                  <a:cubicBezTo>
                    <a:pt x="136" y="111"/>
                    <a:pt x="160" y="105"/>
                    <a:pt x="185" y="90"/>
                  </a:cubicBezTo>
                  <a:cubicBezTo>
                    <a:pt x="234" y="62"/>
                    <a:pt x="243" y="31"/>
                    <a:pt x="228" y="19"/>
                  </a:cubicBezTo>
                  <a:cubicBezTo>
                    <a:pt x="206" y="0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1313280" y="4818960"/>
            <a:ext cx="252719" cy="331920"/>
            <a:chOff x="1313280" y="4818960"/>
            <a:chExt cx="252719" cy="331920"/>
          </a:xfrm>
        </p:grpSpPr>
        <p:sp>
          <p:nvSpPr>
            <p:cNvPr id="28" name="Полилиния 27"/>
            <p:cNvSpPr/>
            <p:nvPr/>
          </p:nvSpPr>
          <p:spPr>
            <a:xfrm>
              <a:off x="1313280" y="5046480"/>
              <a:ext cx="43920" cy="48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3" h="135">
                  <a:moveTo>
                    <a:pt x="0" y="67"/>
                  </a:moveTo>
                  <a:cubicBezTo>
                    <a:pt x="0" y="79"/>
                    <a:pt x="3" y="90"/>
                    <a:pt x="8" y="101"/>
                  </a:cubicBezTo>
                  <a:cubicBezTo>
                    <a:pt x="13" y="111"/>
                    <a:pt x="20" y="120"/>
                    <a:pt x="30" y="126"/>
                  </a:cubicBezTo>
                  <a:cubicBezTo>
                    <a:pt x="39" y="132"/>
                    <a:pt x="50" y="135"/>
                    <a:pt x="61" y="135"/>
                  </a:cubicBezTo>
                  <a:cubicBezTo>
                    <a:pt x="72" y="135"/>
                    <a:pt x="83" y="132"/>
                    <a:pt x="92" y="126"/>
                  </a:cubicBezTo>
                  <a:cubicBezTo>
                    <a:pt x="101" y="120"/>
                    <a:pt x="109" y="111"/>
                    <a:pt x="115" y="101"/>
                  </a:cubicBezTo>
                  <a:cubicBezTo>
                    <a:pt x="120" y="90"/>
                    <a:pt x="123" y="79"/>
                    <a:pt x="123" y="67"/>
                  </a:cubicBezTo>
                  <a:cubicBezTo>
                    <a:pt x="123" y="56"/>
                    <a:pt x="120" y="44"/>
                    <a:pt x="115" y="34"/>
                  </a:cubicBezTo>
                  <a:cubicBezTo>
                    <a:pt x="109" y="23"/>
                    <a:pt x="101" y="15"/>
                    <a:pt x="92" y="9"/>
                  </a:cubicBezTo>
                  <a:cubicBezTo>
                    <a:pt x="83" y="3"/>
                    <a:pt x="72" y="0"/>
                    <a:pt x="61" y="0"/>
                  </a:cubicBezTo>
                  <a:cubicBezTo>
                    <a:pt x="50" y="0"/>
                    <a:pt x="39" y="3"/>
                    <a:pt x="30" y="9"/>
                  </a:cubicBezTo>
                  <a:cubicBezTo>
                    <a:pt x="20" y="15"/>
                    <a:pt x="13" y="23"/>
                    <a:pt x="8" y="34"/>
                  </a:cubicBezTo>
                  <a:cubicBezTo>
                    <a:pt x="3" y="44"/>
                    <a:pt x="0" y="56"/>
                    <a:pt x="0" y="6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9" name="Полилиния 28"/>
            <p:cNvSpPr/>
            <p:nvPr/>
          </p:nvSpPr>
          <p:spPr>
            <a:xfrm>
              <a:off x="1329120" y="5040720"/>
              <a:ext cx="76320" cy="96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13" h="269">
                  <a:moveTo>
                    <a:pt x="13" y="227"/>
                  </a:moveTo>
                  <a:cubicBezTo>
                    <a:pt x="-34" y="53"/>
                    <a:pt x="64" y="76"/>
                    <a:pt x="89" y="0"/>
                  </a:cubicBezTo>
                  <a:cubicBezTo>
                    <a:pt x="126" y="18"/>
                    <a:pt x="162" y="36"/>
                    <a:pt x="198" y="54"/>
                  </a:cubicBezTo>
                  <a:cubicBezTo>
                    <a:pt x="198" y="53"/>
                    <a:pt x="232" y="220"/>
                    <a:pt x="199" y="257"/>
                  </a:cubicBezTo>
                  <a:cubicBezTo>
                    <a:pt x="175" y="285"/>
                    <a:pt x="22" y="262"/>
                    <a:pt x="13" y="22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0" name="Полилиния 29"/>
            <p:cNvSpPr/>
            <p:nvPr/>
          </p:nvSpPr>
          <p:spPr>
            <a:xfrm>
              <a:off x="1355400" y="5095080"/>
              <a:ext cx="45000" cy="23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6" h="65">
                  <a:moveTo>
                    <a:pt x="109" y="31"/>
                  </a:moveTo>
                  <a:cubicBezTo>
                    <a:pt x="100" y="22"/>
                    <a:pt x="89" y="13"/>
                    <a:pt x="77" y="9"/>
                  </a:cubicBezTo>
                  <a:cubicBezTo>
                    <a:pt x="52" y="-2"/>
                    <a:pt x="24" y="-2"/>
                    <a:pt x="0" y="7"/>
                  </a:cubicBezTo>
                  <a:cubicBezTo>
                    <a:pt x="26" y="7"/>
                    <a:pt x="49" y="9"/>
                    <a:pt x="72" y="19"/>
                  </a:cubicBezTo>
                  <a:cubicBezTo>
                    <a:pt x="83" y="23"/>
                    <a:pt x="93" y="29"/>
                    <a:pt x="103" y="37"/>
                  </a:cubicBezTo>
                  <a:cubicBezTo>
                    <a:pt x="110" y="45"/>
                    <a:pt x="120" y="54"/>
                    <a:pt x="126" y="65"/>
                  </a:cubicBezTo>
                  <a:cubicBezTo>
                    <a:pt x="124" y="52"/>
                    <a:pt x="118" y="40"/>
                    <a:pt x="109" y="31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1" name="Полилиния 30"/>
            <p:cNvSpPr/>
            <p:nvPr/>
          </p:nvSpPr>
          <p:spPr>
            <a:xfrm>
              <a:off x="1391400" y="5033160"/>
              <a:ext cx="64800" cy="117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1" h="328">
                  <a:moveTo>
                    <a:pt x="37" y="308"/>
                  </a:moveTo>
                  <a:cubicBezTo>
                    <a:pt x="0" y="269"/>
                    <a:pt x="1" y="98"/>
                    <a:pt x="0" y="14"/>
                  </a:cubicBezTo>
                  <a:cubicBezTo>
                    <a:pt x="52" y="9"/>
                    <a:pt x="105" y="5"/>
                    <a:pt x="157" y="0"/>
                  </a:cubicBezTo>
                  <a:cubicBezTo>
                    <a:pt x="158" y="0"/>
                    <a:pt x="201" y="271"/>
                    <a:pt x="170" y="308"/>
                  </a:cubicBezTo>
                  <a:cubicBezTo>
                    <a:pt x="147" y="335"/>
                    <a:pt x="63" y="334"/>
                    <a:pt x="37" y="30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2" name="Полилиния 31"/>
            <p:cNvSpPr/>
            <p:nvPr/>
          </p:nvSpPr>
          <p:spPr>
            <a:xfrm>
              <a:off x="1448280" y="5033160"/>
              <a:ext cx="65160" cy="117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2" h="328">
                  <a:moveTo>
                    <a:pt x="145" y="308"/>
                  </a:moveTo>
                  <a:cubicBezTo>
                    <a:pt x="182" y="269"/>
                    <a:pt x="181" y="98"/>
                    <a:pt x="182" y="14"/>
                  </a:cubicBezTo>
                  <a:cubicBezTo>
                    <a:pt x="130" y="9"/>
                    <a:pt x="78" y="5"/>
                    <a:pt x="25" y="0"/>
                  </a:cubicBezTo>
                  <a:cubicBezTo>
                    <a:pt x="21" y="103"/>
                    <a:pt x="-19" y="271"/>
                    <a:pt x="11" y="308"/>
                  </a:cubicBezTo>
                  <a:cubicBezTo>
                    <a:pt x="34" y="335"/>
                    <a:pt x="119" y="334"/>
                    <a:pt x="145" y="30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3" name="Полилиния 32"/>
            <p:cNvSpPr/>
            <p:nvPr/>
          </p:nvSpPr>
          <p:spPr>
            <a:xfrm>
              <a:off x="1450079" y="5096160"/>
              <a:ext cx="4320" cy="47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" h="133">
                  <a:moveTo>
                    <a:pt x="13" y="66"/>
                  </a:moveTo>
                  <a:cubicBezTo>
                    <a:pt x="13" y="44"/>
                    <a:pt x="11" y="22"/>
                    <a:pt x="6" y="0"/>
                  </a:cubicBezTo>
                  <a:cubicBezTo>
                    <a:pt x="2" y="22"/>
                    <a:pt x="0" y="45"/>
                    <a:pt x="0" y="66"/>
                  </a:cubicBezTo>
                  <a:cubicBezTo>
                    <a:pt x="2" y="89"/>
                    <a:pt x="2" y="111"/>
                    <a:pt x="6" y="133"/>
                  </a:cubicBezTo>
                  <a:cubicBezTo>
                    <a:pt x="11" y="111"/>
                    <a:pt x="13" y="87"/>
                    <a:pt x="13" y="66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4" name="Полилиния 33"/>
            <p:cNvSpPr/>
            <p:nvPr/>
          </p:nvSpPr>
          <p:spPr>
            <a:xfrm>
              <a:off x="1402920" y="5028840"/>
              <a:ext cx="99360" cy="957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7" h="267">
                  <a:moveTo>
                    <a:pt x="138" y="267"/>
                  </a:moveTo>
                  <a:cubicBezTo>
                    <a:pt x="184" y="220"/>
                    <a:pt x="277" y="195"/>
                    <a:pt x="277" y="126"/>
                  </a:cubicBezTo>
                  <a:cubicBezTo>
                    <a:pt x="277" y="56"/>
                    <a:pt x="215" y="0"/>
                    <a:pt x="138" y="0"/>
                  </a:cubicBezTo>
                  <a:cubicBezTo>
                    <a:pt x="61" y="0"/>
                    <a:pt x="0" y="56"/>
                    <a:pt x="0" y="126"/>
                  </a:cubicBezTo>
                  <a:cubicBezTo>
                    <a:pt x="0" y="195"/>
                    <a:pt x="92" y="220"/>
                    <a:pt x="138" y="26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5" name="Полилиния 34"/>
            <p:cNvSpPr/>
            <p:nvPr/>
          </p:nvSpPr>
          <p:spPr>
            <a:xfrm>
              <a:off x="1338480" y="4818960"/>
              <a:ext cx="74880" cy="145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09" h="405">
                  <a:moveTo>
                    <a:pt x="190" y="177"/>
                  </a:moveTo>
                  <a:cubicBezTo>
                    <a:pt x="198" y="339"/>
                    <a:pt x="203" y="315"/>
                    <a:pt x="209" y="384"/>
                  </a:cubicBezTo>
                  <a:cubicBezTo>
                    <a:pt x="180" y="391"/>
                    <a:pt x="152" y="398"/>
                    <a:pt x="123" y="405"/>
                  </a:cubicBezTo>
                  <a:cubicBezTo>
                    <a:pt x="88" y="343"/>
                    <a:pt x="127" y="390"/>
                    <a:pt x="16" y="220"/>
                  </a:cubicBezTo>
                  <a:cubicBezTo>
                    <a:pt x="-24" y="157"/>
                    <a:pt x="19" y="10"/>
                    <a:pt x="44" y="0"/>
                  </a:cubicBezTo>
                  <a:cubicBezTo>
                    <a:pt x="59" y="-4"/>
                    <a:pt x="187" y="94"/>
                    <a:pt x="190" y="17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6" name="Полилиния 35"/>
            <p:cNvSpPr/>
            <p:nvPr/>
          </p:nvSpPr>
          <p:spPr>
            <a:xfrm>
              <a:off x="1353240" y="4848480"/>
              <a:ext cx="54000" cy="114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1" h="320">
                  <a:moveTo>
                    <a:pt x="112" y="105"/>
                  </a:moveTo>
                  <a:cubicBezTo>
                    <a:pt x="142" y="262"/>
                    <a:pt x="138" y="239"/>
                    <a:pt x="151" y="306"/>
                  </a:cubicBezTo>
                  <a:cubicBezTo>
                    <a:pt x="132" y="311"/>
                    <a:pt x="113" y="315"/>
                    <a:pt x="94" y="320"/>
                  </a:cubicBezTo>
                  <a:cubicBezTo>
                    <a:pt x="67" y="256"/>
                    <a:pt x="94" y="309"/>
                    <a:pt x="11" y="129"/>
                  </a:cubicBezTo>
                  <a:cubicBezTo>
                    <a:pt x="-11" y="83"/>
                    <a:pt x="2" y="8"/>
                    <a:pt x="25" y="0"/>
                  </a:cubicBezTo>
                  <a:cubicBezTo>
                    <a:pt x="40" y="-5"/>
                    <a:pt x="100" y="40"/>
                    <a:pt x="112" y="10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7" name="Полилиния 36"/>
            <p:cNvSpPr/>
            <p:nvPr/>
          </p:nvSpPr>
          <p:spPr>
            <a:xfrm>
              <a:off x="1491119" y="4818960"/>
              <a:ext cx="74880" cy="145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09" h="405">
                  <a:moveTo>
                    <a:pt x="19" y="177"/>
                  </a:moveTo>
                  <a:cubicBezTo>
                    <a:pt x="11" y="339"/>
                    <a:pt x="6" y="315"/>
                    <a:pt x="0" y="384"/>
                  </a:cubicBezTo>
                  <a:cubicBezTo>
                    <a:pt x="29" y="391"/>
                    <a:pt x="57" y="398"/>
                    <a:pt x="86" y="405"/>
                  </a:cubicBezTo>
                  <a:cubicBezTo>
                    <a:pt x="121" y="343"/>
                    <a:pt x="82" y="390"/>
                    <a:pt x="192" y="220"/>
                  </a:cubicBezTo>
                  <a:cubicBezTo>
                    <a:pt x="234" y="157"/>
                    <a:pt x="189" y="10"/>
                    <a:pt x="165" y="0"/>
                  </a:cubicBezTo>
                  <a:cubicBezTo>
                    <a:pt x="149" y="-4"/>
                    <a:pt x="22" y="94"/>
                    <a:pt x="19" y="17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8" name="Полилиния 37"/>
            <p:cNvSpPr/>
            <p:nvPr/>
          </p:nvSpPr>
          <p:spPr>
            <a:xfrm>
              <a:off x="1497240" y="4848480"/>
              <a:ext cx="54360" cy="115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2" h="322">
                  <a:moveTo>
                    <a:pt x="38" y="105"/>
                  </a:moveTo>
                  <a:cubicBezTo>
                    <a:pt x="9" y="262"/>
                    <a:pt x="13" y="239"/>
                    <a:pt x="0" y="306"/>
                  </a:cubicBezTo>
                  <a:cubicBezTo>
                    <a:pt x="18" y="311"/>
                    <a:pt x="37" y="317"/>
                    <a:pt x="55" y="322"/>
                  </a:cubicBezTo>
                  <a:cubicBezTo>
                    <a:pt x="83" y="258"/>
                    <a:pt x="55" y="311"/>
                    <a:pt x="140" y="131"/>
                  </a:cubicBezTo>
                  <a:cubicBezTo>
                    <a:pt x="162" y="83"/>
                    <a:pt x="151" y="8"/>
                    <a:pt x="126" y="0"/>
                  </a:cubicBezTo>
                  <a:cubicBezTo>
                    <a:pt x="111" y="-5"/>
                    <a:pt x="51" y="40"/>
                    <a:pt x="38" y="10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9" name="Полилиния 38"/>
            <p:cNvSpPr/>
            <p:nvPr/>
          </p:nvSpPr>
          <p:spPr>
            <a:xfrm>
              <a:off x="1351080" y="4907880"/>
              <a:ext cx="202320" cy="177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63" h="493">
                  <a:moveTo>
                    <a:pt x="281" y="0"/>
                  </a:moveTo>
                  <a:cubicBezTo>
                    <a:pt x="127" y="0"/>
                    <a:pt x="56" y="66"/>
                    <a:pt x="56" y="158"/>
                  </a:cubicBezTo>
                  <a:cubicBezTo>
                    <a:pt x="56" y="235"/>
                    <a:pt x="-61" y="349"/>
                    <a:pt x="44" y="424"/>
                  </a:cubicBezTo>
                  <a:cubicBezTo>
                    <a:pt x="95" y="461"/>
                    <a:pt x="180" y="493"/>
                    <a:pt x="281" y="493"/>
                  </a:cubicBezTo>
                  <a:cubicBezTo>
                    <a:pt x="383" y="493"/>
                    <a:pt x="469" y="461"/>
                    <a:pt x="520" y="424"/>
                  </a:cubicBezTo>
                  <a:cubicBezTo>
                    <a:pt x="624" y="347"/>
                    <a:pt x="508" y="235"/>
                    <a:pt x="508" y="158"/>
                  </a:cubicBezTo>
                  <a:cubicBezTo>
                    <a:pt x="508" y="66"/>
                    <a:pt x="438" y="0"/>
                    <a:pt x="281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0" name="Полилиния 39"/>
            <p:cNvSpPr/>
            <p:nvPr/>
          </p:nvSpPr>
          <p:spPr>
            <a:xfrm>
              <a:off x="1364400" y="4932000"/>
              <a:ext cx="176760" cy="146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2" h="409">
                  <a:moveTo>
                    <a:pt x="224" y="13"/>
                  </a:moveTo>
                  <a:cubicBezTo>
                    <a:pt x="238" y="-4"/>
                    <a:pt x="251" y="-4"/>
                    <a:pt x="264" y="13"/>
                  </a:cubicBezTo>
                  <a:cubicBezTo>
                    <a:pt x="297" y="55"/>
                    <a:pt x="347" y="144"/>
                    <a:pt x="351" y="218"/>
                  </a:cubicBezTo>
                  <a:cubicBezTo>
                    <a:pt x="409" y="210"/>
                    <a:pt x="475" y="213"/>
                    <a:pt x="489" y="244"/>
                  </a:cubicBezTo>
                  <a:cubicBezTo>
                    <a:pt x="515" y="305"/>
                    <a:pt x="392" y="409"/>
                    <a:pt x="246" y="409"/>
                  </a:cubicBezTo>
                  <a:cubicBezTo>
                    <a:pt x="98" y="409"/>
                    <a:pt x="-22" y="305"/>
                    <a:pt x="4" y="244"/>
                  </a:cubicBezTo>
                  <a:cubicBezTo>
                    <a:pt x="15" y="213"/>
                    <a:pt x="81" y="210"/>
                    <a:pt x="138" y="218"/>
                  </a:cubicBezTo>
                  <a:cubicBezTo>
                    <a:pt x="141" y="144"/>
                    <a:pt x="192" y="55"/>
                    <a:pt x="224" y="1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1" name="Полилиния 40"/>
            <p:cNvSpPr/>
            <p:nvPr/>
          </p:nvSpPr>
          <p:spPr>
            <a:xfrm>
              <a:off x="1410839" y="5037120"/>
              <a:ext cx="83520" cy="29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3" h="84">
                  <a:moveTo>
                    <a:pt x="47" y="30"/>
                  </a:moveTo>
                  <a:cubicBezTo>
                    <a:pt x="64" y="31"/>
                    <a:pt x="83" y="27"/>
                    <a:pt x="96" y="18"/>
                  </a:cubicBezTo>
                  <a:cubicBezTo>
                    <a:pt x="104" y="13"/>
                    <a:pt x="110" y="7"/>
                    <a:pt x="116" y="0"/>
                  </a:cubicBezTo>
                  <a:cubicBezTo>
                    <a:pt x="121" y="7"/>
                    <a:pt x="129" y="13"/>
                    <a:pt x="136" y="18"/>
                  </a:cubicBezTo>
                  <a:cubicBezTo>
                    <a:pt x="152" y="27"/>
                    <a:pt x="169" y="32"/>
                    <a:pt x="186" y="30"/>
                  </a:cubicBezTo>
                  <a:cubicBezTo>
                    <a:pt x="203" y="30"/>
                    <a:pt x="219" y="24"/>
                    <a:pt x="232" y="13"/>
                  </a:cubicBezTo>
                  <a:cubicBezTo>
                    <a:pt x="239" y="7"/>
                    <a:pt x="199" y="84"/>
                    <a:pt x="116" y="84"/>
                  </a:cubicBezTo>
                  <a:cubicBezTo>
                    <a:pt x="33" y="84"/>
                    <a:pt x="-7" y="7"/>
                    <a:pt x="1" y="13"/>
                  </a:cubicBezTo>
                  <a:cubicBezTo>
                    <a:pt x="13" y="23"/>
                    <a:pt x="30" y="28"/>
                    <a:pt x="47" y="3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2" name="Полилиния 41"/>
            <p:cNvSpPr/>
            <p:nvPr/>
          </p:nvSpPr>
          <p:spPr>
            <a:xfrm>
              <a:off x="1381320" y="4953600"/>
              <a:ext cx="48600" cy="57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6" h="162">
                  <a:moveTo>
                    <a:pt x="89" y="5"/>
                  </a:moveTo>
                  <a:cubicBezTo>
                    <a:pt x="43" y="-14"/>
                    <a:pt x="12" y="31"/>
                    <a:pt x="5" y="56"/>
                  </a:cubicBezTo>
                  <a:cubicBezTo>
                    <a:pt x="-8" y="92"/>
                    <a:pt x="8" y="133"/>
                    <a:pt x="12" y="142"/>
                  </a:cubicBezTo>
                  <a:cubicBezTo>
                    <a:pt x="15" y="149"/>
                    <a:pt x="49" y="178"/>
                    <a:pt x="125" y="150"/>
                  </a:cubicBezTo>
                  <a:cubicBezTo>
                    <a:pt x="123" y="150"/>
                    <a:pt x="143" y="109"/>
                    <a:pt x="134" y="70"/>
                  </a:cubicBezTo>
                  <a:cubicBezTo>
                    <a:pt x="119" y="49"/>
                    <a:pt x="129" y="20"/>
                    <a:pt x="89" y="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3" name="Полилиния 42"/>
            <p:cNvSpPr/>
            <p:nvPr/>
          </p:nvSpPr>
          <p:spPr>
            <a:xfrm>
              <a:off x="1378080" y="4950720"/>
              <a:ext cx="51120" cy="62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3" h="174">
                  <a:moveTo>
                    <a:pt x="126" y="28"/>
                  </a:moveTo>
                  <a:cubicBezTo>
                    <a:pt x="120" y="21"/>
                    <a:pt x="114" y="14"/>
                    <a:pt x="106" y="10"/>
                  </a:cubicBezTo>
                  <a:cubicBezTo>
                    <a:pt x="103" y="7"/>
                    <a:pt x="98" y="5"/>
                    <a:pt x="94" y="4"/>
                  </a:cubicBezTo>
                  <a:cubicBezTo>
                    <a:pt x="89" y="2"/>
                    <a:pt x="84" y="1"/>
                    <a:pt x="80" y="1"/>
                  </a:cubicBezTo>
                  <a:cubicBezTo>
                    <a:pt x="61" y="-2"/>
                    <a:pt x="43" y="7"/>
                    <a:pt x="30" y="19"/>
                  </a:cubicBezTo>
                  <a:cubicBezTo>
                    <a:pt x="18" y="31"/>
                    <a:pt x="7" y="48"/>
                    <a:pt x="3" y="67"/>
                  </a:cubicBezTo>
                  <a:cubicBezTo>
                    <a:pt x="-2" y="85"/>
                    <a:pt x="0" y="104"/>
                    <a:pt x="4" y="123"/>
                  </a:cubicBezTo>
                  <a:cubicBezTo>
                    <a:pt x="6" y="132"/>
                    <a:pt x="9" y="141"/>
                    <a:pt x="14" y="149"/>
                  </a:cubicBezTo>
                  <a:cubicBezTo>
                    <a:pt x="14" y="150"/>
                    <a:pt x="14" y="151"/>
                    <a:pt x="15" y="152"/>
                  </a:cubicBezTo>
                  <a:cubicBezTo>
                    <a:pt x="15" y="154"/>
                    <a:pt x="15" y="156"/>
                    <a:pt x="15" y="157"/>
                  </a:cubicBezTo>
                  <a:cubicBezTo>
                    <a:pt x="15" y="158"/>
                    <a:pt x="16" y="158"/>
                    <a:pt x="17" y="158"/>
                  </a:cubicBezTo>
                  <a:cubicBezTo>
                    <a:pt x="18" y="160"/>
                    <a:pt x="20" y="161"/>
                    <a:pt x="23" y="163"/>
                  </a:cubicBezTo>
                  <a:cubicBezTo>
                    <a:pt x="27" y="166"/>
                    <a:pt x="30" y="167"/>
                    <a:pt x="35" y="169"/>
                  </a:cubicBezTo>
                  <a:cubicBezTo>
                    <a:pt x="52" y="175"/>
                    <a:pt x="69" y="175"/>
                    <a:pt x="86" y="173"/>
                  </a:cubicBezTo>
                  <a:cubicBezTo>
                    <a:pt x="103" y="170"/>
                    <a:pt x="118" y="166"/>
                    <a:pt x="134" y="158"/>
                  </a:cubicBezTo>
                  <a:cubicBezTo>
                    <a:pt x="118" y="161"/>
                    <a:pt x="101" y="166"/>
                    <a:pt x="86" y="166"/>
                  </a:cubicBezTo>
                  <a:cubicBezTo>
                    <a:pt x="70" y="166"/>
                    <a:pt x="54" y="164"/>
                    <a:pt x="40" y="158"/>
                  </a:cubicBezTo>
                  <a:cubicBezTo>
                    <a:pt x="37" y="157"/>
                    <a:pt x="34" y="155"/>
                    <a:pt x="30" y="152"/>
                  </a:cubicBezTo>
                  <a:cubicBezTo>
                    <a:pt x="29" y="150"/>
                    <a:pt x="27" y="150"/>
                    <a:pt x="27" y="149"/>
                  </a:cubicBezTo>
                  <a:cubicBezTo>
                    <a:pt x="26" y="148"/>
                    <a:pt x="26" y="147"/>
                    <a:pt x="26" y="146"/>
                  </a:cubicBezTo>
                  <a:cubicBezTo>
                    <a:pt x="23" y="138"/>
                    <a:pt x="21" y="130"/>
                    <a:pt x="18" y="123"/>
                  </a:cubicBezTo>
                  <a:cubicBezTo>
                    <a:pt x="15" y="106"/>
                    <a:pt x="14" y="89"/>
                    <a:pt x="18" y="74"/>
                  </a:cubicBezTo>
                  <a:cubicBezTo>
                    <a:pt x="21" y="59"/>
                    <a:pt x="30" y="45"/>
                    <a:pt x="41" y="34"/>
                  </a:cubicBezTo>
                  <a:cubicBezTo>
                    <a:pt x="52" y="24"/>
                    <a:pt x="66" y="16"/>
                    <a:pt x="80" y="18"/>
                  </a:cubicBezTo>
                  <a:cubicBezTo>
                    <a:pt x="83" y="18"/>
                    <a:pt x="86" y="17"/>
                    <a:pt x="90" y="19"/>
                  </a:cubicBezTo>
                  <a:cubicBezTo>
                    <a:pt x="93" y="20"/>
                    <a:pt x="98" y="21"/>
                    <a:pt x="101" y="22"/>
                  </a:cubicBezTo>
                  <a:cubicBezTo>
                    <a:pt x="109" y="25"/>
                    <a:pt x="115" y="30"/>
                    <a:pt x="120" y="36"/>
                  </a:cubicBezTo>
                  <a:cubicBezTo>
                    <a:pt x="130" y="45"/>
                    <a:pt x="138" y="61"/>
                    <a:pt x="143" y="79"/>
                  </a:cubicBezTo>
                  <a:cubicBezTo>
                    <a:pt x="143" y="61"/>
                    <a:pt x="137" y="44"/>
                    <a:pt x="126" y="2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4" name="Полилиния 43"/>
            <p:cNvSpPr/>
            <p:nvPr/>
          </p:nvSpPr>
          <p:spPr>
            <a:xfrm>
              <a:off x="1393919" y="4967640"/>
              <a:ext cx="28440" cy="34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98">
                  <a:moveTo>
                    <a:pt x="0" y="49"/>
                  </a:moveTo>
                  <a:cubicBezTo>
                    <a:pt x="0" y="58"/>
                    <a:pt x="2" y="66"/>
                    <a:pt x="6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6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5" name="Полилиния 44"/>
            <p:cNvSpPr/>
            <p:nvPr/>
          </p:nvSpPr>
          <p:spPr>
            <a:xfrm>
              <a:off x="1474919" y="4953600"/>
              <a:ext cx="48600" cy="57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6" h="162">
                  <a:moveTo>
                    <a:pt x="47" y="5"/>
                  </a:moveTo>
                  <a:cubicBezTo>
                    <a:pt x="93" y="-14"/>
                    <a:pt x="124" y="31"/>
                    <a:pt x="131" y="56"/>
                  </a:cubicBezTo>
                  <a:cubicBezTo>
                    <a:pt x="144" y="92"/>
                    <a:pt x="128" y="134"/>
                    <a:pt x="124" y="142"/>
                  </a:cubicBezTo>
                  <a:cubicBezTo>
                    <a:pt x="120" y="150"/>
                    <a:pt x="87" y="178"/>
                    <a:pt x="11" y="150"/>
                  </a:cubicBezTo>
                  <a:cubicBezTo>
                    <a:pt x="13" y="150"/>
                    <a:pt x="-6" y="109"/>
                    <a:pt x="2" y="70"/>
                  </a:cubicBezTo>
                  <a:cubicBezTo>
                    <a:pt x="17" y="49"/>
                    <a:pt x="7" y="20"/>
                    <a:pt x="47" y="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6" name="Полилиния 45"/>
            <p:cNvSpPr/>
            <p:nvPr/>
          </p:nvSpPr>
          <p:spPr>
            <a:xfrm>
              <a:off x="1475640" y="4951080"/>
              <a:ext cx="51480" cy="61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4" h="172">
                  <a:moveTo>
                    <a:pt x="23" y="33"/>
                  </a:moveTo>
                  <a:cubicBezTo>
                    <a:pt x="29" y="27"/>
                    <a:pt x="35" y="23"/>
                    <a:pt x="42" y="20"/>
                  </a:cubicBezTo>
                  <a:cubicBezTo>
                    <a:pt x="45" y="18"/>
                    <a:pt x="49" y="17"/>
                    <a:pt x="52" y="17"/>
                  </a:cubicBezTo>
                  <a:cubicBezTo>
                    <a:pt x="55" y="15"/>
                    <a:pt x="60" y="15"/>
                    <a:pt x="63" y="15"/>
                  </a:cubicBezTo>
                  <a:cubicBezTo>
                    <a:pt x="77" y="15"/>
                    <a:pt x="92" y="21"/>
                    <a:pt x="102" y="32"/>
                  </a:cubicBezTo>
                  <a:cubicBezTo>
                    <a:pt x="112" y="43"/>
                    <a:pt x="122" y="58"/>
                    <a:pt x="125" y="72"/>
                  </a:cubicBezTo>
                  <a:cubicBezTo>
                    <a:pt x="128" y="86"/>
                    <a:pt x="128" y="103"/>
                    <a:pt x="125" y="120"/>
                  </a:cubicBezTo>
                  <a:cubicBezTo>
                    <a:pt x="123" y="128"/>
                    <a:pt x="120" y="137"/>
                    <a:pt x="117" y="143"/>
                  </a:cubicBezTo>
                  <a:cubicBezTo>
                    <a:pt x="116" y="144"/>
                    <a:pt x="116" y="145"/>
                    <a:pt x="115" y="146"/>
                  </a:cubicBezTo>
                  <a:cubicBezTo>
                    <a:pt x="114" y="148"/>
                    <a:pt x="112" y="148"/>
                    <a:pt x="112" y="149"/>
                  </a:cubicBezTo>
                  <a:cubicBezTo>
                    <a:pt x="109" y="151"/>
                    <a:pt x="106" y="154"/>
                    <a:pt x="103" y="156"/>
                  </a:cubicBezTo>
                  <a:cubicBezTo>
                    <a:pt x="89" y="162"/>
                    <a:pt x="74" y="165"/>
                    <a:pt x="57" y="163"/>
                  </a:cubicBezTo>
                  <a:cubicBezTo>
                    <a:pt x="42" y="163"/>
                    <a:pt x="25" y="160"/>
                    <a:pt x="9" y="156"/>
                  </a:cubicBezTo>
                  <a:cubicBezTo>
                    <a:pt x="25" y="163"/>
                    <a:pt x="40" y="168"/>
                    <a:pt x="57" y="171"/>
                  </a:cubicBezTo>
                  <a:cubicBezTo>
                    <a:pt x="74" y="174"/>
                    <a:pt x="91" y="172"/>
                    <a:pt x="108" y="166"/>
                  </a:cubicBezTo>
                  <a:cubicBezTo>
                    <a:pt x="112" y="165"/>
                    <a:pt x="115" y="163"/>
                    <a:pt x="120" y="160"/>
                  </a:cubicBezTo>
                  <a:cubicBezTo>
                    <a:pt x="122" y="159"/>
                    <a:pt x="125" y="157"/>
                    <a:pt x="126" y="156"/>
                  </a:cubicBezTo>
                  <a:cubicBezTo>
                    <a:pt x="127" y="156"/>
                    <a:pt x="127" y="155"/>
                    <a:pt x="128" y="154"/>
                  </a:cubicBezTo>
                  <a:cubicBezTo>
                    <a:pt x="128" y="154"/>
                    <a:pt x="129" y="153"/>
                    <a:pt x="129" y="152"/>
                  </a:cubicBezTo>
                  <a:lnTo>
                    <a:pt x="129" y="151"/>
                  </a:lnTo>
                  <a:cubicBezTo>
                    <a:pt x="130" y="151"/>
                    <a:pt x="130" y="150"/>
                    <a:pt x="131" y="149"/>
                  </a:cubicBezTo>
                  <a:cubicBezTo>
                    <a:pt x="134" y="140"/>
                    <a:pt x="137" y="132"/>
                    <a:pt x="140" y="123"/>
                  </a:cubicBezTo>
                  <a:cubicBezTo>
                    <a:pt x="145" y="105"/>
                    <a:pt x="145" y="86"/>
                    <a:pt x="142" y="67"/>
                  </a:cubicBezTo>
                  <a:cubicBezTo>
                    <a:pt x="137" y="49"/>
                    <a:pt x="126" y="32"/>
                    <a:pt x="114" y="20"/>
                  </a:cubicBezTo>
                  <a:cubicBezTo>
                    <a:pt x="100" y="7"/>
                    <a:pt x="83" y="-2"/>
                    <a:pt x="65" y="1"/>
                  </a:cubicBezTo>
                  <a:cubicBezTo>
                    <a:pt x="60" y="1"/>
                    <a:pt x="55" y="3"/>
                    <a:pt x="51" y="4"/>
                  </a:cubicBezTo>
                  <a:cubicBezTo>
                    <a:pt x="46" y="6"/>
                    <a:pt x="43" y="7"/>
                    <a:pt x="38" y="10"/>
                  </a:cubicBezTo>
                  <a:cubicBezTo>
                    <a:pt x="31" y="15"/>
                    <a:pt x="25" y="21"/>
                    <a:pt x="18" y="29"/>
                  </a:cubicBezTo>
                  <a:cubicBezTo>
                    <a:pt x="8" y="41"/>
                    <a:pt x="2" y="60"/>
                    <a:pt x="0" y="78"/>
                  </a:cubicBezTo>
                  <a:cubicBezTo>
                    <a:pt x="5" y="61"/>
                    <a:pt x="11" y="44"/>
                    <a:pt x="23" y="3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7" name="Полилиния 46"/>
            <p:cNvSpPr/>
            <p:nvPr/>
          </p:nvSpPr>
          <p:spPr>
            <a:xfrm>
              <a:off x="1482840" y="4967640"/>
              <a:ext cx="28440" cy="34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98">
                  <a:moveTo>
                    <a:pt x="0" y="49"/>
                  </a:moveTo>
                  <a:cubicBezTo>
                    <a:pt x="0" y="58"/>
                    <a:pt x="1" y="66"/>
                    <a:pt x="5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5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8" name="Полилиния 47"/>
            <p:cNvSpPr/>
            <p:nvPr/>
          </p:nvSpPr>
          <p:spPr>
            <a:xfrm>
              <a:off x="1438199" y="5029920"/>
              <a:ext cx="29160" cy="237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2" h="67">
                  <a:moveTo>
                    <a:pt x="82" y="0"/>
                  </a:moveTo>
                  <a:cubicBezTo>
                    <a:pt x="55" y="0"/>
                    <a:pt x="27" y="0"/>
                    <a:pt x="0" y="0"/>
                  </a:cubicBezTo>
                  <a:cubicBezTo>
                    <a:pt x="0" y="22"/>
                    <a:pt x="0" y="45"/>
                    <a:pt x="0" y="67"/>
                  </a:cubicBezTo>
                  <a:cubicBezTo>
                    <a:pt x="27" y="67"/>
                    <a:pt x="55" y="67"/>
                    <a:pt x="82" y="67"/>
                  </a:cubicBezTo>
                  <a:cubicBezTo>
                    <a:pt x="82" y="45"/>
                    <a:pt x="82" y="22"/>
                    <a:pt x="82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9" name="Полилиния 48"/>
            <p:cNvSpPr/>
            <p:nvPr/>
          </p:nvSpPr>
          <p:spPr>
            <a:xfrm>
              <a:off x="1397880" y="5009400"/>
              <a:ext cx="110520" cy="38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8" h="109">
                  <a:moveTo>
                    <a:pt x="75" y="94"/>
                  </a:moveTo>
                  <a:cubicBezTo>
                    <a:pt x="91" y="92"/>
                    <a:pt x="106" y="88"/>
                    <a:pt x="119" y="81"/>
                  </a:cubicBezTo>
                  <a:cubicBezTo>
                    <a:pt x="131" y="73"/>
                    <a:pt x="140" y="63"/>
                    <a:pt x="142" y="52"/>
                  </a:cubicBezTo>
                  <a:cubicBezTo>
                    <a:pt x="145" y="35"/>
                    <a:pt x="149" y="17"/>
                    <a:pt x="152" y="0"/>
                  </a:cubicBezTo>
                  <a:cubicBezTo>
                    <a:pt x="156" y="17"/>
                    <a:pt x="159" y="35"/>
                    <a:pt x="163" y="52"/>
                  </a:cubicBezTo>
                  <a:cubicBezTo>
                    <a:pt x="166" y="64"/>
                    <a:pt x="173" y="73"/>
                    <a:pt x="186" y="81"/>
                  </a:cubicBezTo>
                  <a:cubicBezTo>
                    <a:pt x="198" y="88"/>
                    <a:pt x="214" y="94"/>
                    <a:pt x="229" y="94"/>
                  </a:cubicBezTo>
                  <a:cubicBezTo>
                    <a:pt x="246" y="94"/>
                    <a:pt x="262" y="92"/>
                    <a:pt x="275" y="84"/>
                  </a:cubicBezTo>
                  <a:cubicBezTo>
                    <a:pt x="289" y="78"/>
                    <a:pt x="302" y="67"/>
                    <a:pt x="308" y="54"/>
                  </a:cubicBezTo>
                  <a:cubicBezTo>
                    <a:pt x="306" y="69"/>
                    <a:pt x="297" y="83"/>
                    <a:pt x="283" y="92"/>
                  </a:cubicBezTo>
                  <a:cubicBezTo>
                    <a:pt x="269" y="101"/>
                    <a:pt x="249" y="107"/>
                    <a:pt x="231" y="109"/>
                  </a:cubicBezTo>
                  <a:cubicBezTo>
                    <a:pt x="211" y="110"/>
                    <a:pt x="192" y="106"/>
                    <a:pt x="175" y="97"/>
                  </a:cubicBezTo>
                  <a:cubicBezTo>
                    <a:pt x="166" y="92"/>
                    <a:pt x="160" y="86"/>
                    <a:pt x="154" y="78"/>
                  </a:cubicBezTo>
                  <a:cubicBezTo>
                    <a:pt x="148" y="86"/>
                    <a:pt x="140" y="92"/>
                    <a:pt x="132" y="97"/>
                  </a:cubicBezTo>
                  <a:cubicBezTo>
                    <a:pt x="115" y="106"/>
                    <a:pt x="95" y="110"/>
                    <a:pt x="77" y="109"/>
                  </a:cubicBezTo>
                  <a:cubicBezTo>
                    <a:pt x="59" y="109"/>
                    <a:pt x="39" y="103"/>
                    <a:pt x="25" y="92"/>
                  </a:cubicBezTo>
                  <a:cubicBezTo>
                    <a:pt x="11" y="83"/>
                    <a:pt x="0" y="67"/>
                    <a:pt x="0" y="54"/>
                  </a:cubicBezTo>
                  <a:cubicBezTo>
                    <a:pt x="3" y="66"/>
                    <a:pt x="15" y="77"/>
                    <a:pt x="29" y="84"/>
                  </a:cubicBezTo>
                  <a:cubicBezTo>
                    <a:pt x="43" y="90"/>
                    <a:pt x="60" y="94"/>
                    <a:pt x="75" y="9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0" name="Полилиния 49"/>
            <p:cNvSpPr/>
            <p:nvPr/>
          </p:nvSpPr>
          <p:spPr>
            <a:xfrm>
              <a:off x="1432080" y="5002200"/>
              <a:ext cx="41760" cy="19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7" h="55">
                  <a:moveTo>
                    <a:pt x="59" y="0"/>
                  </a:moveTo>
                  <a:cubicBezTo>
                    <a:pt x="70" y="0"/>
                    <a:pt x="102" y="0"/>
                    <a:pt x="114" y="9"/>
                  </a:cubicBezTo>
                  <a:cubicBezTo>
                    <a:pt x="122" y="15"/>
                    <a:pt x="116" y="30"/>
                    <a:pt x="96" y="44"/>
                  </a:cubicBezTo>
                  <a:cubicBezTo>
                    <a:pt x="82" y="54"/>
                    <a:pt x="70" y="55"/>
                    <a:pt x="60" y="55"/>
                  </a:cubicBezTo>
                  <a:cubicBezTo>
                    <a:pt x="50" y="55"/>
                    <a:pt x="37" y="52"/>
                    <a:pt x="25" y="44"/>
                  </a:cubicBezTo>
                  <a:cubicBezTo>
                    <a:pt x="0" y="30"/>
                    <a:pt x="-4" y="15"/>
                    <a:pt x="4" y="9"/>
                  </a:cubicBezTo>
                  <a:cubicBezTo>
                    <a:pt x="14" y="0"/>
                    <a:pt x="48" y="0"/>
                    <a:pt x="59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51" name="Группа 50"/>
          <p:cNvGrpSpPr/>
          <p:nvPr/>
        </p:nvGrpSpPr>
        <p:grpSpPr>
          <a:xfrm>
            <a:off x="6320880" y="4745880"/>
            <a:ext cx="497160" cy="397080"/>
            <a:chOff x="6320880" y="4745880"/>
            <a:chExt cx="497160" cy="397080"/>
          </a:xfrm>
        </p:grpSpPr>
        <p:sp>
          <p:nvSpPr>
            <p:cNvPr id="52" name="Полилиния 51"/>
            <p:cNvSpPr/>
            <p:nvPr/>
          </p:nvSpPr>
          <p:spPr>
            <a:xfrm>
              <a:off x="6666840" y="4873679"/>
              <a:ext cx="151200" cy="228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1" h="636">
                  <a:moveTo>
                    <a:pt x="240" y="544"/>
                  </a:moveTo>
                  <a:cubicBezTo>
                    <a:pt x="360" y="440"/>
                    <a:pt x="432" y="313"/>
                    <a:pt x="420" y="143"/>
                  </a:cubicBezTo>
                  <a:cubicBezTo>
                    <a:pt x="415" y="76"/>
                    <a:pt x="390" y="32"/>
                    <a:pt x="360" y="5"/>
                  </a:cubicBezTo>
                  <a:cubicBezTo>
                    <a:pt x="337" y="-16"/>
                    <a:pt x="196" y="32"/>
                    <a:pt x="196" y="185"/>
                  </a:cubicBezTo>
                  <a:cubicBezTo>
                    <a:pt x="198" y="474"/>
                    <a:pt x="65" y="484"/>
                    <a:pt x="0" y="634"/>
                  </a:cubicBezTo>
                  <a:cubicBezTo>
                    <a:pt x="69" y="645"/>
                    <a:pt x="152" y="622"/>
                    <a:pt x="240" y="54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3" name="Полилиния 52"/>
            <p:cNvSpPr/>
            <p:nvPr/>
          </p:nvSpPr>
          <p:spPr>
            <a:xfrm>
              <a:off x="6652799" y="4866840"/>
              <a:ext cx="143280" cy="233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9" h="650">
                  <a:moveTo>
                    <a:pt x="399" y="24"/>
                  </a:moveTo>
                  <a:cubicBezTo>
                    <a:pt x="323" y="-55"/>
                    <a:pt x="187" y="77"/>
                    <a:pt x="187" y="197"/>
                  </a:cubicBezTo>
                  <a:cubicBezTo>
                    <a:pt x="187" y="487"/>
                    <a:pt x="67" y="513"/>
                    <a:pt x="0" y="643"/>
                  </a:cubicBezTo>
                  <a:cubicBezTo>
                    <a:pt x="12" y="646"/>
                    <a:pt x="11" y="650"/>
                    <a:pt x="37" y="650"/>
                  </a:cubicBezTo>
                  <a:cubicBezTo>
                    <a:pt x="122" y="582"/>
                    <a:pt x="249" y="453"/>
                    <a:pt x="249" y="231"/>
                  </a:cubicBezTo>
                  <a:cubicBezTo>
                    <a:pt x="249" y="93"/>
                    <a:pt x="318" y="35"/>
                    <a:pt x="399" y="2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4" name="Полилиния 53"/>
            <p:cNvSpPr/>
            <p:nvPr/>
          </p:nvSpPr>
          <p:spPr>
            <a:xfrm>
              <a:off x="6652799" y="4862520"/>
              <a:ext cx="135000" cy="234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6" h="653">
                  <a:moveTo>
                    <a:pt x="376" y="17"/>
                  </a:moveTo>
                  <a:cubicBezTo>
                    <a:pt x="288" y="-36"/>
                    <a:pt x="159" y="40"/>
                    <a:pt x="159" y="186"/>
                  </a:cubicBezTo>
                  <a:cubicBezTo>
                    <a:pt x="159" y="423"/>
                    <a:pt x="53" y="414"/>
                    <a:pt x="0" y="529"/>
                  </a:cubicBezTo>
                  <a:cubicBezTo>
                    <a:pt x="0" y="570"/>
                    <a:pt x="0" y="612"/>
                    <a:pt x="0" y="653"/>
                  </a:cubicBezTo>
                  <a:cubicBezTo>
                    <a:pt x="37" y="628"/>
                    <a:pt x="212" y="479"/>
                    <a:pt x="212" y="218"/>
                  </a:cubicBezTo>
                  <a:cubicBezTo>
                    <a:pt x="212" y="79"/>
                    <a:pt x="293" y="19"/>
                    <a:pt x="376" y="1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5" name="Полилиния 54"/>
            <p:cNvSpPr/>
            <p:nvPr/>
          </p:nvSpPr>
          <p:spPr>
            <a:xfrm>
              <a:off x="6320880" y="4901040"/>
              <a:ext cx="229680" cy="213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39" h="595">
                  <a:moveTo>
                    <a:pt x="4" y="88"/>
                  </a:moveTo>
                  <a:cubicBezTo>
                    <a:pt x="-28" y="19"/>
                    <a:pt x="140" y="-18"/>
                    <a:pt x="198" y="9"/>
                  </a:cubicBezTo>
                  <a:cubicBezTo>
                    <a:pt x="198" y="48"/>
                    <a:pt x="198" y="86"/>
                    <a:pt x="198" y="125"/>
                  </a:cubicBezTo>
                  <a:cubicBezTo>
                    <a:pt x="133" y="112"/>
                    <a:pt x="27" y="136"/>
                    <a:pt x="4" y="88"/>
                  </a:cubicBezTo>
                  <a:close/>
                  <a:moveTo>
                    <a:pt x="390" y="571"/>
                  </a:moveTo>
                  <a:cubicBezTo>
                    <a:pt x="390" y="537"/>
                    <a:pt x="503" y="469"/>
                    <a:pt x="639" y="469"/>
                  </a:cubicBezTo>
                  <a:cubicBezTo>
                    <a:pt x="639" y="511"/>
                    <a:pt x="639" y="553"/>
                    <a:pt x="639" y="595"/>
                  </a:cubicBezTo>
                  <a:cubicBezTo>
                    <a:pt x="556" y="587"/>
                    <a:pt x="390" y="606"/>
                    <a:pt x="390" y="571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6" name="Полилиния 55"/>
            <p:cNvSpPr/>
            <p:nvPr/>
          </p:nvSpPr>
          <p:spPr>
            <a:xfrm>
              <a:off x="6404760" y="4830480"/>
              <a:ext cx="267120" cy="312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43" h="869">
                  <a:moveTo>
                    <a:pt x="714" y="335"/>
                  </a:moveTo>
                  <a:cubicBezTo>
                    <a:pt x="675" y="238"/>
                    <a:pt x="571" y="120"/>
                    <a:pt x="419" y="55"/>
                  </a:cubicBezTo>
                  <a:cubicBezTo>
                    <a:pt x="39" y="-111"/>
                    <a:pt x="-99" y="141"/>
                    <a:pt x="74" y="268"/>
                  </a:cubicBezTo>
                  <a:cubicBezTo>
                    <a:pt x="277" y="418"/>
                    <a:pt x="258" y="657"/>
                    <a:pt x="336" y="756"/>
                  </a:cubicBezTo>
                  <a:cubicBezTo>
                    <a:pt x="254" y="777"/>
                    <a:pt x="194" y="821"/>
                    <a:pt x="194" y="846"/>
                  </a:cubicBezTo>
                  <a:cubicBezTo>
                    <a:pt x="194" y="881"/>
                    <a:pt x="359" y="862"/>
                    <a:pt x="442" y="869"/>
                  </a:cubicBezTo>
                  <a:cubicBezTo>
                    <a:pt x="580" y="869"/>
                    <a:pt x="691" y="841"/>
                    <a:pt x="691" y="807"/>
                  </a:cubicBezTo>
                  <a:cubicBezTo>
                    <a:pt x="693" y="781"/>
                    <a:pt x="689" y="765"/>
                    <a:pt x="682" y="751"/>
                  </a:cubicBezTo>
                  <a:cubicBezTo>
                    <a:pt x="749" y="652"/>
                    <a:pt x="763" y="455"/>
                    <a:pt x="714" y="33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7" name="Полилиния 56"/>
            <p:cNvSpPr/>
            <p:nvPr/>
          </p:nvSpPr>
          <p:spPr>
            <a:xfrm>
              <a:off x="6508080" y="4936320"/>
              <a:ext cx="99720" cy="183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8" h="511">
                  <a:moveTo>
                    <a:pt x="255" y="0"/>
                  </a:moveTo>
                  <a:cubicBezTo>
                    <a:pt x="135" y="10"/>
                    <a:pt x="27" y="120"/>
                    <a:pt x="27" y="257"/>
                  </a:cubicBezTo>
                  <a:cubicBezTo>
                    <a:pt x="29" y="379"/>
                    <a:pt x="105" y="441"/>
                    <a:pt x="80" y="450"/>
                  </a:cubicBezTo>
                  <a:cubicBezTo>
                    <a:pt x="-123" y="522"/>
                    <a:pt x="107" y="469"/>
                    <a:pt x="268" y="510"/>
                  </a:cubicBezTo>
                  <a:cubicBezTo>
                    <a:pt x="319" y="524"/>
                    <a:pt x="160" y="347"/>
                    <a:pt x="160" y="206"/>
                  </a:cubicBezTo>
                  <a:cubicBezTo>
                    <a:pt x="160" y="120"/>
                    <a:pt x="197" y="47"/>
                    <a:pt x="255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8" name="Полилиния 57"/>
            <p:cNvSpPr/>
            <p:nvPr/>
          </p:nvSpPr>
          <p:spPr>
            <a:xfrm>
              <a:off x="6507000" y="4818960"/>
              <a:ext cx="179640" cy="281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00" h="783">
                  <a:moveTo>
                    <a:pt x="138" y="34"/>
                  </a:moveTo>
                  <a:cubicBezTo>
                    <a:pt x="87" y="18"/>
                    <a:pt x="41" y="7"/>
                    <a:pt x="0" y="0"/>
                  </a:cubicBezTo>
                  <a:cubicBezTo>
                    <a:pt x="4" y="18"/>
                    <a:pt x="7" y="39"/>
                    <a:pt x="9" y="57"/>
                  </a:cubicBezTo>
                  <a:cubicBezTo>
                    <a:pt x="293" y="129"/>
                    <a:pt x="567" y="417"/>
                    <a:pt x="399" y="783"/>
                  </a:cubicBezTo>
                  <a:cubicBezTo>
                    <a:pt x="480" y="669"/>
                    <a:pt x="500" y="572"/>
                    <a:pt x="500" y="424"/>
                  </a:cubicBezTo>
                  <a:cubicBezTo>
                    <a:pt x="500" y="265"/>
                    <a:pt x="279" y="78"/>
                    <a:pt x="138" y="3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9" name="Полилиния 58"/>
            <p:cNvSpPr/>
            <p:nvPr/>
          </p:nvSpPr>
          <p:spPr>
            <a:xfrm>
              <a:off x="6503399" y="4811400"/>
              <a:ext cx="196560" cy="290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47" h="807">
                  <a:moveTo>
                    <a:pt x="0" y="0"/>
                  </a:moveTo>
                  <a:cubicBezTo>
                    <a:pt x="10" y="14"/>
                    <a:pt x="14" y="32"/>
                    <a:pt x="17" y="51"/>
                  </a:cubicBezTo>
                  <a:cubicBezTo>
                    <a:pt x="259" y="118"/>
                    <a:pt x="490" y="272"/>
                    <a:pt x="490" y="547"/>
                  </a:cubicBezTo>
                  <a:cubicBezTo>
                    <a:pt x="490" y="609"/>
                    <a:pt x="453" y="748"/>
                    <a:pt x="407" y="807"/>
                  </a:cubicBezTo>
                  <a:cubicBezTo>
                    <a:pt x="497" y="743"/>
                    <a:pt x="547" y="591"/>
                    <a:pt x="547" y="445"/>
                  </a:cubicBezTo>
                  <a:cubicBezTo>
                    <a:pt x="550" y="215"/>
                    <a:pt x="377" y="78"/>
                    <a:pt x="171" y="23"/>
                  </a:cubicBezTo>
                  <a:cubicBezTo>
                    <a:pt x="109" y="7"/>
                    <a:pt x="53" y="0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0" name="Полилиния 59"/>
            <p:cNvSpPr/>
            <p:nvPr/>
          </p:nvSpPr>
          <p:spPr>
            <a:xfrm>
              <a:off x="6422760" y="4749120"/>
              <a:ext cx="46440" cy="48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0" h="136">
                  <a:moveTo>
                    <a:pt x="1" y="136"/>
                  </a:moveTo>
                  <a:cubicBezTo>
                    <a:pt x="-6" y="64"/>
                    <a:pt x="36" y="45"/>
                    <a:pt x="54" y="0"/>
                  </a:cubicBezTo>
                  <a:cubicBezTo>
                    <a:pt x="79" y="41"/>
                    <a:pt x="123" y="51"/>
                    <a:pt x="130" y="122"/>
                  </a:cubicBezTo>
                  <a:cubicBezTo>
                    <a:pt x="87" y="127"/>
                    <a:pt x="44" y="131"/>
                    <a:pt x="1" y="136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1" name="Полилиния 60"/>
            <p:cNvSpPr/>
            <p:nvPr/>
          </p:nvSpPr>
          <p:spPr>
            <a:xfrm>
              <a:off x="6351120" y="4745880"/>
              <a:ext cx="162360" cy="192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2" h="535">
                  <a:moveTo>
                    <a:pt x="335" y="0"/>
                  </a:moveTo>
                  <a:cubicBezTo>
                    <a:pt x="308" y="41"/>
                    <a:pt x="261" y="50"/>
                    <a:pt x="252" y="122"/>
                  </a:cubicBezTo>
                  <a:cubicBezTo>
                    <a:pt x="128" y="127"/>
                    <a:pt x="-10" y="295"/>
                    <a:pt x="1" y="429"/>
                  </a:cubicBezTo>
                  <a:cubicBezTo>
                    <a:pt x="3" y="466"/>
                    <a:pt x="102" y="535"/>
                    <a:pt x="226" y="535"/>
                  </a:cubicBezTo>
                  <a:cubicBezTo>
                    <a:pt x="351" y="535"/>
                    <a:pt x="452" y="424"/>
                    <a:pt x="452" y="288"/>
                  </a:cubicBezTo>
                  <a:cubicBezTo>
                    <a:pt x="455" y="207"/>
                    <a:pt x="429" y="163"/>
                    <a:pt x="385" y="143"/>
                  </a:cubicBezTo>
                  <a:cubicBezTo>
                    <a:pt x="392" y="71"/>
                    <a:pt x="352" y="48"/>
                    <a:pt x="335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2" name="Полилиния 61"/>
            <p:cNvSpPr/>
            <p:nvPr/>
          </p:nvSpPr>
          <p:spPr>
            <a:xfrm>
              <a:off x="6446520" y="4768919"/>
              <a:ext cx="36000" cy="70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1" h="196">
                  <a:moveTo>
                    <a:pt x="40" y="194"/>
                  </a:moveTo>
                  <a:cubicBezTo>
                    <a:pt x="13" y="189"/>
                    <a:pt x="-9" y="189"/>
                    <a:pt x="3" y="90"/>
                  </a:cubicBezTo>
                  <a:cubicBezTo>
                    <a:pt x="10" y="37"/>
                    <a:pt x="43" y="30"/>
                    <a:pt x="63" y="0"/>
                  </a:cubicBezTo>
                  <a:cubicBezTo>
                    <a:pt x="76" y="35"/>
                    <a:pt x="104" y="51"/>
                    <a:pt x="100" y="104"/>
                  </a:cubicBezTo>
                  <a:cubicBezTo>
                    <a:pt x="88" y="203"/>
                    <a:pt x="68" y="199"/>
                    <a:pt x="40" y="194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3" name="Полилиния 62"/>
            <p:cNvSpPr/>
            <p:nvPr/>
          </p:nvSpPr>
          <p:spPr>
            <a:xfrm>
              <a:off x="6388199" y="4827960"/>
              <a:ext cx="48600" cy="44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6" h="125">
                  <a:moveTo>
                    <a:pt x="60" y="125"/>
                  </a:moveTo>
                  <a:cubicBezTo>
                    <a:pt x="18" y="125"/>
                    <a:pt x="20" y="96"/>
                    <a:pt x="0" y="81"/>
                  </a:cubicBezTo>
                  <a:cubicBezTo>
                    <a:pt x="20" y="54"/>
                    <a:pt x="18" y="0"/>
                    <a:pt x="60" y="0"/>
                  </a:cubicBezTo>
                  <a:cubicBezTo>
                    <a:pt x="101" y="0"/>
                    <a:pt x="111" y="54"/>
                    <a:pt x="136" y="81"/>
                  </a:cubicBezTo>
                  <a:cubicBezTo>
                    <a:pt x="111" y="96"/>
                    <a:pt x="101" y="125"/>
                    <a:pt x="60" y="12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4" name="Полилиния 63"/>
            <p:cNvSpPr/>
            <p:nvPr/>
          </p:nvSpPr>
          <p:spPr>
            <a:xfrm>
              <a:off x="6395399" y="4838040"/>
              <a:ext cx="29520" cy="27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3" h="76">
                  <a:moveTo>
                    <a:pt x="37" y="76"/>
                  </a:moveTo>
                  <a:cubicBezTo>
                    <a:pt x="11" y="76"/>
                    <a:pt x="12" y="57"/>
                    <a:pt x="0" y="48"/>
                  </a:cubicBezTo>
                  <a:cubicBezTo>
                    <a:pt x="12" y="32"/>
                    <a:pt x="11" y="0"/>
                    <a:pt x="37" y="0"/>
                  </a:cubicBezTo>
                  <a:cubicBezTo>
                    <a:pt x="62" y="0"/>
                    <a:pt x="68" y="32"/>
                    <a:pt x="83" y="48"/>
                  </a:cubicBezTo>
                  <a:cubicBezTo>
                    <a:pt x="68" y="57"/>
                    <a:pt x="62" y="76"/>
                    <a:pt x="37" y="76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5" name="Полилиния 64"/>
            <p:cNvSpPr/>
            <p:nvPr/>
          </p:nvSpPr>
          <p:spPr>
            <a:xfrm>
              <a:off x="6381360" y="4843800"/>
              <a:ext cx="141120" cy="120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3" h="336">
                  <a:moveTo>
                    <a:pt x="275" y="27"/>
                  </a:moveTo>
                  <a:cubicBezTo>
                    <a:pt x="219" y="-43"/>
                    <a:pt x="218" y="43"/>
                    <a:pt x="189" y="50"/>
                  </a:cubicBezTo>
                  <a:cubicBezTo>
                    <a:pt x="198" y="53"/>
                    <a:pt x="206" y="56"/>
                    <a:pt x="215" y="59"/>
                  </a:cubicBezTo>
                  <a:cubicBezTo>
                    <a:pt x="200" y="66"/>
                    <a:pt x="184" y="73"/>
                    <a:pt x="169" y="80"/>
                  </a:cubicBezTo>
                  <a:cubicBezTo>
                    <a:pt x="173" y="84"/>
                    <a:pt x="176" y="88"/>
                    <a:pt x="180" y="91"/>
                  </a:cubicBezTo>
                  <a:cubicBezTo>
                    <a:pt x="172" y="91"/>
                    <a:pt x="165" y="91"/>
                    <a:pt x="157" y="91"/>
                  </a:cubicBezTo>
                  <a:cubicBezTo>
                    <a:pt x="162" y="95"/>
                    <a:pt x="166" y="99"/>
                    <a:pt x="171" y="103"/>
                  </a:cubicBezTo>
                  <a:cubicBezTo>
                    <a:pt x="168" y="106"/>
                    <a:pt x="165" y="108"/>
                    <a:pt x="162" y="110"/>
                  </a:cubicBezTo>
                  <a:cubicBezTo>
                    <a:pt x="146" y="100"/>
                    <a:pt x="129" y="96"/>
                    <a:pt x="111" y="96"/>
                  </a:cubicBezTo>
                  <a:cubicBezTo>
                    <a:pt x="51" y="96"/>
                    <a:pt x="0" y="149"/>
                    <a:pt x="0" y="216"/>
                  </a:cubicBezTo>
                  <a:cubicBezTo>
                    <a:pt x="0" y="283"/>
                    <a:pt x="49" y="336"/>
                    <a:pt x="111" y="336"/>
                  </a:cubicBezTo>
                  <a:cubicBezTo>
                    <a:pt x="171" y="336"/>
                    <a:pt x="222" y="283"/>
                    <a:pt x="222" y="216"/>
                  </a:cubicBezTo>
                  <a:cubicBezTo>
                    <a:pt x="222" y="214"/>
                    <a:pt x="222" y="212"/>
                    <a:pt x="222" y="209"/>
                  </a:cubicBezTo>
                  <a:cubicBezTo>
                    <a:pt x="236" y="213"/>
                    <a:pt x="249" y="217"/>
                    <a:pt x="263" y="220"/>
                  </a:cubicBezTo>
                  <a:cubicBezTo>
                    <a:pt x="260" y="210"/>
                    <a:pt x="257" y="199"/>
                    <a:pt x="254" y="188"/>
                  </a:cubicBezTo>
                  <a:cubicBezTo>
                    <a:pt x="270" y="188"/>
                    <a:pt x="286" y="188"/>
                    <a:pt x="302" y="188"/>
                  </a:cubicBezTo>
                  <a:cubicBezTo>
                    <a:pt x="295" y="182"/>
                    <a:pt x="288" y="176"/>
                    <a:pt x="282" y="170"/>
                  </a:cubicBezTo>
                  <a:cubicBezTo>
                    <a:pt x="305" y="153"/>
                    <a:pt x="328" y="135"/>
                    <a:pt x="351" y="117"/>
                  </a:cubicBezTo>
                  <a:cubicBezTo>
                    <a:pt x="337" y="117"/>
                    <a:pt x="323" y="117"/>
                    <a:pt x="309" y="117"/>
                  </a:cubicBezTo>
                  <a:cubicBezTo>
                    <a:pt x="330" y="104"/>
                    <a:pt x="352" y="91"/>
                    <a:pt x="374" y="77"/>
                  </a:cubicBezTo>
                  <a:cubicBezTo>
                    <a:pt x="359" y="77"/>
                    <a:pt x="344" y="77"/>
                    <a:pt x="329" y="77"/>
                  </a:cubicBezTo>
                  <a:cubicBezTo>
                    <a:pt x="354" y="75"/>
                    <a:pt x="421" y="23"/>
                    <a:pt x="379" y="38"/>
                  </a:cubicBezTo>
                  <a:cubicBezTo>
                    <a:pt x="337" y="52"/>
                    <a:pt x="309" y="31"/>
                    <a:pt x="275" y="2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6" name="Полилиния 65"/>
            <p:cNvSpPr/>
            <p:nvPr/>
          </p:nvSpPr>
          <p:spPr>
            <a:xfrm>
              <a:off x="6336000" y="4925160"/>
              <a:ext cx="181080" cy="91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04" h="255">
                  <a:moveTo>
                    <a:pt x="197" y="126"/>
                  </a:moveTo>
                  <a:cubicBezTo>
                    <a:pt x="133" y="114"/>
                    <a:pt x="26" y="138"/>
                    <a:pt x="4" y="89"/>
                  </a:cubicBezTo>
                  <a:cubicBezTo>
                    <a:pt x="-28" y="20"/>
                    <a:pt x="167" y="-22"/>
                    <a:pt x="217" y="11"/>
                  </a:cubicBezTo>
                  <a:cubicBezTo>
                    <a:pt x="337" y="84"/>
                    <a:pt x="499" y="-58"/>
                    <a:pt x="504" y="156"/>
                  </a:cubicBezTo>
                  <a:cubicBezTo>
                    <a:pt x="506" y="209"/>
                    <a:pt x="379" y="364"/>
                    <a:pt x="197" y="126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67" name="Группа 66"/>
          <p:cNvGrpSpPr/>
          <p:nvPr/>
        </p:nvGrpSpPr>
        <p:grpSpPr>
          <a:xfrm>
            <a:off x="8820000" y="3960000"/>
            <a:ext cx="900000" cy="1080000"/>
            <a:chOff x="8820000" y="3960000"/>
            <a:chExt cx="900000" cy="1080000"/>
          </a:xfrm>
        </p:grpSpPr>
        <p:sp>
          <p:nvSpPr>
            <p:cNvPr id="68" name="Полилиния 67"/>
            <p:cNvSpPr/>
            <p:nvPr/>
          </p:nvSpPr>
          <p:spPr>
            <a:xfrm>
              <a:off x="9180000" y="4140000"/>
              <a:ext cx="180000" cy="90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9" name="Полилиния 68"/>
            <p:cNvSpPr/>
            <p:nvPr/>
          </p:nvSpPr>
          <p:spPr>
            <a:xfrm>
              <a:off x="8820000" y="4500000"/>
              <a:ext cx="90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0" name="Полилиния 69"/>
            <p:cNvSpPr/>
            <p:nvPr/>
          </p:nvSpPr>
          <p:spPr>
            <a:xfrm>
              <a:off x="8910000" y="4320000"/>
              <a:ext cx="72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1" name="Полилиния 70"/>
            <p:cNvSpPr/>
            <p:nvPr/>
          </p:nvSpPr>
          <p:spPr>
            <a:xfrm>
              <a:off x="9000000" y="4140000"/>
              <a:ext cx="54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2" name="Полилиния 71"/>
            <p:cNvSpPr/>
            <p:nvPr/>
          </p:nvSpPr>
          <p:spPr>
            <a:xfrm>
              <a:off x="9090000" y="3960000"/>
              <a:ext cx="36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7920000" y="4050000"/>
            <a:ext cx="720000" cy="990000"/>
            <a:chOff x="7920000" y="4050000"/>
            <a:chExt cx="720000" cy="990000"/>
          </a:xfrm>
        </p:grpSpPr>
        <p:sp>
          <p:nvSpPr>
            <p:cNvPr id="74" name="Полилиния 73"/>
            <p:cNvSpPr/>
            <p:nvPr/>
          </p:nvSpPr>
          <p:spPr>
            <a:xfrm>
              <a:off x="8190000" y="4140000"/>
              <a:ext cx="180000" cy="90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5" name="Полилиния 74"/>
            <p:cNvSpPr/>
            <p:nvPr/>
          </p:nvSpPr>
          <p:spPr>
            <a:xfrm>
              <a:off x="7920000" y="4410000"/>
              <a:ext cx="72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6" name="Полилиния 75"/>
            <p:cNvSpPr/>
            <p:nvPr/>
          </p:nvSpPr>
          <p:spPr>
            <a:xfrm>
              <a:off x="8010000" y="4230000"/>
              <a:ext cx="54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7" name="Полилиния 76"/>
            <p:cNvSpPr/>
            <p:nvPr/>
          </p:nvSpPr>
          <p:spPr>
            <a:xfrm>
              <a:off x="8100000" y="4050000"/>
              <a:ext cx="36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8820000" y="3600000"/>
            <a:ext cx="359640" cy="269640"/>
            <a:chOff x="8820000" y="3600000"/>
            <a:chExt cx="359640" cy="269640"/>
          </a:xfrm>
        </p:grpSpPr>
        <p:sp>
          <p:nvSpPr>
            <p:cNvPr id="79" name="Полилиния 78"/>
            <p:cNvSpPr/>
            <p:nvPr/>
          </p:nvSpPr>
          <p:spPr>
            <a:xfrm>
              <a:off x="8968680" y="3600000"/>
              <a:ext cx="87120" cy="156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0" name="Полилиния 79"/>
            <p:cNvSpPr/>
            <p:nvPr/>
          </p:nvSpPr>
          <p:spPr>
            <a:xfrm>
              <a:off x="8820000" y="3600000"/>
              <a:ext cx="326160" cy="269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1" name="Полилиния 80"/>
            <p:cNvSpPr/>
            <p:nvPr/>
          </p:nvSpPr>
          <p:spPr>
            <a:xfrm>
              <a:off x="9140400" y="3718800"/>
              <a:ext cx="39240" cy="27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2" name="Полилиния 81"/>
            <p:cNvSpPr/>
            <p:nvPr/>
          </p:nvSpPr>
          <p:spPr>
            <a:xfrm>
              <a:off x="9094680" y="3720960"/>
              <a:ext cx="2052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3" name="Полилиния 82"/>
            <p:cNvSpPr/>
            <p:nvPr/>
          </p:nvSpPr>
          <p:spPr>
            <a:xfrm>
              <a:off x="8844480" y="3641760"/>
              <a:ext cx="4968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4" name="Полилиния 83"/>
            <p:cNvSpPr/>
            <p:nvPr/>
          </p:nvSpPr>
          <p:spPr>
            <a:xfrm>
              <a:off x="8861400" y="3690720"/>
              <a:ext cx="56520" cy="11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5" name="Полилиния 84"/>
            <p:cNvSpPr/>
            <p:nvPr/>
          </p:nvSpPr>
          <p:spPr>
            <a:xfrm>
              <a:off x="8887320" y="3728520"/>
              <a:ext cx="51120" cy="6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6" name="Полилиния 85"/>
            <p:cNvSpPr/>
            <p:nvPr/>
          </p:nvSpPr>
          <p:spPr>
            <a:xfrm>
              <a:off x="8919000" y="3765240"/>
              <a:ext cx="46800" cy="6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87" name="Группа 86"/>
          <p:cNvGrpSpPr/>
          <p:nvPr/>
        </p:nvGrpSpPr>
        <p:grpSpPr>
          <a:xfrm>
            <a:off x="8460000" y="3780000"/>
            <a:ext cx="359640" cy="269640"/>
            <a:chOff x="8460000" y="3780000"/>
            <a:chExt cx="359640" cy="269640"/>
          </a:xfrm>
        </p:grpSpPr>
        <p:sp>
          <p:nvSpPr>
            <p:cNvPr id="88" name="Полилиния 87"/>
            <p:cNvSpPr/>
            <p:nvPr/>
          </p:nvSpPr>
          <p:spPr>
            <a:xfrm>
              <a:off x="8608680" y="3780000"/>
              <a:ext cx="87120" cy="156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9" name="Полилиния 88"/>
            <p:cNvSpPr/>
            <p:nvPr/>
          </p:nvSpPr>
          <p:spPr>
            <a:xfrm>
              <a:off x="8460000" y="3780000"/>
              <a:ext cx="326160" cy="269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0" name="Полилиния 89"/>
            <p:cNvSpPr/>
            <p:nvPr/>
          </p:nvSpPr>
          <p:spPr>
            <a:xfrm>
              <a:off x="8780400" y="3898800"/>
              <a:ext cx="39240" cy="27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1" name="Полилиния 90"/>
            <p:cNvSpPr/>
            <p:nvPr/>
          </p:nvSpPr>
          <p:spPr>
            <a:xfrm>
              <a:off x="8734680" y="3900960"/>
              <a:ext cx="2052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2" name="Полилиния 91"/>
            <p:cNvSpPr/>
            <p:nvPr/>
          </p:nvSpPr>
          <p:spPr>
            <a:xfrm>
              <a:off x="8484480" y="3821760"/>
              <a:ext cx="4968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3" name="Полилиния 92"/>
            <p:cNvSpPr/>
            <p:nvPr/>
          </p:nvSpPr>
          <p:spPr>
            <a:xfrm>
              <a:off x="8501400" y="3870720"/>
              <a:ext cx="56520" cy="11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4" name="Полилиния 93"/>
            <p:cNvSpPr/>
            <p:nvPr/>
          </p:nvSpPr>
          <p:spPr>
            <a:xfrm>
              <a:off x="8527320" y="3908520"/>
              <a:ext cx="51120" cy="6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5" name="Полилиния 94"/>
            <p:cNvSpPr/>
            <p:nvPr/>
          </p:nvSpPr>
          <p:spPr>
            <a:xfrm>
              <a:off x="8559000" y="3945240"/>
              <a:ext cx="46800" cy="6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sp>
        <p:nvSpPr>
          <p:cNvPr id="96" name="Заголовок 95"/>
          <p:cNvSpPr txBox="1"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en-US"/>
          </a:p>
        </p:txBody>
      </p:sp>
      <p:sp>
        <p:nvSpPr>
          <p:cNvPr id="97" name="Текст 96"/>
          <p:cNvSpPr txBox="1">
            <a:spLocks noGrp="1"/>
          </p:cNvSpPr>
          <p:nvPr>
            <p:ph type="body" idx="1"/>
          </p:nvPr>
        </p:nvSpPr>
        <p:spPr>
          <a:xfrm>
            <a:off x="540000" y="1260000"/>
            <a:ext cx="9000000" cy="342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98" name="Дата 97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99" name="Нижний колонтитул 98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ct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100" name="Номер слайда 99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2054A103-63A5-4091-907C-F1F14B9FCBEE}" type="slidenum">
              <a:rPr/>
              <a:pPr lvl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hangingPunct="0">
        <a:tabLst/>
        <a:defRPr lang="en-US" sz="33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</a:defRPr>
      </a:lvl1pPr>
    </p:titleStyle>
    <p:bodyStyle>
      <a:lvl1pPr marL="0" marR="0" indent="0" rtl="0" hangingPunct="0">
        <a:spcBef>
          <a:spcPts val="1060"/>
        </a:spcBef>
        <a:spcAft>
          <a:spcPts val="0"/>
        </a:spcAft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 1"/>
          <p:cNvSpPr/>
          <p:nvPr/>
        </p:nvSpPr>
        <p:spPr>
          <a:xfrm>
            <a:off x="0" y="5040000"/>
            <a:ext cx="10080000" cy="63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ECF6C"/>
          </a:solidFill>
          <a:ln>
            <a:noFill/>
            <a:prstDash val="solid"/>
          </a:ln>
        </p:spPr>
        <p:txBody>
          <a:bodyPr vert="horz" wrap="none" lIns="0" tIns="0" rIns="0" bIns="0" compatLnSpc="0"/>
          <a:lstStyle/>
          <a:p>
            <a:pPr lvl="0" rtl="0" hangingPunct="0">
              <a:buNone/>
              <a:tabLst/>
            </a:pPr>
            <a:endParaRPr lang="en-US" sz="1400" b="1">
              <a:solidFill>
                <a:srgbClr val="FFFFFF"/>
              </a:solidFill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8820360" y="3960000"/>
            <a:ext cx="900000" cy="1080000"/>
            <a:chOff x="8820360" y="3960000"/>
            <a:chExt cx="900000" cy="1080000"/>
          </a:xfrm>
        </p:grpSpPr>
        <p:sp>
          <p:nvSpPr>
            <p:cNvPr id="4" name="Полилиния 3"/>
            <p:cNvSpPr/>
            <p:nvPr/>
          </p:nvSpPr>
          <p:spPr>
            <a:xfrm>
              <a:off x="9180000" y="4140000"/>
              <a:ext cx="180000" cy="90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" name="Полилиния 4"/>
            <p:cNvSpPr/>
            <p:nvPr/>
          </p:nvSpPr>
          <p:spPr>
            <a:xfrm>
              <a:off x="8820360" y="4500000"/>
              <a:ext cx="90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" name="Полилиния 5"/>
            <p:cNvSpPr/>
            <p:nvPr/>
          </p:nvSpPr>
          <p:spPr>
            <a:xfrm>
              <a:off x="8910360" y="4320000"/>
              <a:ext cx="72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" name="Полилиния 6"/>
            <p:cNvSpPr/>
            <p:nvPr/>
          </p:nvSpPr>
          <p:spPr>
            <a:xfrm>
              <a:off x="9000000" y="4140000"/>
              <a:ext cx="54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" name="Полилиния 7"/>
            <p:cNvSpPr/>
            <p:nvPr/>
          </p:nvSpPr>
          <p:spPr>
            <a:xfrm>
              <a:off x="9090360" y="3960000"/>
              <a:ext cx="36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9" name="Группа 8"/>
          <p:cNvGrpSpPr/>
          <p:nvPr/>
        </p:nvGrpSpPr>
        <p:grpSpPr>
          <a:xfrm>
            <a:off x="7920360" y="4050000"/>
            <a:ext cx="720000" cy="990000"/>
            <a:chOff x="7920360" y="4050000"/>
            <a:chExt cx="720000" cy="990000"/>
          </a:xfrm>
        </p:grpSpPr>
        <p:sp>
          <p:nvSpPr>
            <p:cNvPr id="10" name="Полилиния 9"/>
            <p:cNvSpPr/>
            <p:nvPr/>
          </p:nvSpPr>
          <p:spPr>
            <a:xfrm>
              <a:off x="8190000" y="4140000"/>
              <a:ext cx="180000" cy="90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1" name="Полилиния 10"/>
            <p:cNvSpPr/>
            <p:nvPr/>
          </p:nvSpPr>
          <p:spPr>
            <a:xfrm>
              <a:off x="7920360" y="4410000"/>
              <a:ext cx="72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2" name="Полилиния 11"/>
            <p:cNvSpPr/>
            <p:nvPr/>
          </p:nvSpPr>
          <p:spPr>
            <a:xfrm>
              <a:off x="8010000" y="4230000"/>
              <a:ext cx="54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3" name="Полилиния 12"/>
            <p:cNvSpPr/>
            <p:nvPr/>
          </p:nvSpPr>
          <p:spPr>
            <a:xfrm>
              <a:off x="8100000" y="4050000"/>
              <a:ext cx="360000" cy="2700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 gdRefY="" minY="0" maxY="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8640000" y="3690000"/>
            <a:ext cx="359640" cy="269640"/>
            <a:chOff x="8640000" y="3690000"/>
            <a:chExt cx="359640" cy="269640"/>
          </a:xfrm>
        </p:grpSpPr>
        <p:sp>
          <p:nvSpPr>
            <p:cNvPr id="15" name="Полилиния 14"/>
            <p:cNvSpPr/>
            <p:nvPr/>
          </p:nvSpPr>
          <p:spPr>
            <a:xfrm>
              <a:off x="8788680" y="3690000"/>
              <a:ext cx="87120" cy="156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6" name="Полилиния 15"/>
            <p:cNvSpPr/>
            <p:nvPr/>
          </p:nvSpPr>
          <p:spPr>
            <a:xfrm>
              <a:off x="8640000" y="3690000"/>
              <a:ext cx="326160" cy="269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7" name="Полилиния 16"/>
            <p:cNvSpPr/>
            <p:nvPr/>
          </p:nvSpPr>
          <p:spPr>
            <a:xfrm>
              <a:off x="8960400" y="3808800"/>
              <a:ext cx="39240" cy="27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8" name="Полилиния 17"/>
            <p:cNvSpPr/>
            <p:nvPr/>
          </p:nvSpPr>
          <p:spPr>
            <a:xfrm>
              <a:off x="8914680" y="3810960"/>
              <a:ext cx="2052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9" name="Полилиния 18"/>
            <p:cNvSpPr/>
            <p:nvPr/>
          </p:nvSpPr>
          <p:spPr>
            <a:xfrm>
              <a:off x="8664480" y="3731760"/>
              <a:ext cx="4968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0" name="Полилиния 19"/>
            <p:cNvSpPr/>
            <p:nvPr/>
          </p:nvSpPr>
          <p:spPr>
            <a:xfrm>
              <a:off x="8681400" y="3780720"/>
              <a:ext cx="56520" cy="11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1" name="Полилиния 20"/>
            <p:cNvSpPr/>
            <p:nvPr/>
          </p:nvSpPr>
          <p:spPr>
            <a:xfrm>
              <a:off x="8707320" y="3818519"/>
              <a:ext cx="51120" cy="6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2" name="Полилиния 21"/>
            <p:cNvSpPr/>
            <p:nvPr/>
          </p:nvSpPr>
          <p:spPr>
            <a:xfrm>
              <a:off x="8739000" y="3855240"/>
              <a:ext cx="46800" cy="6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23" name="Группа 22"/>
          <p:cNvGrpSpPr/>
          <p:nvPr/>
        </p:nvGrpSpPr>
        <p:grpSpPr>
          <a:xfrm>
            <a:off x="9180000" y="3510000"/>
            <a:ext cx="359640" cy="269640"/>
            <a:chOff x="9180000" y="3510000"/>
            <a:chExt cx="359640" cy="269640"/>
          </a:xfrm>
        </p:grpSpPr>
        <p:sp>
          <p:nvSpPr>
            <p:cNvPr id="24" name="Полилиния 23"/>
            <p:cNvSpPr/>
            <p:nvPr/>
          </p:nvSpPr>
          <p:spPr>
            <a:xfrm>
              <a:off x="9328680" y="3510000"/>
              <a:ext cx="87120" cy="156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5" name="Полилиния 24"/>
            <p:cNvSpPr/>
            <p:nvPr/>
          </p:nvSpPr>
          <p:spPr>
            <a:xfrm>
              <a:off x="9180000" y="3510000"/>
              <a:ext cx="326160" cy="269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6" name="Полилиния 25"/>
            <p:cNvSpPr/>
            <p:nvPr/>
          </p:nvSpPr>
          <p:spPr>
            <a:xfrm>
              <a:off x="9500400" y="3628800"/>
              <a:ext cx="39240" cy="27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7" name="Полилиния 26"/>
            <p:cNvSpPr/>
            <p:nvPr/>
          </p:nvSpPr>
          <p:spPr>
            <a:xfrm>
              <a:off x="9454680" y="3630960"/>
              <a:ext cx="2052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8" name="Полилиния 27"/>
            <p:cNvSpPr/>
            <p:nvPr/>
          </p:nvSpPr>
          <p:spPr>
            <a:xfrm>
              <a:off x="9204480" y="3551760"/>
              <a:ext cx="49680" cy="19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9" name="Полилиния 28"/>
            <p:cNvSpPr/>
            <p:nvPr/>
          </p:nvSpPr>
          <p:spPr>
            <a:xfrm>
              <a:off x="9221400" y="3600720"/>
              <a:ext cx="56520" cy="11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0" name="Полилиния 29"/>
            <p:cNvSpPr/>
            <p:nvPr/>
          </p:nvSpPr>
          <p:spPr>
            <a:xfrm>
              <a:off x="9247320" y="3638519"/>
              <a:ext cx="51120" cy="6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1" name="Полилиния 30"/>
            <p:cNvSpPr/>
            <p:nvPr/>
          </p:nvSpPr>
          <p:spPr>
            <a:xfrm>
              <a:off x="9279000" y="3675240"/>
              <a:ext cx="46800" cy="6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>
              <a:noFill/>
              <a:prstDash val="solid"/>
            </a:ln>
          </p:spPr>
          <p:txBody>
            <a:bodyPr vert="horz" wrap="none" lIns="0" tIns="0" rIns="0" bIns="0" compatLnSpc="0"/>
            <a:lstStyle/>
            <a:p>
              <a:pPr lvl="0" rt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sp>
        <p:nvSpPr>
          <p:cNvPr id="32" name="Дата 31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Нижний колонтитул 32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ct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Номер слайда 33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31756006-CE10-4ADF-A79B-362F80AB8F05}" type="slidenum">
              <a:rPr/>
              <a:pPr lvl="0"/>
              <a:t>‹#›</a:t>
            </a:fld>
            <a:endParaRPr lang="en-US"/>
          </a:p>
        </p:txBody>
      </p:sp>
      <p:sp>
        <p:nvSpPr>
          <p:cNvPr id="35" name="Заголовок 34"/>
          <p:cNvSpPr txBox="1"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en-US"/>
          </a:p>
        </p:txBody>
      </p:sp>
      <p:sp>
        <p:nvSpPr>
          <p:cNvPr id="36" name="Текст 35"/>
          <p:cNvSpPr txBox="1">
            <a:spLocks noGrp="1"/>
          </p:cNvSpPr>
          <p:nvPr>
            <p:ph type="body" idx="1"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hangingPunct="0">
        <a:tabLst/>
        <a:defRPr lang="en-US" sz="33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</a:defRPr>
      </a:lvl1pPr>
    </p:titleStyle>
    <p:bodyStyle>
      <a:lvl1pPr marL="0" marR="0" indent="0" rtl="0" hangingPunct="0">
        <a:spcBef>
          <a:spcPts val="1060"/>
        </a:spcBef>
        <a:spcAft>
          <a:spcPts val="0"/>
        </a:spcAft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367904" y="387004"/>
            <a:ext cx="7632848" cy="79208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 hangingPunct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000" dirty="0" smtClean="0">
                <a:solidFill>
                  <a:sysClr val="windowText" lastClr="000000"/>
                </a:solidFill>
                <a:highlight>
                  <a:scrgbClr r="0" g="0" b="0">
                    <a:alpha val="0"/>
                  </a:scrgbClr>
                </a:highlight>
              </a:rPr>
              <a:t>ОТЧЁТ ПО НАУЧНО-ИССЛЕДОВАТЕЛЬСКОЙ РАБОТЕ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crgbClr r="0" g="0" b="0">
                  <a:alpha val="0"/>
                </a:scrgbClr>
              </a:highlight>
              <a:uLnTx/>
              <a:uFillTx/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/>
          </p:cNvSpPr>
          <p:nvPr/>
        </p:nvSpPr>
        <p:spPr>
          <a:xfrm>
            <a:off x="540000" y="1611139"/>
            <a:ext cx="9000000" cy="18002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lvl="0" algn="r" hangingPunct="0">
              <a:buNone/>
            </a:pPr>
            <a:r>
              <a:rPr lang="ru-RU" sz="3200" dirty="0" smtClean="0">
                <a:solidFill>
                  <a:sysClr val="windowText" lastClr="000000"/>
                </a:solidFill>
              </a:rPr>
              <a:t>Студент: Трифонов Д.С.</a:t>
            </a:r>
          </a:p>
          <a:p>
            <a:pPr lvl="0" algn="r" hangingPunct="0">
              <a:buNone/>
            </a:pPr>
            <a:r>
              <a:rPr lang="ru-RU" sz="3200" dirty="0" smtClean="0">
                <a:solidFill>
                  <a:sysClr val="windowText" lastClr="000000"/>
                </a:solidFill>
              </a:rPr>
              <a:t>Группа: 12-25РПм</a:t>
            </a:r>
          </a:p>
          <a:p>
            <a:pPr lvl="0" algn="r" hangingPunct="0">
              <a:buNone/>
            </a:pPr>
            <a:r>
              <a:rPr lang="ru-RU" sz="3200" b="1" dirty="0" smtClean="0">
                <a:solidFill>
                  <a:sysClr val="windowText" lastClr="000000"/>
                </a:solidFill>
              </a:rPr>
              <a:t>Руководитель: </a:t>
            </a:r>
            <a:r>
              <a:rPr lang="ru-RU" sz="3200" b="1" dirty="0" smtClean="0">
                <a:solidFill>
                  <a:sysClr val="windowText" lastClr="000000"/>
                </a:solidFill>
              </a:rPr>
              <a:t>И.Ю. Гришин</a:t>
            </a:r>
            <a:endParaRPr kumimoji="0" lang="ru-RU" sz="32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highlight>
                <a:scrgbClr r="0" g="0" b="0">
                  <a:alpha val="0"/>
                </a:scrgbClr>
              </a:highlight>
              <a:uLnTx/>
              <a:uFillTx/>
            </a:endParaRPr>
          </a:p>
        </p:txBody>
      </p:sp>
      <p:sp>
        <p:nvSpPr>
          <p:cNvPr id="4" name="Текст 2"/>
          <p:cNvSpPr txBox="1">
            <a:spLocks/>
          </p:cNvSpPr>
          <p:nvPr/>
        </p:nvSpPr>
        <p:spPr>
          <a:xfrm>
            <a:off x="3312120" y="4491459"/>
            <a:ext cx="2808312" cy="504056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lvl="0" algn="ctr" hangingPunct="0">
              <a:buNone/>
            </a:pPr>
            <a:r>
              <a:rPr lang="ru-RU" sz="3200" dirty="0" smtClean="0">
                <a:solidFill>
                  <a:sysClr val="windowText" lastClr="000000"/>
                </a:solidFill>
              </a:rPr>
              <a:t>Херсон - 2026</a:t>
            </a:r>
            <a:endParaRPr kumimoji="0" lang="ru-RU" sz="320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highlight>
                <a:scrgbClr r="0" g="0" b="0">
                  <a:alpha val="0"/>
                </a:scrgbClr>
              </a:highlight>
              <a:uLnTx/>
              <a:uFillTx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47824" y="1683148"/>
            <a:ext cx="35283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Тема НИР</a:t>
            </a:r>
            <a:r>
              <a:rPr lang="ru-RU" dirty="0" smtClean="0"/>
              <a:t>: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«</a:t>
            </a:r>
            <a:r>
              <a:rPr lang="ru-RU" dirty="0" err="1" smtClean="0"/>
              <a:t>Рефакторинг</a:t>
            </a:r>
            <a:r>
              <a:rPr lang="ru-RU" dirty="0" smtClean="0"/>
              <a:t> и эволюция программных систем»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Актуальность исследования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035075"/>
            <a:ext cx="9000000" cy="3536933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algn="l">
              <a:buNone/>
            </a:pPr>
            <a:r>
              <a:rPr lang="ru-RU" sz="1800" dirty="0" smtClean="0"/>
              <a:t>		Современные </a:t>
            </a:r>
            <a:r>
              <a:rPr lang="ru-RU" sz="1800" dirty="0" smtClean="0"/>
              <a:t>программные системы постоянно развиваются и </a:t>
            </a:r>
            <a:r>
              <a:rPr lang="ru-RU" sz="1800" dirty="0" smtClean="0"/>
              <a:t>модернизируются.</a:t>
            </a:r>
          </a:p>
          <a:p>
            <a:pPr algn="l">
              <a:buNone/>
            </a:pPr>
            <a:r>
              <a:rPr lang="ru-RU" sz="1800" dirty="0" smtClean="0"/>
              <a:t>		В </a:t>
            </a:r>
            <a:r>
              <a:rPr lang="ru-RU" sz="1800" dirty="0" smtClean="0"/>
              <a:t>процессе развития возникают </a:t>
            </a:r>
            <a:r>
              <a:rPr lang="ru-RU" sz="1800" dirty="0" smtClean="0"/>
              <a:t>проблемы:</a:t>
            </a:r>
          </a:p>
          <a:p>
            <a:pPr algn="l">
              <a:buNone/>
            </a:pPr>
            <a:r>
              <a:rPr lang="ru-RU" sz="1800" dirty="0" smtClean="0"/>
              <a:t>	</a:t>
            </a:r>
            <a:r>
              <a:rPr lang="ru-RU" sz="1800" dirty="0" smtClean="0"/>
              <a:t>* накопление </a:t>
            </a:r>
            <a:r>
              <a:rPr lang="ru-RU" sz="1800" dirty="0" smtClean="0"/>
              <a:t>технического </a:t>
            </a:r>
            <a:r>
              <a:rPr lang="ru-RU" sz="1800" dirty="0" smtClean="0"/>
              <a:t>долга;</a:t>
            </a:r>
          </a:p>
          <a:p>
            <a:pPr algn="l">
              <a:buNone/>
            </a:pPr>
            <a:r>
              <a:rPr lang="ru-RU" sz="1800" dirty="0" smtClean="0"/>
              <a:t>	* усложнение архитектуры;</a:t>
            </a:r>
          </a:p>
          <a:p>
            <a:pPr algn="l">
              <a:buNone/>
            </a:pPr>
            <a:r>
              <a:rPr lang="ru-RU" sz="1800" dirty="0" smtClean="0"/>
              <a:t>	</a:t>
            </a:r>
            <a:r>
              <a:rPr lang="ru-RU" sz="1800" dirty="0" smtClean="0"/>
              <a:t>* снижение </a:t>
            </a:r>
            <a:r>
              <a:rPr lang="ru-RU" sz="1800" dirty="0" smtClean="0"/>
              <a:t>качества </a:t>
            </a:r>
            <a:r>
              <a:rPr lang="ru-RU" sz="1800" dirty="0" smtClean="0"/>
              <a:t>кода;</a:t>
            </a:r>
          </a:p>
          <a:p>
            <a:pPr algn="l">
              <a:buNone/>
            </a:pPr>
            <a:r>
              <a:rPr lang="ru-RU" sz="1800" dirty="0" smtClean="0"/>
              <a:t>	</a:t>
            </a:r>
            <a:r>
              <a:rPr lang="ru-RU" sz="1800" dirty="0" smtClean="0"/>
              <a:t>* рост </a:t>
            </a:r>
            <a:r>
              <a:rPr lang="ru-RU" sz="1800" dirty="0" smtClean="0"/>
              <a:t>затрат на </a:t>
            </a:r>
            <a:r>
              <a:rPr lang="ru-RU" sz="1800" dirty="0" smtClean="0"/>
              <a:t>сопровождение;</a:t>
            </a:r>
          </a:p>
          <a:p>
            <a:pPr algn="l">
              <a:buNone/>
            </a:pPr>
            <a:r>
              <a:rPr lang="ru-RU" sz="1800" dirty="0" smtClean="0"/>
              <a:t>	</a:t>
            </a:r>
            <a:r>
              <a:rPr lang="ru-RU" sz="1800" dirty="0" smtClean="0"/>
              <a:t>* увеличение </a:t>
            </a:r>
            <a:r>
              <a:rPr lang="ru-RU" sz="1800" dirty="0" smtClean="0"/>
              <a:t>вероятности появления </a:t>
            </a:r>
            <a:r>
              <a:rPr lang="ru-RU" sz="1800" dirty="0" smtClean="0"/>
              <a:t>ошибок.</a:t>
            </a:r>
          </a:p>
          <a:p>
            <a:pPr algn="l">
              <a:buNone/>
            </a:pPr>
            <a:r>
              <a:rPr lang="ru-RU" sz="1800" dirty="0" smtClean="0"/>
              <a:t>		Для </a:t>
            </a:r>
            <a:r>
              <a:rPr lang="ru-RU" sz="1800" dirty="0" smtClean="0"/>
              <a:t>решения данных проблем применяются </a:t>
            </a:r>
            <a:endParaRPr lang="ru-RU" sz="1800" dirty="0" smtClean="0"/>
          </a:p>
          <a:p>
            <a:pPr algn="l">
              <a:buNone/>
            </a:pPr>
            <a:r>
              <a:rPr lang="ru-RU" sz="1800" dirty="0" smtClean="0"/>
              <a:t>методы </a:t>
            </a:r>
            <a:r>
              <a:rPr lang="ru-RU" sz="1800" dirty="0" err="1" smtClean="0"/>
              <a:t>рефакторинга</a:t>
            </a:r>
            <a:r>
              <a:rPr lang="ru-RU" sz="1800" dirty="0" smtClean="0"/>
              <a:t> и поддержки эволюции программных систем.</a:t>
            </a:r>
            <a:endParaRPr lang="ru-RU" sz="1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Цель и задачи исследования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179091"/>
            <a:ext cx="9000000" cy="3320909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algn="ctr">
              <a:buNone/>
            </a:pPr>
            <a:r>
              <a:rPr lang="ru-RU" sz="2000" dirty="0" smtClean="0"/>
              <a:t>	</a:t>
            </a:r>
            <a:r>
              <a:rPr lang="ru-RU" sz="1800" dirty="0" smtClean="0"/>
              <a:t>Исследование методов </a:t>
            </a:r>
            <a:r>
              <a:rPr lang="ru-RU" sz="1800" dirty="0" err="1" smtClean="0"/>
              <a:t>рефакторинга</a:t>
            </a:r>
            <a:r>
              <a:rPr lang="ru-RU" sz="1800" dirty="0" smtClean="0"/>
              <a:t> и эволюции программных систем, а также возможностей применения генеративного искусственного </a:t>
            </a:r>
            <a:r>
              <a:rPr lang="ru-RU" sz="1800" dirty="0" smtClean="0"/>
              <a:t>интеллекта для </a:t>
            </a:r>
            <a:r>
              <a:rPr lang="ru-RU" sz="1800" dirty="0" smtClean="0"/>
              <a:t>автоматизации процессов сопровождения программного обеспечения.</a:t>
            </a:r>
            <a:r>
              <a:rPr lang="ru-RU" sz="2000" dirty="0" smtClean="0"/>
              <a:t> </a:t>
            </a: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	</a:t>
            </a:r>
            <a:r>
              <a:rPr lang="ru-RU" sz="2000" b="1" dirty="0" smtClean="0"/>
              <a:t>Задачи</a:t>
            </a:r>
            <a:r>
              <a:rPr lang="en-US" sz="2000" b="1" dirty="0" smtClean="0"/>
              <a:t>:</a:t>
            </a:r>
            <a:endParaRPr lang="ru-RU" sz="2000" b="1" dirty="0" smtClean="0"/>
          </a:p>
          <a:p>
            <a:pPr>
              <a:buNone/>
            </a:pPr>
            <a:r>
              <a:rPr lang="ru-RU" sz="2000" dirty="0" smtClean="0"/>
              <a:t>● </a:t>
            </a:r>
            <a:r>
              <a:rPr lang="ru-RU" sz="2000" dirty="0" smtClean="0"/>
              <a:t>изучение понятия </a:t>
            </a:r>
            <a:r>
              <a:rPr lang="ru-RU" sz="2000" dirty="0" err="1" smtClean="0"/>
              <a:t>рефакторинга</a:t>
            </a:r>
            <a:r>
              <a:rPr lang="ru-RU" sz="2000" dirty="0" smtClean="0"/>
              <a:t>;</a:t>
            </a: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● </a:t>
            </a:r>
            <a:r>
              <a:rPr lang="ru-RU" sz="2000" dirty="0" smtClean="0"/>
              <a:t>исследование технического долга;</a:t>
            </a: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● </a:t>
            </a:r>
            <a:r>
              <a:rPr lang="ru-RU" sz="2000" dirty="0" smtClean="0"/>
              <a:t>анализ методов </a:t>
            </a:r>
            <a:r>
              <a:rPr lang="ru-RU" sz="2000" dirty="0" err="1" smtClean="0"/>
              <a:t>рефакторинга</a:t>
            </a:r>
            <a:r>
              <a:rPr lang="ru-RU" sz="2000" dirty="0" smtClean="0"/>
              <a:t>;</a:t>
            </a: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● </a:t>
            </a:r>
            <a:r>
              <a:rPr lang="ru-RU" sz="2000" dirty="0" smtClean="0"/>
              <a:t>исследование моделей эволюции программных систем;</a:t>
            </a: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● </a:t>
            </a:r>
            <a:r>
              <a:rPr lang="ru-RU" sz="2000" dirty="0" smtClean="0"/>
              <a:t>изучение </a:t>
            </a:r>
            <a:r>
              <a:rPr lang="en-US" sz="2000" dirty="0" smtClean="0"/>
              <a:t>AI-</a:t>
            </a:r>
            <a:r>
              <a:rPr lang="ru-RU" sz="2000" dirty="0" smtClean="0"/>
              <a:t>инструментов </a:t>
            </a:r>
            <a:r>
              <a:rPr lang="ru-RU" sz="2000" dirty="0" smtClean="0"/>
              <a:t>разработки</a:t>
            </a:r>
            <a:r>
              <a:rPr lang="en-US" sz="2000" dirty="0" smtClean="0"/>
              <a:t>.</a:t>
            </a:r>
            <a:endParaRPr lang="ru-RU" sz="20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Объект и предмет исследования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251099"/>
            <a:ext cx="9000000" cy="3600400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algn="l">
              <a:buNone/>
            </a:pPr>
            <a:r>
              <a:rPr lang="ru-RU" sz="1800" b="1" dirty="0" smtClean="0"/>
              <a:t>Объект </a:t>
            </a:r>
            <a:r>
              <a:rPr lang="ru-RU" sz="1800" b="1" dirty="0" smtClean="0"/>
              <a:t>исследования</a:t>
            </a:r>
            <a:endParaRPr lang="en-US" sz="1800" b="1" dirty="0" smtClean="0"/>
          </a:p>
          <a:p>
            <a:pPr algn="l">
              <a:buNone/>
            </a:pPr>
            <a:r>
              <a:rPr lang="en-US" sz="1800" dirty="0" smtClean="0"/>
              <a:t>	</a:t>
            </a:r>
            <a:r>
              <a:rPr lang="ru-RU" sz="1800" dirty="0" smtClean="0"/>
              <a:t>Программные </a:t>
            </a:r>
            <a:r>
              <a:rPr lang="ru-RU" sz="1800" dirty="0" smtClean="0"/>
              <a:t>системы, находящиеся в процессе сопровождения и развития</a:t>
            </a:r>
            <a:r>
              <a:rPr lang="ru-RU" sz="1800" dirty="0" smtClean="0"/>
              <a:t>.</a:t>
            </a:r>
            <a:endParaRPr lang="en-US" sz="1800" dirty="0" smtClean="0"/>
          </a:p>
          <a:p>
            <a:pPr algn="l">
              <a:buNone/>
            </a:pPr>
            <a:r>
              <a:rPr lang="ru-RU" sz="1800" b="1" dirty="0" smtClean="0"/>
              <a:t>Предмет </a:t>
            </a:r>
            <a:r>
              <a:rPr lang="ru-RU" sz="1800" b="1" dirty="0" smtClean="0"/>
              <a:t>исследования</a:t>
            </a:r>
            <a:endParaRPr lang="en-US" sz="1800" b="1" dirty="0" smtClean="0"/>
          </a:p>
          <a:p>
            <a:pPr algn="l">
              <a:buNone/>
            </a:pPr>
            <a:r>
              <a:rPr lang="en-US" sz="1800" dirty="0" smtClean="0"/>
              <a:t>	</a:t>
            </a:r>
            <a:r>
              <a:rPr lang="ru-RU" sz="1800" dirty="0" smtClean="0"/>
              <a:t>Методы </a:t>
            </a:r>
            <a:r>
              <a:rPr lang="ru-RU" sz="1800" dirty="0" err="1" smtClean="0"/>
              <a:t>рефакторинга</a:t>
            </a:r>
            <a:r>
              <a:rPr lang="ru-RU" sz="1800" dirty="0" smtClean="0"/>
              <a:t> и поддержки эволюции программных систем с использованием генеративного искусственного интеллекта</a:t>
            </a:r>
            <a:r>
              <a:rPr lang="ru-RU" sz="1800" dirty="0" smtClean="0"/>
              <a:t>.</a:t>
            </a:r>
            <a:endParaRPr lang="en-US" sz="1800" dirty="0" smtClean="0"/>
          </a:p>
          <a:p>
            <a:pPr algn="l">
              <a:buNone/>
            </a:pPr>
            <a:r>
              <a:rPr lang="ru-RU" sz="1800" b="1" dirty="0" smtClean="0"/>
              <a:t>Практическая </a:t>
            </a:r>
            <a:r>
              <a:rPr lang="ru-RU" sz="1800" b="1" dirty="0" smtClean="0"/>
              <a:t>направленность</a:t>
            </a:r>
            <a:endParaRPr lang="en-US" sz="1800" b="1" dirty="0" smtClean="0"/>
          </a:p>
          <a:p>
            <a:pPr algn="l">
              <a:buNone/>
            </a:pPr>
            <a:r>
              <a:rPr lang="en-US" sz="1800" dirty="0" smtClean="0"/>
              <a:t>	</a:t>
            </a:r>
            <a:r>
              <a:rPr lang="ru-RU" sz="1800" dirty="0" smtClean="0"/>
              <a:t>Использование AI-инструментов</a:t>
            </a:r>
            <a:endParaRPr lang="en-US" sz="1800" dirty="0" smtClean="0"/>
          </a:p>
          <a:p>
            <a:pPr algn="l">
              <a:buNone/>
            </a:pPr>
            <a:r>
              <a:rPr lang="en-US" sz="1800" dirty="0" smtClean="0"/>
              <a:t>	</a:t>
            </a:r>
            <a:r>
              <a:rPr lang="ru-RU" sz="1800" dirty="0" smtClean="0"/>
              <a:t>для </a:t>
            </a:r>
            <a:r>
              <a:rPr lang="ru-RU" sz="1800" dirty="0" smtClean="0"/>
              <a:t>повышения </a:t>
            </a:r>
            <a:r>
              <a:rPr lang="ru-RU" sz="1800" dirty="0" smtClean="0"/>
              <a:t>качества</a:t>
            </a:r>
            <a:endParaRPr lang="en-US" sz="1800" dirty="0" smtClean="0"/>
          </a:p>
          <a:p>
            <a:pPr algn="l">
              <a:buNone/>
            </a:pPr>
            <a:r>
              <a:rPr lang="en-US" sz="1800" dirty="0" smtClean="0"/>
              <a:t>	</a:t>
            </a:r>
            <a:r>
              <a:rPr lang="ru-RU" sz="1800" dirty="0" smtClean="0"/>
              <a:t>и </a:t>
            </a:r>
            <a:r>
              <a:rPr lang="ru-RU" sz="1800" dirty="0" err="1" smtClean="0"/>
              <a:t>сопровождаемости</a:t>
            </a:r>
            <a:r>
              <a:rPr lang="ru-RU" sz="1800" dirty="0" smtClean="0"/>
              <a:t> программного обеспечения.</a:t>
            </a:r>
            <a:endParaRPr lang="ru-RU" sz="1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err="1" smtClean="0"/>
              <a:t>Рефакторинг</a:t>
            </a:r>
            <a:r>
              <a:rPr lang="ru-RU" dirty="0" smtClean="0"/>
              <a:t> программного обеспечения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251099"/>
            <a:ext cx="6300512" cy="3672408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algn="just">
              <a:buNone/>
            </a:pPr>
            <a:r>
              <a:rPr lang="en-US" sz="2000" dirty="0" smtClean="0"/>
              <a:t>		</a:t>
            </a:r>
            <a:r>
              <a:rPr lang="ru-RU" sz="2000" b="1" dirty="0" err="1" smtClean="0"/>
              <a:t>Рефакторинг</a:t>
            </a:r>
            <a:r>
              <a:rPr lang="ru-RU" sz="2000" dirty="0" smtClean="0"/>
              <a:t> </a:t>
            </a:r>
            <a:r>
              <a:rPr lang="ru-RU" sz="2000" dirty="0" smtClean="0"/>
              <a:t>— процесс изменения внутренней структуры программного кода без изменения внешнего поведения системы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	</a:t>
            </a:r>
            <a:r>
              <a:rPr lang="ru-RU" sz="2000" b="1" dirty="0" smtClean="0"/>
              <a:t>Основные цели</a:t>
            </a:r>
            <a:r>
              <a:rPr lang="en-US" sz="2000" b="1" dirty="0" smtClean="0"/>
              <a:t>:</a:t>
            </a:r>
          </a:p>
          <a:p>
            <a:pPr algn="just"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* </a:t>
            </a:r>
            <a:r>
              <a:rPr lang="ru-RU" sz="2000" dirty="0" smtClean="0"/>
              <a:t>повышение </a:t>
            </a:r>
            <a:r>
              <a:rPr lang="ru-RU" sz="2000" dirty="0" smtClean="0"/>
              <a:t>читаемости </a:t>
            </a:r>
            <a:r>
              <a:rPr lang="ru-RU" sz="2000" dirty="0" smtClean="0"/>
              <a:t>кода;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* </a:t>
            </a:r>
            <a:r>
              <a:rPr lang="ru-RU" sz="2000" dirty="0" smtClean="0"/>
              <a:t>уменьшение сложности;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* </a:t>
            </a:r>
            <a:r>
              <a:rPr lang="ru-RU" sz="2000" dirty="0" smtClean="0"/>
              <a:t>повышение модульности;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* </a:t>
            </a:r>
            <a:r>
              <a:rPr lang="ru-RU" sz="2000" dirty="0" smtClean="0"/>
              <a:t>улучшение </a:t>
            </a:r>
            <a:r>
              <a:rPr lang="ru-RU" sz="2000" dirty="0" err="1" smtClean="0"/>
              <a:t>поддерживаемости</a:t>
            </a:r>
            <a:r>
              <a:rPr lang="ru-RU" sz="2000" dirty="0" smtClean="0"/>
              <a:t>;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* </a:t>
            </a:r>
            <a:r>
              <a:rPr lang="ru-RU" sz="2000" dirty="0" smtClean="0"/>
              <a:t>снижение </a:t>
            </a:r>
            <a:r>
              <a:rPr lang="ru-RU" sz="2000" dirty="0" smtClean="0"/>
              <a:t>технического долга.</a:t>
            </a:r>
            <a:endParaRPr lang="ru-RU" sz="2000" dirty="0" smtClean="0"/>
          </a:p>
        </p:txBody>
      </p:sp>
      <p:pic>
        <p:nvPicPr>
          <p:cNvPr id="4" name="Рисунок 3" descr="a5566614-14f1-4790-b0a3-b825a4554b0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58036" y="1323107"/>
            <a:ext cx="2378820" cy="369937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19832" y="5139531"/>
            <a:ext cx="8712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Результат</a:t>
            </a:r>
            <a:r>
              <a:rPr lang="ru-RU" dirty="0" smtClean="0"/>
              <a:t> </a:t>
            </a:r>
            <a:r>
              <a:rPr lang="en-US" dirty="0" smtClean="0"/>
              <a:t>- </a:t>
            </a:r>
            <a:r>
              <a:rPr lang="ru-RU" dirty="0" smtClean="0"/>
              <a:t>упрощение </a:t>
            </a:r>
            <a:r>
              <a:rPr lang="ru-RU" dirty="0" smtClean="0"/>
              <a:t>дальнейшего развития программной системы.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Технический долг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215776" y="1107083"/>
            <a:ext cx="5832648" cy="3888432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algn="just">
              <a:buNone/>
            </a:pPr>
            <a:r>
              <a:rPr lang="ru-RU" sz="2000" dirty="0" smtClean="0"/>
              <a:t>		Технический </a:t>
            </a:r>
            <a:r>
              <a:rPr lang="ru-RU" sz="2000" dirty="0" smtClean="0"/>
              <a:t>долг представляет собой накопленные в программном коде или архитектуре проблемы, связанные с пренебрежением качеством при разработке программного обеспечения</a:t>
            </a:r>
            <a:endParaRPr lang="ru-RU" sz="2000" dirty="0" smtClean="0"/>
          </a:p>
          <a:p>
            <a:pPr algn="just">
              <a:buNone/>
            </a:pPr>
            <a:r>
              <a:rPr lang="ru-RU" sz="2000" dirty="0" smtClean="0"/>
              <a:t>		</a:t>
            </a:r>
            <a:r>
              <a:rPr lang="ru-RU" sz="2000" b="1" dirty="0" smtClean="0"/>
              <a:t>Причины возникновения</a:t>
            </a:r>
            <a:r>
              <a:rPr lang="en-US" sz="2000" b="1" dirty="0" smtClean="0"/>
              <a:t>:</a:t>
            </a:r>
          </a:p>
          <a:p>
            <a:pPr algn="just">
              <a:buNone/>
            </a:pPr>
            <a:r>
              <a:rPr lang="en-US" sz="2000" dirty="0" smtClean="0"/>
              <a:t>	* </a:t>
            </a:r>
            <a:r>
              <a:rPr lang="ru-RU" sz="2000" dirty="0" smtClean="0"/>
              <a:t>спешка </a:t>
            </a:r>
            <a:r>
              <a:rPr lang="ru-RU" sz="2000" dirty="0" smtClean="0"/>
              <a:t>при </a:t>
            </a:r>
            <a:r>
              <a:rPr lang="ru-RU" sz="2000" dirty="0" smtClean="0"/>
              <a:t>разработке;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* </a:t>
            </a:r>
            <a:r>
              <a:rPr lang="ru-RU" sz="2000" dirty="0" smtClean="0"/>
              <a:t>отсутствие </a:t>
            </a:r>
            <a:r>
              <a:rPr lang="ru-RU" sz="2000" dirty="0" err="1" smtClean="0"/>
              <a:t>рефакторинга</a:t>
            </a:r>
            <a:r>
              <a:rPr lang="ru-RU" sz="2000" dirty="0" smtClean="0"/>
              <a:t>;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* </a:t>
            </a:r>
            <a:r>
              <a:rPr lang="ru-RU" sz="2000" dirty="0" smtClean="0"/>
              <a:t>недостаточное тестирование;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* </a:t>
            </a:r>
            <a:r>
              <a:rPr lang="ru-RU" sz="2000" dirty="0" smtClean="0"/>
              <a:t>нарушение </a:t>
            </a:r>
            <a:r>
              <a:rPr lang="ru-RU" sz="2000" dirty="0" smtClean="0"/>
              <a:t>архитектурных принципов.</a:t>
            </a:r>
            <a:endParaRPr lang="ru-RU" sz="2000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6624488" y="963067"/>
            <a:ext cx="3384375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/>
              <a:t>Последствия</a:t>
            </a:r>
            <a:r>
              <a:rPr lang="en-US" b="1" dirty="0" smtClean="0"/>
              <a:t>: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 smtClean="0"/>
              <a:t> </a:t>
            </a:r>
            <a:r>
              <a:rPr lang="ru-RU" dirty="0" smtClean="0"/>
              <a:t>усложнение сопровождения;</a:t>
            </a:r>
            <a:endParaRPr lang="en-US" dirty="0" smtClean="0"/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 smtClean="0"/>
              <a:t> </a:t>
            </a:r>
            <a:r>
              <a:rPr lang="ru-RU" dirty="0" smtClean="0"/>
              <a:t>снижение </a:t>
            </a:r>
            <a:r>
              <a:rPr lang="ru-RU" dirty="0" smtClean="0"/>
              <a:t>производительности </a:t>
            </a:r>
            <a:r>
              <a:rPr lang="ru-RU" dirty="0" smtClean="0"/>
              <a:t>разработки;</a:t>
            </a:r>
            <a:endParaRPr lang="en-US" dirty="0" smtClean="0"/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en-US" dirty="0" smtClean="0"/>
              <a:t> </a:t>
            </a:r>
            <a:r>
              <a:rPr lang="ru-RU" dirty="0" smtClean="0"/>
              <a:t>рост </a:t>
            </a:r>
            <a:r>
              <a:rPr lang="ru-RU" dirty="0" smtClean="0"/>
              <a:t>количества дефектов.</a:t>
            </a:r>
            <a:endParaRPr lang="ru-RU" dirty="0"/>
          </a:p>
        </p:txBody>
      </p:sp>
      <p:pic>
        <p:nvPicPr>
          <p:cNvPr id="5" name="Рисунок 4" descr="f910528d7e0d7f93a0bd84a57d13bae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72360" y="3168352"/>
            <a:ext cx="2331219" cy="233121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Эволюция программных систем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179091"/>
            <a:ext cx="9000000" cy="2511379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 algn="just">
              <a:buNone/>
            </a:pPr>
            <a:r>
              <a:rPr lang="ru-RU" sz="2000" dirty="0" smtClean="0"/>
              <a:t>		Эволюция </a:t>
            </a:r>
            <a:r>
              <a:rPr lang="ru-RU" sz="2000" dirty="0" smtClean="0"/>
              <a:t>программных систем заключается в их постоянном изменении и </a:t>
            </a:r>
            <a:r>
              <a:rPr lang="ru-RU" sz="2000" dirty="0" smtClean="0"/>
              <a:t>адаптации </a:t>
            </a:r>
            <a:r>
              <a:rPr lang="ru-RU" sz="2000" dirty="0" smtClean="0"/>
              <a:t>к новым требованиям</a:t>
            </a:r>
            <a:r>
              <a:rPr lang="ru-RU" sz="2000" dirty="0" smtClean="0"/>
              <a:t>.</a:t>
            </a:r>
          </a:p>
          <a:p>
            <a:pPr algn="just">
              <a:buNone/>
            </a:pPr>
            <a:r>
              <a:rPr lang="ru-RU" sz="2000" dirty="0" smtClean="0"/>
              <a:t>		</a:t>
            </a:r>
            <a:r>
              <a:rPr lang="ru-RU" sz="2000" b="1" dirty="0" smtClean="0"/>
              <a:t>Основные процессы</a:t>
            </a:r>
            <a:r>
              <a:rPr lang="en-US" sz="2000" b="1" dirty="0" smtClean="0"/>
              <a:t>:</a:t>
            </a:r>
            <a:r>
              <a:rPr lang="ru-RU" sz="2000" dirty="0" smtClean="0"/>
              <a:t> </a:t>
            </a:r>
            <a:r>
              <a:rPr lang="ru-RU" sz="2000" dirty="0" smtClean="0"/>
              <a:t>модернизация функциональности; оптимизация архитектуры; повышение качества кода; адаптация к новым технологиям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	</a:t>
            </a:r>
            <a:r>
              <a:rPr lang="ru-RU" sz="2000" b="1" dirty="0" smtClean="0"/>
              <a:t>Законы эволюции </a:t>
            </a:r>
            <a:r>
              <a:rPr lang="ru-RU" sz="2000" b="1" dirty="0" smtClean="0"/>
              <a:t>ПО</a:t>
            </a:r>
            <a:r>
              <a:rPr lang="en-US" sz="2000" dirty="0" smtClean="0"/>
              <a:t> </a:t>
            </a:r>
            <a:r>
              <a:rPr lang="en-US" sz="2000" dirty="0" smtClean="0"/>
              <a:t>-</a:t>
            </a:r>
            <a:r>
              <a:rPr lang="ru-RU" sz="2000" dirty="0" smtClean="0"/>
              <a:t> наиболее </a:t>
            </a:r>
            <a:r>
              <a:rPr lang="ru-RU" sz="2000" dirty="0" smtClean="0"/>
              <a:t>известны законы эволюции программного обеспечения, сформулированные </a:t>
            </a:r>
            <a:r>
              <a:rPr lang="ru-RU" sz="2000" dirty="0" err="1" smtClean="0"/>
              <a:t>Мэнни</a:t>
            </a:r>
            <a:r>
              <a:rPr lang="ru-RU" sz="2000" dirty="0" smtClean="0"/>
              <a:t> </a:t>
            </a:r>
            <a:r>
              <a:rPr lang="ru-RU" sz="2000" dirty="0" err="1" smtClean="0"/>
              <a:t>Леманом</a:t>
            </a:r>
            <a:r>
              <a:rPr lang="ru-RU" sz="2000" dirty="0" smtClean="0"/>
              <a:t>.</a:t>
            </a:r>
            <a:endParaRPr lang="ru-RU" sz="2000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863848" y="3771379"/>
            <a:ext cx="43204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/>
              <a:t>Законы </a:t>
            </a:r>
            <a:r>
              <a:rPr lang="ru-RU" dirty="0" err="1" smtClean="0"/>
              <a:t>Лемана</a:t>
            </a:r>
            <a:r>
              <a:rPr lang="ru-RU" dirty="0" smtClean="0"/>
              <a:t> — восемь принципов эволюции программного обеспечения, которые сформулировал Меир </a:t>
            </a:r>
            <a:r>
              <a:rPr lang="ru-RU" dirty="0" err="1" smtClean="0"/>
              <a:t>Мэнни</a:t>
            </a:r>
            <a:r>
              <a:rPr lang="ru-RU" dirty="0" smtClean="0"/>
              <a:t> </a:t>
            </a:r>
            <a:r>
              <a:rPr lang="ru-RU" dirty="0" err="1" smtClean="0"/>
              <a:t>Леман</a:t>
            </a:r>
            <a:r>
              <a:rPr lang="ru-RU" dirty="0" smtClean="0"/>
              <a:t> с 1974 по 1996 год.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dirty="0" smtClean="0"/>
              <a:t>Заключение</a:t>
            </a:r>
            <a:endParaRPr lang="en-US" dirty="0">
              <a:latin typeface="Liberation Sans" pitchFamily="34"/>
            </a:endParaRP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40000" y="1035075"/>
            <a:ext cx="6516536" cy="2952328"/>
          </a:xfrm>
        </p:spPr>
        <p:txBody>
          <a:bodyPr vert="horz"/>
          <a:lstStyle>
            <a:def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None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defPPr>
            <a:lvl1pPr marL="432000" marR="0" lvl="0" indent="-324000">
              <a:spcBef>
                <a:spcPts val="106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2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1pPr>
            <a:lvl2pPr marL="864000" marR="0" lvl="1" indent="-324000">
              <a:spcBef>
                <a:spcPts val="850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21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2pPr>
            <a:lvl3pPr marL="1295999" marR="0" lvl="2" indent="-288000">
              <a:spcBef>
                <a:spcPts val="635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8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3pPr>
            <a:lvl4pPr marL="1728000" marR="0" lvl="3" indent="-216000">
              <a:spcBef>
                <a:spcPts val="422"/>
              </a:spcBef>
              <a:spcAft>
                <a:spcPts val="0"/>
              </a:spcAft>
              <a:buSzPct val="75000"/>
              <a:buFont typeface="StarSymbol"/>
              <a:buChar char="–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4pPr>
            <a:lvl5pPr marL="2160000" marR="0" lvl="4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5pPr>
            <a:lvl6pPr marL="2592000" marR="0" lvl="5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6pPr>
            <a:lvl7pPr marL="3024000" marR="0" lvl="6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7pPr>
            <a:lvl8pPr marL="3456000" marR="0" lvl="7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8pPr>
            <a:lvl9pPr marL="3887999" marR="0" lvl="8" indent="-216000">
              <a:spcBef>
                <a:spcPts val="210"/>
              </a:spcBef>
              <a:spcAft>
                <a:spcPts val="0"/>
              </a:spcAft>
              <a:buSzPct val="45000"/>
              <a:buFont typeface="StarSymbol"/>
              <a:buChar char="●"/>
              <a:defRPr lang="en-US" sz="15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</a:defRPr>
            </a:lvl9pPr>
          </a:lstStyle>
          <a:p>
            <a:pPr>
              <a:buNone/>
            </a:pPr>
            <a:r>
              <a:rPr lang="ru-RU" sz="1800" b="1" dirty="0" smtClean="0"/>
              <a:t>Выводы</a:t>
            </a:r>
          </a:p>
          <a:p>
            <a:r>
              <a:rPr lang="ru-RU" sz="1800" dirty="0" err="1" smtClean="0"/>
              <a:t>Рефакторинг</a:t>
            </a:r>
            <a:r>
              <a:rPr lang="ru-RU" sz="1800" dirty="0" smtClean="0"/>
              <a:t> является важным инструментом поддержки качества программных </a:t>
            </a:r>
            <a:r>
              <a:rPr lang="ru-RU" sz="1800" dirty="0" smtClean="0"/>
              <a:t>систем</a:t>
            </a:r>
          </a:p>
          <a:p>
            <a:r>
              <a:rPr lang="ru-RU" sz="1800" dirty="0" smtClean="0"/>
              <a:t>Эволюция </a:t>
            </a:r>
            <a:r>
              <a:rPr lang="ru-RU" sz="1800" dirty="0" smtClean="0"/>
              <a:t>программного обеспечения требует постоянного контроля технического </a:t>
            </a:r>
            <a:r>
              <a:rPr lang="ru-RU" sz="1800" dirty="0" smtClean="0"/>
              <a:t>долга</a:t>
            </a:r>
          </a:p>
          <a:p>
            <a:r>
              <a:rPr lang="ru-RU" sz="1800" dirty="0" smtClean="0"/>
              <a:t>Генеративный </a:t>
            </a:r>
            <a:r>
              <a:rPr lang="ru-RU" sz="1800" dirty="0" smtClean="0"/>
              <a:t>искусственный интеллект открывает новые возможности автоматизации процессов сопровождения </a:t>
            </a:r>
            <a:r>
              <a:rPr lang="ru-RU" sz="1800" dirty="0" smtClean="0"/>
              <a:t>ПО</a:t>
            </a:r>
          </a:p>
        </p:txBody>
      </p:sp>
      <p:pic>
        <p:nvPicPr>
          <p:cNvPr id="5" name="Рисунок 4" descr="66804d7d-db38-4f30-8961-53fa43839ec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51932" y="819051"/>
            <a:ext cx="2231119" cy="417646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59792" y="3915395"/>
            <a:ext cx="719988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/>
              <a:t>	Эффективное </a:t>
            </a:r>
            <a:r>
              <a:rPr lang="ru-RU" sz="1400" dirty="0" smtClean="0"/>
              <a:t>изучение современных подходов к </a:t>
            </a:r>
            <a:r>
              <a:rPr lang="ru-RU" sz="1400" dirty="0" err="1" smtClean="0"/>
              <a:t>рефакторингу</a:t>
            </a:r>
            <a:r>
              <a:rPr lang="ru-RU" sz="1400" dirty="0" smtClean="0"/>
              <a:t> и эволюции программных систем требует не только ознакомления с научной литературой, но и её критического осмысления. В процессе анализа источников сформировался практический принцип работы с научно-технической информацией</a:t>
            </a:r>
            <a:r>
              <a:rPr lang="ru-RU" sz="1400" dirty="0" smtClean="0"/>
              <a:t>:</a:t>
            </a:r>
          </a:p>
          <a:p>
            <a:pPr algn="ctr"/>
            <a:r>
              <a:rPr lang="ru-RU" sz="1400" dirty="0" smtClean="0"/>
              <a:t>«</a:t>
            </a:r>
            <a:r>
              <a:rPr lang="ru-RU" sz="1400" b="1" dirty="0" smtClean="0"/>
              <a:t>Читай. </a:t>
            </a:r>
            <a:r>
              <a:rPr lang="ru-RU" sz="1400" b="1" dirty="0" smtClean="0"/>
              <a:t> Думай</a:t>
            </a:r>
            <a:r>
              <a:rPr lang="ru-RU" sz="1400" b="1" dirty="0" smtClean="0"/>
              <a:t>. </a:t>
            </a:r>
            <a:r>
              <a:rPr lang="ru-RU" sz="1400" b="1" dirty="0" err="1" smtClean="0"/>
              <a:t>Пересобирай</a:t>
            </a:r>
            <a:r>
              <a:rPr lang="ru-RU" sz="1400" dirty="0" smtClean="0"/>
              <a:t>»</a:t>
            </a:r>
          </a:p>
          <a:p>
            <a:pPr algn="just"/>
            <a:r>
              <a:rPr lang="ru-RU" sz="1400" dirty="0" smtClean="0"/>
              <a:t>Данный </a:t>
            </a:r>
            <a:r>
              <a:rPr lang="ru-RU" sz="1400" dirty="0" smtClean="0"/>
              <a:t>подход предполагает последовательное изучение материалов, их аналитическую оценку и последующее формирование собственного понимания исследуемой проблемы.</a:t>
            </a:r>
            <a:endParaRPr lang="ru-RU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 txBox="1">
            <a:spLocks noGrp="1"/>
          </p:cNvSpPr>
          <p:nvPr>
            <p:ph type="title" idx="4294967295"/>
          </p:nvPr>
        </p:nvSpPr>
        <p:spPr>
          <a:xfrm>
            <a:off x="503808" y="3699371"/>
            <a:ext cx="5904656" cy="648072"/>
          </a:xfrm>
        </p:spPr>
        <p:txBody>
          <a:bodyPr vert="horz" anchorCtr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dirty="0" err="1">
                <a:latin typeface="Liberation Sans" pitchFamily="34"/>
              </a:rPr>
              <a:t>Студент</a:t>
            </a:r>
            <a:r>
              <a:rPr lang="en-US" sz="1800" dirty="0">
                <a:latin typeface="Liberation Sans" pitchFamily="34"/>
              </a:rPr>
              <a:t> 1 </a:t>
            </a:r>
            <a:r>
              <a:rPr lang="en-US" sz="1800" dirty="0" err="1">
                <a:latin typeface="Liberation Sans" pitchFamily="34"/>
              </a:rPr>
              <a:t>курса</a:t>
            </a:r>
            <a:r>
              <a:rPr lang="en-US" sz="1800" dirty="0">
                <a:latin typeface="Liberation Sans" pitchFamily="34"/>
              </a:rPr>
              <a:t> </a:t>
            </a:r>
            <a:r>
              <a:rPr lang="en-US" sz="1800" b="1" dirty="0" err="1">
                <a:latin typeface="Liberation Sans" pitchFamily="34"/>
              </a:rPr>
              <a:t>Трифонов</a:t>
            </a:r>
            <a:r>
              <a:rPr lang="en-US" sz="1800" b="1" dirty="0">
                <a:latin typeface="Liberation Sans" pitchFamily="34"/>
              </a:rPr>
              <a:t> Д.С.</a:t>
            </a:r>
            <a:r>
              <a:rPr lang="en-US" sz="1800" dirty="0">
                <a:latin typeface="Liberation Sans" pitchFamily="34"/>
              </a:rPr>
              <a:t> </a:t>
            </a:r>
            <a:r>
              <a:rPr lang="en-US" sz="1800" dirty="0" err="1">
                <a:latin typeface="Liberation Sans" pitchFamily="34"/>
              </a:rPr>
              <a:t>группы</a:t>
            </a:r>
            <a:r>
              <a:rPr lang="en-US" sz="1800" dirty="0">
                <a:latin typeface="Liberation Sans" pitchFamily="34"/>
              </a:rPr>
              <a:t> </a:t>
            </a:r>
            <a:r>
              <a:rPr lang="en-US" sz="1800" dirty="0" smtClean="0">
                <a:latin typeface="Liberation Sans" pitchFamily="34"/>
              </a:rPr>
              <a:t>12-25</a:t>
            </a:r>
            <a:r>
              <a:rPr lang="ru-RU" sz="1800" dirty="0" smtClean="0">
                <a:latin typeface="Liberation Sans" pitchFamily="34"/>
              </a:rPr>
              <a:t> </a:t>
            </a:r>
            <a:r>
              <a:rPr lang="en-US" sz="1800" dirty="0" err="1" smtClean="0">
                <a:latin typeface="Liberation Sans" pitchFamily="34"/>
              </a:rPr>
              <a:t>РПм</a:t>
            </a:r>
            <a:endParaRPr lang="en-US" sz="1800" dirty="0">
              <a:latin typeface="Liberation Sans" pitchFamily="34"/>
            </a:endParaRPr>
          </a:p>
        </p:txBody>
      </p:sp>
      <p:pic>
        <p:nvPicPr>
          <p:cNvPr id="4" name="Рисунок 3" descr="9292891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32600" y="1298699"/>
            <a:ext cx="2040632" cy="2040632"/>
          </a:xfrm>
          <a:prstGeom prst="rect">
            <a:avLst/>
          </a:prstGeom>
        </p:spPr>
      </p:pic>
      <p:pic>
        <p:nvPicPr>
          <p:cNvPr id="5" name="Рисунок 4" descr="4126d87d-9f1d-4fd1-9a28-22bc08c005c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9772" y="170980"/>
            <a:ext cx="7040780" cy="316835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344568" y="603027"/>
            <a:ext cx="26642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/>
              <a:t>Спасибо за внимание!</a:t>
            </a:r>
            <a:endParaRPr lang="ru-RU" sz="20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restbird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orestbird1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128</Words>
  <Application>Microsoft Office PowerPoint</Application>
  <PresentationFormat>Произвольный</PresentationFormat>
  <Paragraphs>69</Paragraphs>
  <Slides>9</Slides>
  <Notes>8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Forestbird</vt:lpstr>
      <vt:lpstr>Forestbird1</vt:lpstr>
      <vt:lpstr>Слайд 1</vt:lpstr>
      <vt:lpstr>Актуальность исследования</vt:lpstr>
      <vt:lpstr>Цель и задачи исследования</vt:lpstr>
      <vt:lpstr>Объект и предмет исследования</vt:lpstr>
      <vt:lpstr>Рефакторинг программного обеспечения</vt:lpstr>
      <vt:lpstr>Технический долг</vt:lpstr>
      <vt:lpstr>Эволюция программных систем</vt:lpstr>
      <vt:lpstr>Заключение</vt:lpstr>
      <vt:lpstr>Студент 1 курса Трифонов Д.С. группы 12-25 РПм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Forestbird</dc:title>
  <dc:creator>root</dc:creator>
  <dc:description>This work is licensed under a Creative Commons 0 License.
It makes use of the works of kka_libo_design@ashisuto.co.jp.</dc:description>
  <cp:lastModifiedBy>root</cp:lastModifiedBy>
  <cp:revision>24</cp:revision>
  <dcterms:created xsi:type="dcterms:W3CDTF">2026-03-05T09:07:24Z</dcterms:created>
  <dcterms:modified xsi:type="dcterms:W3CDTF">2026-06-21T10:22:43Z</dcterms:modified>
</cp:coreProperties>
</file>