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0"/>
  </p:notesMasterIdLst>
  <p:sldIdLst>
    <p:sldId id="257" r:id="rId3"/>
    <p:sldId id="643" r:id="rId4"/>
    <p:sldId id="646" r:id="rId5"/>
    <p:sldId id="645" r:id="rId6"/>
    <p:sldId id="633" r:id="rId7"/>
    <p:sldId id="636" r:id="rId8"/>
    <p:sldId id="635" r:id="rId9"/>
    <p:sldId id="605" r:id="rId10"/>
    <p:sldId id="638" r:id="rId11"/>
    <p:sldId id="615" r:id="rId12"/>
    <p:sldId id="617" r:id="rId13"/>
    <p:sldId id="630" r:id="rId14"/>
    <p:sldId id="603" r:id="rId15"/>
    <p:sldId id="642" r:id="rId16"/>
    <p:sldId id="376" r:id="rId17"/>
    <p:sldId id="541" r:id="rId18"/>
    <p:sldId id="542" r:id="rId19"/>
    <p:sldId id="543" r:id="rId20"/>
    <p:sldId id="473" r:id="rId21"/>
    <p:sldId id="665" r:id="rId22"/>
    <p:sldId id="604" r:id="rId23"/>
    <p:sldId id="649" r:id="rId24"/>
    <p:sldId id="588" r:id="rId25"/>
    <p:sldId id="648" r:id="rId26"/>
    <p:sldId id="381" r:id="rId27"/>
    <p:sldId id="592" r:id="rId28"/>
    <p:sldId id="598" r:id="rId29"/>
    <p:sldId id="661" r:id="rId30"/>
    <p:sldId id="650" r:id="rId31"/>
    <p:sldId id="662" r:id="rId32"/>
    <p:sldId id="654" r:id="rId33"/>
    <p:sldId id="656" r:id="rId34"/>
    <p:sldId id="652" r:id="rId35"/>
    <p:sldId id="679" r:id="rId36"/>
    <p:sldId id="657" r:id="rId37"/>
    <p:sldId id="671" r:id="rId38"/>
    <p:sldId id="578" r:id="rId3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69704" autoAdjust="0"/>
  </p:normalViewPr>
  <p:slideViewPr>
    <p:cSldViewPr>
      <p:cViewPr varScale="1">
        <p:scale>
          <a:sx n="51" d="100"/>
          <a:sy n="51" d="100"/>
        </p:scale>
        <p:origin x="213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0271AA-CB9A-4628-A81E-2BF7444681D5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D0756-48EF-4289-82F8-85562A3622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7606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3" Type="http://schemas.openxmlformats.org/officeDocument/2006/relationships/hyperlink" Target="https://ru.wikipedia.org/wiki/%D0%A1%D0%B2%D1%8F%D0%B7%D1%83%D1%8E%D1%89%D0%B5%D0%B5_%D0%BF%D1%80%D0%BE%D0%B3%D1%80%D0%B0%D0%BC%D0%BC%D0%BD%D0%BE%D0%B5_%D0%BE%D0%B1%D0%B5%D1%81%D0%BF%D0%B5%D1%87%D0%B5%D0%BD%D0%B8%D0%B5#cite_note-8" TargetMode="External"/><Relationship Id="rId18" Type="http://schemas.openxmlformats.org/officeDocument/2006/relationships/hyperlink" Target="https://ru.wikipedia.org/wiki/%D0%92%D0%B5%D0%B1-%D1%81%D0%B5%D1%80%D0%B2%D0%B5%D1%80" TargetMode="External"/><Relationship Id="rId26" Type="http://schemas.openxmlformats.org/officeDocument/2006/relationships/hyperlink" Target="https://en.wikipedia.org/wiki/Software" TargetMode="External"/><Relationship Id="rId3" Type="http://schemas.openxmlformats.org/officeDocument/2006/relationships/hyperlink" Target="https://ru.wikipedia.org/w/index.php?title=%D0%A1%D0%B8%D1%81%D1%82%D0%B5%D0%BC%D0%B0_%D1%80%D0%B0%D1%81%D0%BF%D1%80%D0%B5%D0%B4%D0%B5%D0%BB%D1%91%D0%BD%D0%BD%D1%8B%D1%85_%D0%BE%D0%B1%D1%8A%D0%B5%D0%BA%D1%82%D0%BE%D0%B2&amp;action=edit&amp;redlink=1" TargetMode="External"/><Relationship Id="rId21" Type="http://schemas.openxmlformats.org/officeDocument/2006/relationships/hyperlink" Target="https://ru.wikipedia.org/wiki/%D0%A1%D0%B8%D1%81%D1%82%D0%B5%D0%BC%D0%B0_%D1%83%D0%BF%D1%80%D0%B0%D0%B2%D0%BB%D0%B5%D0%BD%D0%B8%D1%8F_%D1%81%D0%BE%D0%B4%D0%B5%D1%80%D0%B6%D0%B8%D0%BC%D1%8B%D0%BC" TargetMode="External"/><Relationship Id="rId34" Type="http://schemas.openxmlformats.org/officeDocument/2006/relationships/hyperlink" Target="https://en.wikipedia.org/wiki/Service-oriented_architecture" TargetMode="External"/><Relationship Id="rId7" Type="http://schemas.openxmlformats.org/officeDocument/2006/relationships/hyperlink" Target="https://ru.wikipedia.org/wiki/%D0%91%D0%B0%D0%B7%D0%B0_%D0%B4%D0%B0%D0%BD%D0%BD%D1%8B%D1%85" TargetMode="External"/><Relationship Id="rId12" Type="http://schemas.openxmlformats.org/officeDocument/2006/relationships/hyperlink" Target="https://ru.wikipedia.org/wiki/%D0%9E%D0%BF%D0%B5%D1%80%D0%B0%D1%86%D0%B8%D0%BE%D0%BD%D0%BD%D0%B0%D1%8F_%D1%81%D0%B8%D1%81%D1%82%D0%B5%D0%BC%D0%B0" TargetMode="External"/><Relationship Id="rId17" Type="http://schemas.openxmlformats.org/officeDocument/2006/relationships/hyperlink" Target="https://ru.wikipedia.org/wiki/%D0%98%D0%BD%D1%84%D0%BE%D1%80%D0%BC%D0%B0%D1%86%D0%B8%D0%BE%D0%BD%D0%BD%D0%B0%D1%8F_%D0%B8%D0%BD%D1%84%D1%80%D0%B0%D1%81%D1%82%D1%80%D1%83%D0%BA%D1%82%D1%83%D1%80%D0%B0" TargetMode="External"/><Relationship Id="rId25" Type="http://schemas.openxmlformats.org/officeDocument/2006/relationships/hyperlink" Target="https://ru.wikipedia.org/wiki/%D0%A1%D0%B5%D1%80%D0%B2%D0%B8%D1%81%D0%BD%D0%BE-%D0%BE%D1%80%D0%B8%D0%B5%D0%BD%D1%82%D0%B8%D1%80%D0%BE%D0%B2%D0%B0%D0%BD%D0%BD%D0%B0%D1%8F_%D0%B0%D1%80%D1%85%D0%B8%D1%82%D0%B5%D0%BA%D1%82%D1%83%D1%80%D0%B0" TargetMode="External"/><Relationship Id="rId33" Type="http://schemas.openxmlformats.org/officeDocument/2006/relationships/hyperlink" Target="https://en.wikipedia.org/wiki/Web_service" TargetMode="External"/><Relationship Id="rId2" Type="http://schemas.openxmlformats.org/officeDocument/2006/relationships/slide" Target="../slides/slide5.xml"/><Relationship Id="rId16" Type="http://schemas.openxmlformats.org/officeDocument/2006/relationships/hyperlink" Target="https://ru.wikipedia.org/wiki/%D0%A1%D0%B2%D1%8F%D0%B7%D1%83%D1%8E%D1%89%D0%B5%D0%B5_%D0%BF%D1%80%D0%BE%D0%B3%D1%80%D0%B0%D0%BC%D0%BC%D0%BD%D0%BE%D0%B5_%D0%BE%D0%B1%D0%B5%D1%81%D0%BF%D0%B5%D1%87%D0%B5%D0%BD%D0%B8%D0%B5#cite_note-10" TargetMode="External"/><Relationship Id="rId20" Type="http://schemas.openxmlformats.org/officeDocument/2006/relationships/hyperlink" Target="https://ru.wikipedia.org/wiki/%D0%A1%D0%B5%D1%80%D0%B2%D0%B8%D1%81%D0%BD%D0%B0%D1%8F_%D1%88%D0%B8%D0%BD%D0%B0_%D0%BF%D1%80%D0%B5%D0%B4%D0%BF%D1%80%D0%B8%D1%8F%D1%82%D0%B8%D1%8F" TargetMode="External"/><Relationship Id="rId29" Type="http://schemas.openxmlformats.org/officeDocument/2006/relationships/hyperlink" Target="https://en.wikipedia.org/wiki/Software_developer" TargetMode="Externa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ru.wikipedia.org/wiki/%D0%9A%D0%BB%D0%B8%D0%B5%D0%BD%D1%82_(%D0%B8%D0%BD%D1%84%D0%BE%D1%80%D0%BC%D0%B0%D1%82%D0%B8%D0%BA%D0%B0)" TargetMode="External"/><Relationship Id="rId11" Type="http://schemas.openxmlformats.org/officeDocument/2006/relationships/hyperlink" Target="https://ru.wikipedia.org/wiki/%D0%A1%D0%B2%D1%8F%D0%B7%D1%83%D1%8E%D1%89%D0%B5%D0%B5_%D0%BF%D1%80%D0%BE%D0%B3%D1%80%D0%B0%D0%BC%D0%BC%D0%BD%D0%BE%D0%B5_%D0%BE%D0%B1%D0%B5%D1%81%D0%BF%D0%B5%D1%87%D0%B5%D0%BD%D0%B8%D0%B5#cite_note-7" TargetMode="External"/><Relationship Id="rId24" Type="http://schemas.openxmlformats.org/officeDocument/2006/relationships/hyperlink" Target="https://ru.wikipedia.org/wiki/%D0%92%D0%B5%D0%B1-%D1%81%D0%B5%D1%80%D0%B2%D0%B8%D1%81" TargetMode="External"/><Relationship Id="rId32" Type="http://schemas.openxmlformats.org/officeDocument/2006/relationships/hyperlink" Target="https://en.wikipedia.org/wiki/SOAP" TargetMode="External"/><Relationship Id="rId5" Type="http://schemas.openxmlformats.org/officeDocument/2006/relationships/hyperlink" Target="https://ru.wikipedia.org/wiki/%D0%9F%D1%80%D0%BE%D0%BC%D0%B5%D0%B6%D1%83%D1%82%D0%BE%D1%87%D0%BD%D0%BE%D0%B5_%D0%BF%D1%80%D0%BE%D0%B3%D1%80%D0%B0%D0%BC%D0%BC%D0%BD%D0%BE%D0%B5_%D0%BE%D0%B1%D0%B5%D1%81%D0%BF%D0%B5%D1%87%D0%B5%D0%BD%D0%B8%D0%B5,_%D0%BE%D1%80%D0%B8%D0%B5%D0%BD%D1%82%D0%B8%D1%80%D0%BE%D0%B2%D0%B0%D0%BD%D0%BD%D0%BE%D0%B5_%D0%BD%D0%B0_%D0%BE%D0%B1%D1%80%D0%B0%D0%B1%D0%BE%D1%82%D0%BA%D1%83_%D1%81%D0%BE%D0%BE%D0%B1%D1%89%D0%B5%D0%BD%D0%B8%D0%B9" TargetMode="External"/><Relationship Id="rId15" Type="http://schemas.openxmlformats.org/officeDocument/2006/relationships/hyperlink" Target="https://ru.wikipedia.org/wiki/%D0%A1%D0%B2%D1%8F%D0%B7%D1%83%D1%8E%D1%89%D0%B5%D0%B5_%D0%BF%D1%80%D0%BE%D0%B3%D1%80%D0%B0%D0%BC%D0%BC%D0%BD%D0%BE%D0%B5_%D0%BE%D0%B1%D0%B5%D1%81%D0%BF%D0%B5%D1%87%D0%B5%D0%BD%D0%B8%D0%B5#cite_note-9" TargetMode="External"/><Relationship Id="rId23" Type="http://schemas.openxmlformats.org/officeDocument/2006/relationships/hyperlink" Target="https://ru.wikipedia.org/wiki/SOAP" TargetMode="External"/><Relationship Id="rId28" Type="http://schemas.openxmlformats.org/officeDocument/2006/relationships/hyperlink" Target="https://en.wikipedia.org/wiki/Operating_system" TargetMode="External"/><Relationship Id="rId10" Type="http://schemas.openxmlformats.org/officeDocument/2006/relationships/hyperlink" Target="https://ru.wikipedia.org/wiki/%D0%9F%D1%80%D0%B8%D0%BA%D0%BB%D0%B0%D0%B4%D0%BD%D0%BE%D0%B5_%D0%BF%D1%80%D0%BE%D0%B3%D1%80%D0%B0%D0%BC%D0%BC%D0%BD%D0%BE%D0%B5_%D0%BE%D0%B1%D0%B5%D1%81%D0%BF%D0%B5%D1%87%D0%B5%D0%BD%D0%B8%D0%B5" TargetMode="External"/><Relationship Id="rId19" Type="http://schemas.openxmlformats.org/officeDocument/2006/relationships/hyperlink" Target="https://ru.wikipedia.org/wiki/%D0%A1%D0%B5%D1%80%D0%B2%D0%B5%D1%80_%D0%BF%D1%80%D0%B8%D0%BB%D0%BE%D0%B6%D0%B5%D0%BD%D0%B8%D0%B9" TargetMode="External"/><Relationship Id="rId31" Type="http://schemas.openxmlformats.org/officeDocument/2006/relationships/hyperlink" Target="https://en.wikipedia.org/wiki/XML" TargetMode="External"/><Relationship Id="rId4" Type="http://schemas.openxmlformats.org/officeDocument/2006/relationships/hyperlink" Target="https://ru.wikipedia.org/wiki/%D0%92%D1%8B%D0%B7%D0%BE%D0%B2_%D1%83%D0%B4%D0%B0%D0%BB%D1%91%D0%BD%D0%BD%D1%8B%D1%85_%D0%BF%D1%80%D0%BE%D1%86%D0%B5%D0%B4%D1%83%D1%80" TargetMode="External"/><Relationship Id="rId9" Type="http://schemas.openxmlformats.org/officeDocument/2006/relationships/hyperlink" Target="https://ru.wikipedia.org/wiki/%D0%A1%D0%B8%D1%81%D1%82%D0%B5%D0%BC%D0%BD%D0%BE%D0%B5_%D0%BF%D1%80%D0%BE%D0%B3%D1%80%D0%B0%D0%BC%D0%BC%D0%BD%D0%BE%D0%B5_%D0%BE%D0%B1%D0%B5%D1%81%D0%BF%D0%B5%D1%87%D0%B5%D0%BD%D0%B8%D0%B5" TargetMode="External"/><Relationship Id="rId14" Type="http://schemas.openxmlformats.org/officeDocument/2006/relationships/hyperlink" Target="https://ru.wikipedia.org/wiki/%D0%9A%D0%BE%D0%BC%D0%BF%D1%8C%D1%8E%D1%82%D0%B5%D1%80%D0%BD%D0%B0%D1%8F_%D1%81%D0%B5%D1%82%D1%8C" TargetMode="External"/><Relationship Id="rId22" Type="http://schemas.openxmlformats.org/officeDocument/2006/relationships/hyperlink" Target="https://ru.wikipedia.org/wiki/XML" TargetMode="External"/><Relationship Id="rId27" Type="http://schemas.openxmlformats.org/officeDocument/2006/relationships/hyperlink" Target="https://en.wikipedia.org/wiki/Software_application" TargetMode="External"/><Relationship Id="rId30" Type="http://schemas.openxmlformats.org/officeDocument/2006/relationships/hyperlink" Target="https://en.wikipedia.org/wiki/Input/output" TargetMode="External"/><Relationship Id="rId35" Type="http://schemas.openxmlformats.org/officeDocument/2006/relationships/hyperlink" Target="https://en.wikipedia.org/wiki/LDAP" TargetMode="External"/><Relationship Id="rId8" Type="http://schemas.openxmlformats.org/officeDocument/2006/relationships/hyperlink" Target="https://ru.wikipedia.org/wiki/%D0%A1%D0%B2%D1%8F%D0%B7%D1%83%D1%8E%D1%89%D0%B5%D0%B5_%D0%BF%D1%80%D0%BE%D0%B3%D1%80%D0%B0%D0%BC%D0%BC%D0%BD%D0%BE%D0%B5_%D0%BE%D0%B1%D0%B5%D1%81%D0%BF%D0%B5%D1%87%D0%B5%D0%BD%D0%B8%D0%B5#cite_note-6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CC2F3-305D-42AA-B8BD-1602F8061B64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97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Разработка программного обеспечения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7577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Переход к распределенным вычислениям и обработке информации, при которых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различные вычислительные процессы выполняются на разных компьютерах и средах,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их разработки применяются разные ЯП и механизмы взаимодействия между собою отдельных программных объектов;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Широкое распространение готовых компонентов разного назначения и их применение в процессе разработки новых ПС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 условии соответствия определенным требованиям к структуре, интерфейсам и правилам интеграции;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Взаимодействие с системными средствами</a:t>
            </a:r>
            <a:r>
              <a:rPr lang="en-US" baseline="0" dirty="0"/>
              <a:t> (???)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aseline="0" dirty="0"/>
              <a:t>Работают в промежуточных средах (</a:t>
            </a:r>
            <a:r>
              <a:rPr lang="en-US" baseline="0" dirty="0"/>
              <a:t>middleware</a:t>
            </a:r>
            <a:r>
              <a:rPr lang="ru-RU" baseline="0" dirty="0"/>
              <a:t>)</a:t>
            </a:r>
            <a:endParaRPr lang="en-US" baseline="0" dirty="0"/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--------------------------</a:t>
            </a:r>
          </a:p>
          <a:p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Связу́ющее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програ́ммное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обеспе́чение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промежу́точное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среднего слоя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подпрогра́ммное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обеспечение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межплатфо́рменное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— широко используемый термин, означающий слой или 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набор технологического ПО для обеспечения взаимодействия между различными приложениями, системами, компонентами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Имеются несколько основных разновидностей связующего программного обеспечения: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Система распределённых объектов (страница отсутствует)"/>
              </a:rPr>
              <a:t>система распределённых объектов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или технологии распределённых объектов (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technology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DOT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ориентированное на базы данных (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access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мониторы транзакций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Вызов удалённых процедур"/>
              </a:rPr>
              <a:t>вызов удалённых процедур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(RPC,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remote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procedure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Промежуточное программное обеспечение, ориентированное на обработку сообщений"/>
              </a:rPr>
              <a:t>ориентированное на обработку сообщений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(MOM,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message-oriented</a:t>
            </a:r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реди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современных частных трактовок наиболее употребляемые толкования термина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слой для взаимодействия между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Клиент (информатика)"/>
              </a:rPr>
              <a:t>клиентскими частями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программного обеспечения и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База данных"/>
              </a:rPr>
              <a:t>базами данных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/>
              </a:rPr>
              <a:t>[6]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программное обеспечение для взаимодействия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Системное программное обеспечение"/>
              </a:rPr>
              <a:t>системного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Прикладное программное обеспечение"/>
              </a:rPr>
              <a:t>прикладного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программного обеспечения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/>
              </a:rPr>
              <a:t>[7]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программная прослойка между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 tooltip="Операционная система"/>
              </a:rPr>
              <a:t>операционными системами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Прикладное программное обеспечение"/>
              </a:rPr>
              <a:t>прикладным программным обеспечением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3"/>
              </a:rPr>
              <a:t>[8]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программное обеспечение для взаимодействия прикладного программного обеспечения с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4" tooltip="Компьютерная сеть"/>
              </a:rPr>
              <a:t>сетью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обеспечивающее унификацию взаимодействия между программами в условиях неоднородности вычислительных платформ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5"/>
              </a:rPr>
              <a:t>[9]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программное обеспечение для взаимодействия различных компонентов программ и баз данных</a:t>
            </a:r>
            <a:r>
              <a:rPr lang="ru-RU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6"/>
              </a:rPr>
              <a:t>[10]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наиболее общем случае, термин </a:t>
            </a:r>
            <a:r>
              <a:rPr lang="ru-RU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часто используют для обозначения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7" tooltip="Информационная инфраструктура"/>
              </a:rPr>
              <a:t>инфраструктуры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8" tooltip="Веб-сервер"/>
              </a:rPr>
              <a:t>веб-серверов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9" tooltip="Сервер приложений"/>
              </a:rPr>
              <a:t>серверов приложений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мониторов транзакций,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0" tooltip="Сервисная шина предприятия"/>
              </a:rPr>
              <a:t>сервисных шин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1" tooltip="Система управления содержимым"/>
              </a:rPr>
              <a:t>систем управления содержимым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Промежуточное ПО составляет ядро современных ИТ-решений основанных на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2" tooltip="XML"/>
              </a:rPr>
              <a:t>XML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3" tooltip="SOAP"/>
              </a:rPr>
              <a:t>SOAP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4" tooltip="Веб-сервис"/>
              </a:rPr>
              <a:t>веб-сервисах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 </a:t>
            </a:r>
            <a:r>
              <a:rPr lang="ru-RU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5" tooltip="Сервисно-ориентированная архитектура"/>
              </a:rPr>
              <a:t>сервисно</a:t>
            </a:r>
            <a:r>
              <a:rPr lang="ru-RU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5" tooltip="Сервисно-ориентированная архитектура"/>
              </a:rPr>
              <a:t>-ориентированной архитектуре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computer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6" tooltip="Software"/>
              </a:rPr>
              <a:t>software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provides services to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7" tooltip="Software application"/>
              </a:rPr>
              <a:t>software applications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beyond those available from the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8" tooltip="Operating system"/>
              </a:rPr>
              <a:t>operating system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can be described as "software glue".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ru-RU" sz="1200" b="0" i="0" u="none" strike="noStrike" kern="1200" baseline="300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 makes it easier for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29" tooltip="Software developer"/>
              </a:rPr>
              <a:t>software developers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perform communication and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0" tooltip="Input/output"/>
              </a:rPr>
              <a:t>input/output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so they can focus on the specific purpose of their application. 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 is the software that connects software components or enterprise applications. 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 is the software layer that lies between the operating system and the applications on each side of a distributed computer network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Typically, it supports complex, distributed business software applications.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 includes Web servers, application servers, content management systems, and similar tools that support application development and delivery. 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especially integral to information technology based on 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Extensible Markup Language (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1" tooltip="XML"/>
              </a:rPr>
              <a:t>XML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 Object Access Protocol (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2" tooltip="SOAP"/>
              </a:rPr>
              <a:t>SOAP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 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3" tooltip="Web service"/>
              </a:rPr>
              <a:t>Web services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4" tooltip="Service-oriented architecture"/>
              </a:rPr>
              <a:t>SOA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 2.0 infrastructure, 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Lightweight Directory Access Protocol (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5" tooltip="LDAP"/>
              </a:rPr>
              <a:t>LDAP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495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</a:t>
            </a:r>
            <a:r>
              <a:rPr lang="en-US" baseline="0" dirty="0"/>
              <a:t> ???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495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Диаграмма развертывания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показывает топологию системы и распределение компонентов системы по ее узлам, а также соединения - маршруты передачи информации между аппаратными узлами.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единственная диаграмма, на которой применяются "трехмерные" обозначения: узлы системы обозначаются кубиками. Все остальные обозначения в UML - плоские фигуры.</a:t>
            </a:r>
          </a:p>
          <a:p>
            <a:endParaRPr lang="ru-RU" dirty="0"/>
          </a:p>
          <a:p>
            <a:r>
              <a:rPr lang="ru-RU" dirty="0"/>
              <a:t>24.3. Диаграмма развертывания</a:t>
            </a:r>
          </a:p>
          <a:p>
            <a:endParaRPr lang="ru-RU" dirty="0"/>
          </a:p>
          <a:p>
            <a:r>
              <a:rPr lang="ru-RU" dirty="0"/>
              <a:t>В UML развертывание – это процесс распределения артефактов по узлам или экземпляров артефактов по экземплярам узлов. </a:t>
            </a:r>
          </a:p>
          <a:p>
            <a:endParaRPr lang="ru-RU" dirty="0"/>
          </a:p>
          <a:p>
            <a:r>
              <a:rPr lang="ru-RU" dirty="0"/>
              <a:t>Скоро мы перейдем к подробному обсуждению артефактов и узлов.</a:t>
            </a:r>
          </a:p>
          <a:p>
            <a:endParaRPr lang="ru-RU" dirty="0"/>
          </a:p>
          <a:p>
            <a:r>
              <a:rPr lang="ru-RU" b="1" dirty="0"/>
              <a:t>Диаграмма развертывания проецирует программную архитектуру на аппаратную архитектуру.</a:t>
            </a:r>
          </a:p>
          <a:p>
            <a:endParaRPr lang="ru-RU" dirty="0"/>
          </a:p>
          <a:p>
            <a:r>
              <a:rPr lang="ru-RU" dirty="0"/>
              <a:t>Диаграмма развертывания определяет физическое оборудование, на котором будет выполняться программная система, а также описывает, как программное обеспечение развертывается на это оборудование.</a:t>
            </a:r>
          </a:p>
          <a:p>
            <a:endParaRPr lang="ru-RU" dirty="0"/>
          </a:p>
          <a:p>
            <a:r>
              <a:rPr lang="ru-RU" dirty="0"/>
              <a:t>Диаграмма развертывания проецирует программную архитектуру, созданную при проектировании, на исполняющую ее физическую архитектуру системы. </a:t>
            </a:r>
          </a:p>
          <a:p>
            <a:endParaRPr lang="ru-RU" dirty="0"/>
          </a:p>
          <a:p>
            <a:r>
              <a:rPr lang="ru-RU" dirty="0"/>
              <a:t>В распределенных системах она моделирует распределение программного обеспечения по физическим узлам.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8C8E2D-4C2C-4D8F-8D35-677AC748C891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401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24.5. Артефакты (Результаты)</a:t>
            </a:r>
          </a:p>
          <a:p>
            <a:endParaRPr lang="ru-RU" dirty="0"/>
          </a:p>
          <a:p>
            <a:r>
              <a:rPr lang="ru-RU" dirty="0"/>
              <a:t>Артефакт представляет описание реальной сущности, например, такой как файл.</a:t>
            </a:r>
          </a:p>
          <a:p>
            <a:endParaRPr lang="ru-RU" dirty="0"/>
          </a:p>
          <a:p>
            <a:r>
              <a:rPr lang="ru-RU" dirty="0"/>
              <a:t>Артефакт представляет описание конкретной, реальной сущности, такой как исходный файл </a:t>
            </a:r>
            <a:r>
              <a:rPr lang="ru-RU" dirty="0" err="1"/>
              <a:t>BankAccount.java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Артефакты развертываются на узлах. </a:t>
            </a:r>
          </a:p>
          <a:p>
            <a:endParaRPr lang="ru-RU" dirty="0"/>
          </a:p>
          <a:p>
            <a:r>
              <a:rPr lang="ru-RU" dirty="0"/>
              <a:t>Некоторые примеры артефактов:</a:t>
            </a:r>
          </a:p>
          <a:p>
            <a:r>
              <a:rPr lang="ru-RU" dirty="0"/>
              <a:t>• исходные файлы;</a:t>
            </a:r>
          </a:p>
          <a:p>
            <a:r>
              <a:rPr lang="ru-RU" dirty="0"/>
              <a:t>• исполняемые файлы;</a:t>
            </a:r>
          </a:p>
          <a:p>
            <a:r>
              <a:rPr lang="ru-RU" dirty="0"/>
              <a:t>• сценарии;</a:t>
            </a:r>
          </a:p>
          <a:p>
            <a:r>
              <a:rPr lang="ru-RU" dirty="0"/>
              <a:t>• таблицы баз данных;</a:t>
            </a:r>
          </a:p>
          <a:p>
            <a:r>
              <a:rPr lang="ru-RU" dirty="0"/>
              <a:t>• документы;</a:t>
            </a:r>
          </a:p>
          <a:p>
            <a:r>
              <a:rPr lang="ru-RU" dirty="0"/>
              <a:t>• результаты процесса разработки, например UMLмодель.</a:t>
            </a:r>
          </a:p>
          <a:p>
            <a:endParaRPr lang="ru-RU" dirty="0"/>
          </a:p>
          <a:p>
            <a:r>
              <a:rPr lang="ru-RU" dirty="0"/>
              <a:t>======================================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Традиционные артефакты, создаваемые в процессе разработки: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технико-экономическое обоснование проекта,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 и видео интервью и семинаров при выработке требований к проекту,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документ требований,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документы этапа проектирования,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презентации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Point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 будущему развитию системы,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электронная переписка</a:t>
            </a: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UML-диаграммы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8C8E2D-4C2C-4D8F-8D35-677AC748C891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9788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0" dirty="0"/>
              <a:t>Рис. 24.6. Артефакт </a:t>
            </a:r>
            <a:r>
              <a:rPr lang="en-US" b="0" dirty="0"/>
              <a:t>librarySystem.jar </a:t>
            </a:r>
            <a:r>
              <a:rPr lang="ru-RU" b="0" dirty="0"/>
              <a:t>представляет три компонента: </a:t>
            </a:r>
            <a:r>
              <a:rPr lang="en-US" b="0" dirty="0"/>
              <a:t>Book, Library </a:t>
            </a:r>
            <a:r>
              <a:rPr lang="ru-RU" b="0" dirty="0"/>
              <a:t>и </a:t>
            </a:r>
            <a:r>
              <a:rPr lang="en-US" b="0" dirty="0"/>
              <a:t>Ticket</a:t>
            </a:r>
            <a:endParaRPr lang="ru-RU" b="0" dirty="0"/>
          </a:p>
          <a:p>
            <a:endParaRPr lang="ru-RU" b="1" dirty="0"/>
          </a:p>
          <a:p>
            <a:r>
              <a:rPr lang="ru-RU" b="1" dirty="0"/>
              <a:t>Экземпляр артефакта представляет конкретный экземпляр конкретного артефакта.</a:t>
            </a:r>
          </a:p>
          <a:p>
            <a:endParaRPr lang="ru-RU" dirty="0"/>
          </a:p>
          <a:p>
            <a:r>
              <a:rPr lang="ru-RU" dirty="0"/>
              <a:t>Экземпляр артефакта представляет определенный экземпляр конкретного артефакта, например определенную копию файла </a:t>
            </a:r>
            <a:r>
              <a:rPr lang="ru-RU" dirty="0" err="1"/>
              <a:t>BankAccount.java</a:t>
            </a:r>
            <a:r>
              <a:rPr lang="ru-RU" dirty="0"/>
              <a:t>, развернутую на конкретном компьютере. </a:t>
            </a:r>
          </a:p>
          <a:p>
            <a:endParaRPr lang="ru-RU" dirty="0"/>
          </a:p>
          <a:p>
            <a:r>
              <a:rPr lang="ru-RU" dirty="0"/>
              <a:t>Экземпляры артефактов развертываются на экземплярах узлов.</a:t>
            </a:r>
          </a:p>
          <a:p>
            <a:endParaRPr lang="ru-RU" dirty="0"/>
          </a:p>
          <a:p>
            <a:r>
              <a:rPr lang="ru-RU" dirty="0"/>
              <a:t>Артефакты могут представлять один или более компонентов.</a:t>
            </a:r>
          </a:p>
          <a:p>
            <a:endParaRPr lang="ru-RU" dirty="0"/>
          </a:p>
          <a:p>
            <a:r>
              <a:rPr lang="ru-RU" dirty="0"/>
              <a:t>Артефакты могут обеспечивать физическое представление </a:t>
            </a:r>
            <a:r>
              <a:rPr lang="ru-RU" dirty="0" err="1"/>
              <a:t>UMLэлементов</a:t>
            </a:r>
            <a:r>
              <a:rPr lang="ru-RU" dirty="0"/>
              <a:t> любого типа. </a:t>
            </a:r>
          </a:p>
          <a:p>
            <a:endParaRPr lang="ru-RU" dirty="0"/>
          </a:p>
          <a:p>
            <a:r>
              <a:rPr lang="ru-RU" dirty="0"/>
              <a:t>Обычно они представляют один или более компонентов, как проиллюстрировано на рис. 24.6. </a:t>
            </a:r>
          </a:p>
          <a:p>
            <a:endParaRPr lang="ru-RU" dirty="0"/>
          </a:p>
          <a:p>
            <a:r>
              <a:rPr lang="ru-RU" dirty="0"/>
              <a:t>Здесь показан артефакт </a:t>
            </a:r>
            <a:r>
              <a:rPr lang="ru-RU" dirty="0" err="1"/>
              <a:t>librarySystem.jar</a:t>
            </a:r>
            <a:r>
              <a:rPr lang="ru-RU" dirty="0"/>
              <a:t>, который представляет три компонента типа «</a:t>
            </a:r>
            <a:r>
              <a:rPr lang="ru-RU" dirty="0" err="1"/>
              <a:t>whitebox</a:t>
            </a:r>
            <a:r>
              <a:rPr lang="ru-RU" dirty="0"/>
              <a:t>» (учитывающих внутреннюю структуру) – </a:t>
            </a:r>
            <a:r>
              <a:rPr lang="ru-RU" dirty="0" err="1"/>
              <a:t>Book</a:t>
            </a:r>
            <a:r>
              <a:rPr lang="ru-RU" dirty="0"/>
              <a:t>, </a:t>
            </a:r>
            <a:r>
              <a:rPr lang="ru-RU" dirty="0" err="1"/>
              <a:t>Library</a:t>
            </a:r>
            <a:r>
              <a:rPr lang="ru-RU" dirty="0"/>
              <a:t> и </a:t>
            </a:r>
            <a:r>
              <a:rPr lang="ru-RU" dirty="0" err="1"/>
              <a:t>Ticket</a:t>
            </a:r>
            <a:r>
              <a:rPr lang="ru-RU" dirty="0"/>
              <a:t>. </a:t>
            </a:r>
          </a:p>
          <a:p>
            <a:endParaRPr lang="ru-RU" dirty="0"/>
          </a:p>
          <a:p>
            <a:r>
              <a:rPr lang="ru-RU" dirty="0"/>
              <a:t>Артефакты помечены стереотипом «</a:t>
            </a:r>
            <a:r>
              <a:rPr lang="ru-RU" dirty="0" err="1"/>
              <a:t>artifact</a:t>
            </a:r>
            <a:r>
              <a:rPr lang="ru-RU" dirty="0"/>
              <a:t>». </a:t>
            </a:r>
          </a:p>
          <a:p>
            <a:endParaRPr lang="ru-RU" dirty="0"/>
          </a:p>
          <a:p>
            <a:r>
              <a:rPr lang="ru-RU" dirty="0"/>
              <a:t>В верхнем правом углу артефакта может располагаться пиктограмма артефакта, как показано на рисунке. </a:t>
            </a:r>
          </a:p>
          <a:p>
            <a:endParaRPr lang="ru-RU" dirty="0"/>
          </a:p>
          <a:p>
            <a:r>
              <a:rPr lang="ru-RU" dirty="0"/>
              <a:t>Здесь также проиллюстрирован тот факт, что артефакты могут зависеть от других артефактов. </a:t>
            </a:r>
          </a:p>
          <a:p>
            <a:endParaRPr lang="ru-RU" dirty="0"/>
          </a:p>
          <a:p>
            <a:r>
              <a:rPr lang="ru-RU" dirty="0"/>
              <a:t>В данном случае артефакт </a:t>
            </a:r>
            <a:r>
              <a:rPr lang="ru-RU" dirty="0" err="1"/>
              <a:t>librarySystem.jar</a:t>
            </a:r>
            <a:r>
              <a:rPr lang="ru-RU" dirty="0"/>
              <a:t> зависит от артефакта </a:t>
            </a:r>
            <a:r>
              <a:rPr lang="ru-RU" dirty="0" err="1"/>
              <a:t>jdom.jar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Наряду с именем в спецификации каждого артефакта есть имя файла (</a:t>
            </a:r>
            <a:r>
              <a:rPr lang="ru-RU" dirty="0" err="1"/>
              <a:t>filename</a:t>
            </a:r>
            <a:r>
              <a:rPr lang="ru-RU" dirty="0"/>
              <a:t>), указывающее физическое местоположение артефакта. </a:t>
            </a:r>
          </a:p>
          <a:p>
            <a:endParaRPr lang="ru-RU" dirty="0"/>
          </a:p>
          <a:p>
            <a:r>
              <a:rPr lang="ru-RU" dirty="0"/>
              <a:t>Например, </a:t>
            </a:r>
            <a:r>
              <a:rPr lang="ru-RU" dirty="0" err="1"/>
              <a:t>filename</a:t>
            </a:r>
            <a:r>
              <a:rPr lang="ru-RU" dirty="0"/>
              <a:t> могло бы определять URL, по которому находится оригинал артефакта. </a:t>
            </a:r>
          </a:p>
          <a:p>
            <a:endParaRPr lang="ru-RU" dirty="0"/>
          </a:p>
          <a:p>
            <a:r>
              <a:rPr lang="ru-RU" dirty="0"/>
              <a:t>Имена файлов экземпляров артефактов указывают на физическое местоположение экземпляра.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8C8E2D-4C2C-4D8F-8D35-677AC748C891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9717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 Release &amp; Deployment For Dummies®, IBM Limited Edition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Published by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John Wiley &amp; Sons, Inc.</a:t>
            </a:r>
            <a:endParaRPr lang="ru-RU" sz="1200" b="1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1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1-1: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four basic environments of SDLC.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Traditionally,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deployment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defined as the promotion of components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one environment to the next.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encompasses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deployment of a whole application or multiple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integrated applications to production.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Release and deployment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 but have the same objective: to deliver quality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applications.</a:t>
            </a:r>
            <a:endParaRPr lang="ru-RU" b="1" i="1" dirty="0"/>
          </a:p>
          <a:p>
            <a:endParaRPr lang="ru-RU" b="1" i="1" dirty="0"/>
          </a:p>
          <a:p>
            <a:r>
              <a:rPr lang="en-US" b="1" i="1" dirty="0"/>
              <a:t>delivery</a:t>
            </a:r>
            <a:r>
              <a:rPr lang="ru-RU" b="1" i="1" dirty="0"/>
              <a:t> </a:t>
            </a:r>
            <a:r>
              <a:rPr lang="en-US" b="1" i="1" dirty="0"/>
              <a:t>pipeline</a:t>
            </a:r>
            <a:r>
              <a:rPr lang="en-US" dirty="0"/>
              <a:t>, which consists of multiple environments — deployment</a:t>
            </a:r>
            <a:r>
              <a:rPr lang="ru-RU" dirty="0"/>
              <a:t> </a:t>
            </a:r>
            <a:r>
              <a:rPr lang="en-US" dirty="0"/>
              <a:t>targets for a set of items that work together toward</a:t>
            </a:r>
            <a:r>
              <a:rPr lang="ru-RU" dirty="0"/>
              <a:t> </a:t>
            </a:r>
            <a:r>
              <a:rPr lang="en-US" dirty="0"/>
              <a:t>a common goal. </a:t>
            </a:r>
            <a:endParaRPr lang="ru-RU" dirty="0"/>
          </a:p>
          <a:p>
            <a:endParaRPr lang="ru-RU" dirty="0"/>
          </a:p>
          <a:p>
            <a:r>
              <a:rPr lang="en-US" dirty="0"/>
              <a:t>Environments build on one another to</a:t>
            </a:r>
            <a:r>
              <a:rPr lang="ru-RU" dirty="0"/>
              <a:t> </a:t>
            </a:r>
            <a:r>
              <a:rPr lang="en-US" dirty="0"/>
              <a:t>increase the quality of an application before it reaches its</a:t>
            </a:r>
            <a:r>
              <a:rPr lang="ru-RU" dirty="0"/>
              <a:t> </a:t>
            </a:r>
            <a:r>
              <a:rPr lang="en-US" dirty="0"/>
              <a:t>intended user. </a:t>
            </a:r>
            <a:endParaRPr lang="ru-RU" dirty="0"/>
          </a:p>
          <a:p>
            <a:r>
              <a:rPr lang="en-US" dirty="0"/>
              <a:t>Applications don’t have to go through a set</a:t>
            </a:r>
            <a:r>
              <a:rPr lang="ru-RU" dirty="0"/>
              <a:t> </a:t>
            </a:r>
            <a:r>
              <a:rPr lang="en-US" dirty="0"/>
              <a:t>number of environments, but we’ve noticed four fairly typical</a:t>
            </a:r>
            <a:r>
              <a:rPr lang="ru-RU" dirty="0"/>
              <a:t> </a:t>
            </a:r>
            <a:r>
              <a:rPr lang="en-US" dirty="0"/>
              <a:t>environments:</a:t>
            </a:r>
            <a:endParaRPr lang="ru-RU" dirty="0"/>
          </a:p>
          <a:p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 (DEV): </a:t>
            </a:r>
            <a:endParaRPr lang="ru-RU" sz="1200" b="1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environment,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developers build and deploy code in a test lab, and the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development team tests the application at the most basic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level.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the application meets certain criteria for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advancement, it moves to the next environment.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1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 Integration Testing (SIT): </a:t>
            </a:r>
            <a:endParaRPr lang="ru-RU" sz="1200" b="1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</a:t>
            </a:r>
            <a:r>
              <a:rPr lang="ru-RU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Integration Testing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environment, the application is tested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ensure that it works with existing applications and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systems.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the application meets the criteria of this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environment, it’s deployed to the next environment.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Acceptance Testing (UAT): </a:t>
            </a:r>
            <a:endParaRPr lang="ru-RU" sz="1200" b="1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 Acceptance</a:t>
            </a:r>
            <a:r>
              <a:rPr lang="ru-RU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Testing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environment, the application is tested to ensure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it provides the required features for end users.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 usually is production-like (see Chapter 3).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the application passes these requirements, it’s promoted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the final environment.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Production (PROD): </a:t>
            </a:r>
            <a:endParaRPr lang="ru-RU" sz="1200" b="1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Production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environment,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application is made available to users.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Feedback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(see the nearby sidebar) is captured by monitoring the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application’s availability and functionality.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Any updates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patches are introduced in the DEV environment and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follow the same cycle.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632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3–4</a:t>
            </a:r>
            <a:r>
              <a:rPr lang="ru-RU" sz="12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Example of a system test</a:t>
            </a:r>
            <a:r>
              <a:rPr lang="ru-RU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471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Внедрение программного обеспечения (на англ.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процесс настройки программного обеспечения под определенные условия использования, а также обучения пользователей работе с программным продуктом.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внедрении программного обеспечения требуется действие в трех следующих плоскостях работ.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Первая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из них – это выделение критических, с точки зрения общего результата, процедур в деятельности организации. Когда набор таких процедур определен, необходимо в первую очередь использовать ИТ-решение для автоматизации операций внутри именно этих процедур. Таким образом, разработанное ИТ-решение автоматически становится жизненно важным и востребованным для организации, а также будет обеспечена публичность процесса внедрения.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Вторая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плоскость работ – это по своей сути расширение нормативной базы организации путем включения в нее регламентов, описывающих порядок выполнения процедур автоматизируемых процессов. В противном случае есть опасность возникновения рассогласования между автоматизированными процедурами и остальными процессами организации.</a:t>
            </a: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Третья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– это выполнение работ по общей стандартизации существующей деятельности организации, когда выделяются лучшие практики выполнения процедур и включаются в ИТ-решение по принципу наибольшей полезности для большинства участников. Процент таких процедур относительно общего объема автоматизации может быть невелик, но это придает процессу построения решения вес в организации за счет увеличения его «полезности»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59958-8B4D-475C-A169-48E142B4E3F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8545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Выполнение внедрения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пилотное внедрение программного продукта,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 рабочих мест,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первичное обучение специалистов заказчика по работе с ПО.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расширение нормативной базы организации путем включения в нее регламентов, описывающих порядок выполнения процедур автоматизируемых процессов.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противном случае есть опасность возникновения рассогласования между автоматизированными процедурами и остальными процессами организации.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Завершение проекта внедрения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завершению опытной эксплуатация программное обеспечение переводится в промышленную эксплуатацию, для сотрудников заказчика проводятся обучающие семинары, оказывается всесторонняя поддержка для успешной эксплуатации программного обеспечения заказчиком.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Также на этой стадии выполняются работы по общей стандартизации существующей деятельности организации, когда выделяются лучшие практики выполнения процедур и включаются в программное решение по принципу наибольшей полезности для большинства участников.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Процент таких процедур относительно общего объема автоматизации может быть невелик, но это придает процессу построения решения вес в организации за счет увеличения его «полезности».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59958-8B4D-475C-A169-48E142B4E3FA}" type="slidenum">
              <a:rPr lang="ru-RU" smtClean="0">
                <a:solidFill>
                  <a:prstClr val="black"/>
                </a:solidFill>
              </a:rPr>
              <a:pPr/>
              <a:t>16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1033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Выполнение внедрения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пилотное внедрение программного продукта,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 рабочих мест,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первичное обучение специалистов заказчика по работе с ПО.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расширение нормативной базы организации путем включения в нее регламентов, описывающих порядок выполнения процедур автоматизируемых процессов.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противном случае есть опасность возникновения рассогласования между автоматизированными процедурами и остальными процессами организации.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Завершение проекта внедрения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завершению опытной эксплуатация программное обеспечение переводится в промышленную эксплуатацию, для сотрудников заказчика проводятся обучающие семинары, оказывается всесторонняя поддержка для успешной эксплуатации программного обеспечения заказчиком.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Также на этой стадии выполняются работы по общей стандартизации существующей деятельности организации, когда выделяются лучшие практики выполнения процедур и включаются в программное решение по принципу наибольшей полезности для большинства участников.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Процент таких процедур относительно общего объема автоматизации может быть невелик, но это придает процессу построения решения вес в организации за счет увеличения его «полезности».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59958-8B4D-475C-A169-48E142B4E3FA}" type="slidenum">
              <a:rPr lang="ru-RU" smtClean="0">
                <a:solidFill>
                  <a:prstClr val="black"/>
                </a:solidFill>
              </a:rPr>
              <a:pPr/>
              <a:t>17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9746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Установка и конфигурация оборудования и программного обеспечения.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Настройка ПО и сопряженных систем, обучение системных администраторов.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данном этапе осуществляется настройка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в соответствии с разработанным техническим заданием, а также настройка сопряженных систем.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Проводится обучение системных администраторов заказчика работе с системой для осуществления дальнейших настроек системы, отражающих изменения в автоматизированных процессах.</a:t>
            </a: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Внесение информации в ПО и обучение персонала заказчика.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данном этапе в базу данных настроенного ПО переносится или вносится актуальная исходная информация.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Описание оборудования, описание тарифной политики и продуктовый каталог, информация о клиентах, информация о структуре компании, нормативно-справочная информация и т.п. в соответствии с предназначением продукта.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Проводится обучение персонала работе с интерфейсом системы.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Опытная эксплуатация.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данном этапе осуществляется верификация правильности настройки 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продукта 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Onyma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обнаружение и устранение неточностей конфигурации.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Актуализация данных и перевод в промышленную эксплуатацию.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данном этапе осуществляется актуализация данных и система переводится в режим промышленной эксплуатации. 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Дальнейшее взаимодействие с заказчиком происходит в соответствии с выбранной схемой и регламентом сопровождения.</a:t>
            </a:r>
            <a:b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359958-8B4D-475C-A169-48E142B4E3FA}" type="slidenum">
              <a:rPr lang="ru-RU" smtClean="0">
                <a:solidFill>
                  <a:prstClr val="black"/>
                </a:solidFill>
              </a:rPr>
              <a:pPr/>
              <a:t>18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3995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1.3. Организация и методы сопровождения программных средств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сохранения и повышения качества сложных комплексов программ </a:t>
            </a:r>
            <a:r>
              <a:rPr lang="ru-RU" sz="12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необходимо </a:t>
            </a:r>
          </a:p>
          <a:p>
            <a:r>
              <a:rPr lang="ru-RU" sz="12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регламентировать процессы модификации и совершенствования программных средств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 также поддерживать их соответствующим тестированием и контролем качества. 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Широкое применение прототипирования и повторного использования готовых апробированных программных компонентов способствовало превращению сопровождения в особый раздел методов и средств обеспечения жизненного цикла ПС.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dirty="0"/>
              <a:t>===============================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dirty="0"/>
              <a:t>Бертран Мейер (книга Почувствуй</a:t>
            </a:r>
            <a:r>
              <a:rPr lang="ru-RU" altLang="ru-RU" baseline="0" dirty="0"/>
              <a:t> класс, 2009</a:t>
            </a:r>
            <a:r>
              <a:rPr lang="ru-RU" altLang="ru-RU" dirty="0"/>
              <a:t>)</a:t>
            </a:r>
          </a:p>
          <a:p>
            <a:r>
              <a:rPr lang="ru-RU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Сопровождение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программной системы включает все виды деятельности, встречающиеся после выпуска первой версии работающей системы: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адаптация новых платформ и окружений,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коррекция замеченных недостатков,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расширение (добавление новой функциональности),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удаление избыточной функциональности,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улучшение качества.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3809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Реализация процесса сопровождения в жизненном цикле программного средства начинается с планирования сопровождения и завершается снятием данного программного продукта с эксплуатации. </a:t>
            </a:r>
          </a:p>
          <a:p>
            <a:endParaRPr lang="en-US" dirty="0"/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Процесс сопровождения заключается в модификации (изменении) текста программы и соответствующих документов вследствие обнаруженных проблем (несоответствий) или необходимости их усовершенствования. 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Целью процесса сопровождения является модификация программного продукта при сохранении его целостности. 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Процесс сопровождения необходим вследствие подверженности программных продуктов изменениям на протяжении их жизненного цикла.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9846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Рис. 1.3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Целью сопровождения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является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выявление и устранение обнаруженных дефектов и ошибок в программах и данных,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введение новых функций и компонентов в ПС,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анализ состояния и корректировка документации,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тиражирование и контроль распространения версий ПС,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актуализация и обеспечение сохранности документации и физических носителей</a:t>
            </a:r>
          </a:p>
          <a:p>
            <a:endParaRPr lang="ru-RU" dirty="0"/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Основная задача - изменить и улучшить существующий программный продукт, сохраняя его целостность и функциональную пригодность [8, 40, 57].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Технология сопровождения должна обеспечивать координированное развитие множества версий ПС и их компонентов,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каждая из которых имеет достаточно высокое качество и специфические функции, а также, возможно, различных пользователей. 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Благодаря этому со временем программные средства должны улучшаться и совершенствоваться, как по функциональным возможностям, так и по качеству решения каждой задачи.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Сопровождение составляют процессы регламентированного изменения программных средств и их компонентов, которые реализуются методами конфигурационного управления.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0963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Рис. 1.3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2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Целью сопровождения </a:t>
            </a: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является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выявление и устранение обнаруженных дефектов и ошибок в программах и данных,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введение новых функций и компонентов в ПС,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анализ состояния и корректировка документации,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тиражирование и контроль распространения версий ПС,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актуализация и обеспечение сохранности документации и физических носителей</a:t>
            </a:r>
          </a:p>
          <a:p>
            <a:endParaRPr lang="ru-RU" dirty="0"/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Основная задача - изменить и улучшить существующий программный продукт, сохраняя его целостность и функциональную пригодность [8, 40, 57].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Технология сопровождения должна обеспечивать координированное развитие множества версий ПС и их компонентов,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каждая из которых имеет достаточно высокое качество и специфические функции, а также, возможно, различных пользователей. 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Благодаря этому со временем программные средства должны улучшаться и совершенствоваться, как по функциональным возможностям, так и по качеству решения каждой задачи.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Сопровождение составляют процессы регламентированного изменения программных средств и их компонентов, которые реализуются методами конфигурационного управления.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50963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Maintainability</a:t>
            </a: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’70s there were a number of empirical studies of how software was developed.</a:t>
            </a: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Two stunning conclusions came out of those studies.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Most software shops devoted over 70% of their development effort to maintenance.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The effort required to modify an existing feature often required 5 to 10 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times</a:t>
            </a:r>
            <a:r>
              <a:rPr lang="ru-RU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effort than developing the feature originally.</a:t>
            </a: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Стало понятно, что-то было неправильным в этой картине.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Clearly something was wrong with that picture. </a:t>
            </a:r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конце 70-х годов это стало причиной кризиса ПО, для решения этого кризиса появилась научная (академическая) дисциплина «программная инженерия» (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engineering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).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(Термин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 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был предложен раньше (в конце 60-х годов), но он в основном касался работами по управлению проектами разработки ПО.)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late ’70s this became the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crisis, and the academic discipline of software engineering was introduced to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address it.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term was introduced earlier, but it referred primarily to project management activities.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то время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 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основном было направлено на исправление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SD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для решения возникших проблем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если просто выполнял правильно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SD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то тогда проблемы должны исчезнуть.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At that time software engineering was primarily devoted to fixing SD to address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problems; if everyone just did SD </a:t>
            </a:r>
            <a:r>
              <a:rPr lang="en-US" sz="1200" i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right</a:t>
            </a:r>
            <a:r>
              <a:rPr lang="en-US" sz="120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then the problems would go away.</a:t>
            </a:r>
            <a:r>
              <a:rPr lang="ru-RU" sz="120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endParaRPr lang="ru-RU" sz="1200" i="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the late ’80s software engineering evolved into a more traditional process management</a:t>
            </a:r>
            <a:r>
              <a:rPr lang="ru-RU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view. But that’s another story. . . .</a:t>
            </a:r>
            <a:r>
              <a:rPr lang="ru-RU" sz="1200" i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ru-RU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506380-8F69-4054-A888-A4D6DD37BDB6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77837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sz="1200" b="1" i="1" u="none" strike="noStrike" baseline="0" dirty="0" err="1">
                <a:latin typeface="TimesNewRoman,BoldItalic"/>
              </a:rPr>
              <a:t>Сопровождаемость</a:t>
            </a:r>
            <a:r>
              <a:rPr lang="ru-RU" sz="1200" b="1" i="1" u="none" strike="noStrike" baseline="0" dirty="0">
                <a:latin typeface="TimesNewRoman,BoldItalic"/>
              </a:rPr>
              <a:t> 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– </a:t>
            </a:r>
            <a:r>
              <a:rPr lang="ru-RU" sz="1200" b="0" i="0" u="none" strike="noStrike" baseline="0" dirty="0">
                <a:latin typeface="TimesNewRoman"/>
              </a:rPr>
              <a:t>возможность регламентированной модификации является важной характеристикой ПС для заказчиков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, </a:t>
            </a:r>
            <a:r>
              <a:rPr lang="ru-RU" sz="1200" b="0" i="0" u="none" strike="noStrike" baseline="0" dirty="0">
                <a:latin typeface="TimesNewRoman"/>
              </a:rPr>
              <a:t>поставщиков и пользователей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, </a:t>
            </a:r>
            <a:r>
              <a:rPr lang="ru-RU" sz="1200" b="0" i="0" u="none" strike="noStrike" baseline="0" dirty="0">
                <a:latin typeface="TimesNewRoman"/>
              </a:rPr>
              <a:t>отражающей возможность и простоту внесения изменений в программный продукт после его ввода в эксплуатацию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. </a:t>
            </a:r>
          </a:p>
          <a:p>
            <a:pPr algn="l"/>
            <a:r>
              <a:rPr lang="ru-RU" sz="1200" b="0" i="0" u="none" strike="noStrike" baseline="0" dirty="0">
                <a:latin typeface="TimesNewRoman"/>
              </a:rPr>
              <a:t>Требования к </a:t>
            </a:r>
            <a:r>
              <a:rPr lang="ru-RU" sz="1200" b="0" i="0" u="none" strike="noStrike" baseline="0" dirty="0" err="1">
                <a:latin typeface="TimesNewRoman"/>
              </a:rPr>
              <a:t>сопровождаемости</a:t>
            </a:r>
            <a:r>
              <a:rPr lang="ru-RU" sz="1200" b="0" i="0" u="none" strike="noStrike" baseline="0" dirty="0">
                <a:latin typeface="TimesNewRoman"/>
              </a:rPr>
              <a:t> должны включаться в работу </a:t>
            </a:r>
            <a:r>
              <a:rPr lang="ru-RU" sz="1200" b="1" i="1" u="none" strike="noStrike" baseline="0" dirty="0">
                <a:latin typeface="TimesNewRoman,BoldItalic"/>
              </a:rPr>
              <a:t>подготовка </a:t>
            </a:r>
            <a:r>
              <a:rPr lang="ru-RU" sz="1200" b="0" i="0" u="none" strike="noStrike" baseline="0" dirty="0">
                <a:latin typeface="TimesNewRoman"/>
              </a:rPr>
              <a:t>в процессе заказа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, </a:t>
            </a:r>
            <a:r>
              <a:rPr lang="ru-RU" sz="1200" b="0" i="0" u="none" strike="noStrike" baseline="0" dirty="0">
                <a:latin typeface="TimesNewRoman"/>
              </a:rPr>
              <a:t>а их выполнение следует оценивать в процессе разработки модификаций ПС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. </a:t>
            </a:r>
          </a:p>
          <a:p>
            <a:pPr algn="l"/>
            <a:r>
              <a:rPr lang="ru-RU" sz="1200" b="0" i="0" u="none" strike="noStrike" baseline="0" dirty="0">
                <a:latin typeface="TimesNewRoman"/>
              </a:rPr>
              <a:t>Для определения и оценки качества модифицированного программного средства могут быть использованы различные показатели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, </a:t>
            </a:r>
            <a:r>
              <a:rPr lang="ru-RU" sz="1200" b="0" i="0" u="none" strike="noStrike" baseline="0" dirty="0">
                <a:latin typeface="TimesNewRoman"/>
              </a:rPr>
              <a:t>качественные и количественные стандартизированные метрики в соответствии с </a:t>
            </a:r>
            <a:r>
              <a:rPr lang="ru-RU" sz="1200" b="1" i="0" u="none" strike="noStrike" baseline="0" dirty="0">
                <a:latin typeface="Times New Roman" panose="02020603050405020304" pitchFamily="18" charset="0"/>
              </a:rPr>
              <a:t>ISO 9126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.</a:t>
            </a:r>
          </a:p>
          <a:p>
            <a:pPr algn="l"/>
            <a:r>
              <a:rPr lang="ru-RU" sz="1200" b="0" i="0" u="none" strike="noStrike" baseline="0" dirty="0" err="1">
                <a:latin typeface="TimesNewRoman"/>
              </a:rPr>
              <a:t>Сопровождаемость</a:t>
            </a:r>
            <a:r>
              <a:rPr lang="ru-RU" sz="1200" b="0" i="0" u="none" strike="noStrike" baseline="0" dirty="0">
                <a:latin typeface="TimesNewRoman"/>
              </a:rPr>
              <a:t> должна быть определена до начала первичной разработки проекта ПС соответствующим </a:t>
            </a:r>
            <a:r>
              <a:rPr lang="ru-RU" sz="1200" b="1" i="1" u="none" strike="noStrike" baseline="0" dirty="0">
                <a:latin typeface="TimesNewRoman,BoldItalic"/>
              </a:rPr>
              <a:t>соглашением между заказчиком и разработчиком</a:t>
            </a:r>
            <a:r>
              <a:rPr lang="ru-RU" sz="1200" b="1" i="1" u="none" strike="noStrike" baseline="0" dirty="0">
                <a:latin typeface="Times New Roman" panose="02020603050405020304" pitchFamily="18" charset="0"/>
              </a:rPr>
              <a:t>-</a:t>
            </a:r>
            <a:r>
              <a:rPr lang="ru-RU" sz="1200" b="1" i="1" u="none" strike="noStrike" baseline="0" dirty="0">
                <a:latin typeface="TimesNewRoman,BoldItalic"/>
              </a:rPr>
              <a:t>поставщиком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. </a:t>
            </a:r>
          </a:p>
          <a:p>
            <a:pPr algn="l"/>
            <a:r>
              <a:rPr lang="ru-RU" sz="1200" b="0" i="0" u="none" strike="noStrike" baseline="0" dirty="0">
                <a:latin typeface="TimesNewRoman"/>
              </a:rPr>
              <a:t>Разработчик должен подготовить план обеспечения сопровождения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, </a:t>
            </a:r>
            <a:r>
              <a:rPr lang="ru-RU" sz="1200" b="0" i="0" u="none" strike="noStrike" baseline="0" dirty="0">
                <a:latin typeface="TimesNewRoman"/>
              </a:rPr>
              <a:t>в ко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-</a:t>
            </a:r>
          </a:p>
          <a:p>
            <a:pPr algn="l"/>
            <a:r>
              <a:rPr lang="ru-RU" sz="1200" b="0" i="0" u="none" strike="noStrike" baseline="0" dirty="0">
                <a:latin typeface="TimesNewRoman"/>
              </a:rPr>
              <a:t>тором отражены конкретные методы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, </a:t>
            </a:r>
            <a:r>
              <a:rPr lang="ru-RU" sz="1200" b="0" i="0" u="none" strike="noStrike" baseline="0" dirty="0">
                <a:latin typeface="TimesNewRoman"/>
              </a:rPr>
              <a:t>соответствующие ресурсы и</a:t>
            </a:r>
          </a:p>
          <a:p>
            <a:pPr algn="l"/>
            <a:r>
              <a:rPr lang="ru-RU" sz="1200" b="0" i="0" u="none" strike="noStrike" baseline="0" dirty="0">
                <a:latin typeface="TimesNewRoman"/>
              </a:rPr>
              <a:t>последовательности работ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. </a:t>
            </a:r>
          </a:p>
          <a:p>
            <a:pPr algn="l"/>
            <a:r>
              <a:rPr lang="ru-RU" sz="1200" b="0" i="0" u="none" strike="noStrike" baseline="0" dirty="0">
                <a:latin typeface="TimesNewRoman"/>
              </a:rPr>
              <a:t>Следует определить необходимые усилия по обеспечению мониторинга и оценки аспектов </a:t>
            </a:r>
            <a:r>
              <a:rPr lang="ru-RU" sz="1200" b="0" i="0" u="none" strike="noStrike" baseline="0" dirty="0" err="1">
                <a:latin typeface="TimesNewRoman"/>
              </a:rPr>
              <a:t>сопровождаемости</a:t>
            </a:r>
            <a:r>
              <a:rPr lang="ru-RU" sz="1200" b="0" i="0" u="none" strike="noStrike" baseline="0" dirty="0">
                <a:latin typeface="TimesNewRoman"/>
              </a:rPr>
              <a:t> в процессе разработки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.</a:t>
            </a:r>
          </a:p>
          <a:p>
            <a:pPr algn="l"/>
            <a:endParaRPr lang="ru-RU" sz="1200" b="0" i="0" u="none" strike="noStrike" baseline="0" dirty="0">
              <a:latin typeface="TimesNewRoman"/>
            </a:endParaRPr>
          </a:p>
          <a:p>
            <a:pPr algn="l"/>
            <a:r>
              <a:rPr lang="ru-RU" sz="1200" b="0" i="0" u="none" strike="noStrike" baseline="0" dirty="0">
                <a:latin typeface="TimesNewRoman"/>
              </a:rPr>
              <a:t>Требования к процессам сопровождения определяются группой основных факторов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, </a:t>
            </a:r>
            <a:r>
              <a:rPr lang="ru-RU" sz="1200" b="0" i="0" u="none" strike="noStrike" baseline="0" dirty="0">
                <a:latin typeface="TimesNewRoman"/>
              </a:rPr>
              <a:t>влияющих на реализацию модификации программных средств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, </a:t>
            </a:r>
            <a:r>
              <a:rPr lang="ru-RU" sz="1200" b="0" i="0" u="none" strike="noStrike" baseline="0" dirty="0">
                <a:latin typeface="TimesNewRoman"/>
              </a:rPr>
              <a:t>образующих концептуальную цепочку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:</a:t>
            </a:r>
          </a:p>
          <a:p>
            <a:pPr algn="l"/>
            <a:r>
              <a:rPr lang="ru-RU" sz="1200" b="1" i="1" u="none" strike="noStrike" baseline="0" dirty="0">
                <a:latin typeface="TimesNewRoman,BoldItalic"/>
              </a:rPr>
              <a:t>требования на изменения </a:t>
            </a:r>
            <a:r>
              <a:rPr lang="ru-RU" sz="1200" b="1" i="1" u="none" strike="noStrike" baseline="0" dirty="0">
                <a:latin typeface="Times New Roman" panose="02020603050405020304" pitchFamily="18" charset="0"/>
              </a:rPr>
              <a:t>– </a:t>
            </a:r>
            <a:r>
              <a:rPr lang="ru-RU" sz="1200" b="1" i="1" u="none" strike="noStrike" baseline="0" dirty="0">
                <a:latin typeface="TimesNewRoman,BoldItalic"/>
              </a:rPr>
              <a:t>изменяемые функции </a:t>
            </a:r>
            <a:r>
              <a:rPr lang="ru-RU" sz="1200" b="1" i="1" u="none" strike="noStrike" baseline="0" dirty="0">
                <a:latin typeface="Times New Roman" panose="02020603050405020304" pitchFamily="18" charset="0"/>
              </a:rPr>
              <a:t>– </a:t>
            </a:r>
            <a:r>
              <a:rPr lang="ru-RU" sz="1200" b="1" i="1" u="none" strike="noStrike" baseline="0" dirty="0">
                <a:latin typeface="TimesNewRoman,BoldItalic"/>
              </a:rPr>
              <a:t>размер </a:t>
            </a:r>
            <a:r>
              <a:rPr lang="ru-RU" sz="1200" b="1" i="1" u="none" strike="noStrike" baseline="0" dirty="0">
                <a:latin typeface="Times New Roman" panose="02020603050405020304" pitchFamily="18" charset="0"/>
              </a:rPr>
              <a:t>(</a:t>
            </a:r>
            <a:r>
              <a:rPr lang="ru-RU" sz="1200" b="1" i="1" u="none" strike="noStrike" baseline="0" dirty="0">
                <a:latin typeface="TimesNewRoman,BoldItalic"/>
              </a:rPr>
              <a:t>масштаб</a:t>
            </a:r>
            <a:r>
              <a:rPr lang="ru-RU" sz="1200" b="1" i="1" u="none" strike="noStrike" baseline="0" dirty="0">
                <a:latin typeface="Times New Roman" panose="02020603050405020304" pitchFamily="18" charset="0"/>
              </a:rPr>
              <a:t>) </a:t>
            </a:r>
            <a:r>
              <a:rPr lang="ru-RU" sz="1200" b="1" i="1" u="none" strike="noStrike" baseline="0" dirty="0">
                <a:latin typeface="TimesNewRoman,BoldItalic"/>
              </a:rPr>
              <a:t>изменений </a:t>
            </a:r>
            <a:r>
              <a:rPr lang="ru-RU" sz="1200" b="1" i="1" u="none" strike="noStrike" baseline="0" dirty="0">
                <a:latin typeface="Times New Roman" panose="02020603050405020304" pitchFamily="18" charset="0"/>
              </a:rPr>
              <a:t>– </a:t>
            </a:r>
            <a:r>
              <a:rPr lang="ru-RU" sz="1200" b="1" i="1" u="none" strike="noStrike" baseline="0" dirty="0">
                <a:latin typeface="TimesNewRoman,BoldItalic"/>
              </a:rPr>
              <a:t>стратегия модификаций </a:t>
            </a:r>
            <a:r>
              <a:rPr lang="ru-RU" sz="1200" b="1" i="1" u="none" strike="noStrike" baseline="0" dirty="0">
                <a:latin typeface="Times New Roman" panose="02020603050405020304" pitchFamily="18" charset="0"/>
              </a:rPr>
              <a:t>– </a:t>
            </a:r>
            <a:r>
              <a:rPr lang="ru-RU" sz="1200" b="1" i="1" u="none" strike="noStrike" baseline="0" dirty="0">
                <a:latin typeface="TimesNewRoman,BoldItalic"/>
              </a:rPr>
              <a:t>ресурсы необходимые для их реализации</a:t>
            </a:r>
            <a:r>
              <a:rPr lang="ru-RU" sz="1200" b="1" i="1" u="none" strike="noStrike" baseline="0" dirty="0">
                <a:latin typeface="Times New Roman" panose="02020603050405020304" pitchFamily="18" charset="0"/>
              </a:rPr>
              <a:t>. </a:t>
            </a:r>
          </a:p>
          <a:p>
            <a:pPr algn="l"/>
            <a:endParaRPr lang="ru-RU" sz="1200" b="1" i="1" u="none" strike="noStrike" baseline="0" dirty="0">
              <a:latin typeface="Times New Roman" panose="02020603050405020304" pitchFamily="18" charset="0"/>
            </a:endParaRPr>
          </a:p>
          <a:p>
            <a:pPr algn="l"/>
            <a:r>
              <a:rPr lang="ru-RU" sz="1200" b="0" i="0" u="none" strike="noStrike" baseline="0" dirty="0">
                <a:latin typeface="TimesNewRoman"/>
              </a:rPr>
              <a:t>Эта логическая схема обычно используется при последовательном анализе процессов сопровождения сложных ПС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. </a:t>
            </a:r>
          </a:p>
          <a:p>
            <a:pPr algn="l"/>
            <a:endParaRPr lang="ru-RU" sz="1200" b="0" i="0" u="none" strike="noStrike" baseline="0" dirty="0">
              <a:latin typeface="TimesNewRoman"/>
            </a:endParaRPr>
          </a:p>
          <a:p>
            <a:pPr algn="l"/>
            <a:r>
              <a:rPr lang="ru-RU" sz="1200" b="0" i="0" u="none" strike="noStrike" baseline="0" dirty="0">
                <a:latin typeface="TimesNewRoman"/>
              </a:rPr>
              <a:t>При этом основным критерием оценки сопровождения является </a:t>
            </a:r>
            <a:r>
              <a:rPr lang="ru-RU" sz="1200" b="1" i="1" u="none" strike="noStrike" baseline="0" dirty="0">
                <a:latin typeface="TimesNewRoman,BoldItalic"/>
              </a:rPr>
              <a:t>совершенствование функциональной пригодности </a:t>
            </a:r>
            <a:r>
              <a:rPr lang="ru-RU" sz="1200" b="0" i="0" u="none" strike="noStrike" baseline="0" dirty="0">
                <a:latin typeface="TimesNewRoman"/>
              </a:rPr>
              <a:t>и улучшение характеристик качества программного продукта</a:t>
            </a:r>
            <a:r>
              <a:rPr lang="ru-RU" sz="1200" b="0" i="0" u="none" strike="noStrike" baseline="0" dirty="0">
                <a:latin typeface="Times New Roman" panose="02020603050405020304" pitchFamily="18" charset="0"/>
              </a:rPr>
              <a:t>.</a:t>
            </a:r>
          </a:p>
          <a:p>
            <a:pPr algn="l"/>
            <a:endParaRPr lang="ru-RU" sz="1200" b="0" i="0" u="none" strike="noStrike" baseline="0" dirty="0">
              <a:latin typeface="Times New Roman" panose="02020603050405020304" pitchFamily="18" charset="0"/>
            </a:endParaRPr>
          </a:p>
          <a:p>
            <a:pPr algn="l"/>
            <a:r>
              <a:rPr lang="ru-RU" sz="1200" b="0" i="0" u="none" strike="noStrike" baseline="0" dirty="0">
                <a:latin typeface="TimesNewRoman"/>
              </a:rPr>
              <a:t>Основной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71706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Сопровождение готовых программных продуктов заказчиком или поставщиком обычно связано с модификацией соответствующих интерфейсов программного продукта, включая данные и режимы функционирования.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Должны быть учтены неявные требования и ограничения, налагаемые разработчиком оригинала программного продукта.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ряде случаев они могут быть изменены, а некоторые исходные требования могут быть отменены.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 реализации процессов разработки, эксплуатации и сопровождения по ЕОСТ Р ИСО/ МЭК 12207 любые обнаруженные проблемы (несоответствия) должны быть описаны и проконтролированы посредством процесса решения проблем, установленного в указанном стандарте. При этом следует выпускать соответствующие предложения о модификациях (П Р) или отчеты о проблемах (ОП).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Часто данные документы называют предложениями об изменениях.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процессе решения проблем по ГОСТ Р ИСО/МЭК 12207 анализируют и решают возникшие проблемы.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этом процессе также определяют, отражают ли представленные ПР (ОП) возникшие проблемы (несоответствия) или потребности в модернизации продукта. 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Процесс управления конфигурацией (УК) по ГОСТ Р ИСО/МЭК 12207 регистрирует (фиксирует) и документирует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состояния предложений о модификациях (ПМ)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или отчетов о проблемах (ОП). 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ходе работы по контролю конфигурации из процесса УК должен быть решен вопрос о принятии конкретного предложения (отчета). 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Принятые ПМ (ОП) далее реализуют посредством вызова процесса сопровождения.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Сопровождение может быть востребовано независимо от модели жизненного цикла разработки (например, каскадной, инкрементной, эволюционной) или метода разработки (например, ускоренная разработка приложений, прототипирование, макетирование).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Например, при выпуске новой усовершенствованной программной конструкции (инкремента) продолжается разработка продукта в целом, но может быть востребовано сопровождение для ввода данной конструкции в действие (инсталляции).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Стоимость процесса сопровождения может составлять значительную (наибольшую) часть стоимости жизненного цикла программного продукта.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Приведенный ниже анализ типов сопровождения поможет пользователям стандарта осознать объемы необходимых затрат.</a:t>
            </a:r>
          </a:p>
          <a:p>
            <a:endParaRPr lang="ru-RU" sz="1200" b="1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1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1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73425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Корректирующее сопровождение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связано с изменениями, вызванными необходимостью устранения фактических ошибок и дефектов в программном продукте.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Корректирующее сопровождение проводят в случае выявления несоответствия программного продукта установленным требованиям.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Этот вид изменений по причинам и источникам является непредсказуемым и его трудно планировать и регламентировать.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 групповой работе специалистов, кроме личных ошибок программистов в модулях,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они могут быть обусловлены некорректной интеграцией компонентов программ при наличии нескольких версий модулей,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применением дублирующих или конфликтующих друг с другом копий модулей и различными дефектами взаимодействия программных компонентов между собой и с данными.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Остальные виды корректировок носят упорядоченный характер и проводятся в соответствии с заранее подготовленными планами и документами.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Поэтому изменения, обусловленные ошибками и выявленными дефектами, в большинстве случаев целесообразно накапливать и реализовывать, приурочивая к изменениям, регламентированным модернизациями.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Однако некоторые ошибки могут приводить к необходимости срочного исправления программ.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1336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6.2 Типы сопровождения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Корректирующее сопровождение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связано с изменениями, вызванными необходимостью устранения (исправления) фактических ошибок в программном продукте.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проводят в случае несоответствия программного продукта установленным требованиям.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Профилактическое сопровождение связано с изменениями, вызванными необходимостью устранения (исправления) потенциальных (скрытых) ошибок в программном продукте.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обычно проводят для программных продуктов, связанных с обеспечением или защитой жизни людей.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Адаптивное и полное сопровождение связаны с модернизацией (улучшением) программного продукта.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вносятся изменения сверх технических требований (спецификаций), установленных при проектировании или выпуске программного средства. 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Изменения, вносимые при адаптивном сопровождении (адаптивные изменения), связаны с необходимостью адаптации программного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продукта к изменившейся среде (условиям).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связаны с реализацией новых требований к системному интерфейсу, самой системе или техническим средствам.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Изменения, вносимые при полном сопровождении, улучшают рабочие характеристики программного средства и его сопровождаемость.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могут приводить к предоставлению пользователям новых функциональных возможностей, пересмотру технологии разработки сопровождаемых доку</a:t>
            </a:r>
            <a:r>
              <a:rPr lang="ru-RU" sz="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ментов или изменению самих документов.</a:t>
            </a:r>
          </a:p>
          <a:p>
            <a:endParaRPr lang="ru-RU" sz="8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Сопровождение программного средства, необходимое для изменения структуры или системы, то есть модификации (изменения) программного средства, вносят в существующую архитектуру в рамках ограничений, установленных структурой проекта. </a:t>
            </a:r>
          </a:p>
          <a:p>
            <a:r>
              <a:rPr lang="ru-RU" sz="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Таким образом, модернизации продукта при адаптивном и полном сопровождении зачастую очень дорогостоящи и требуют больших временных затрат. </a:t>
            </a:r>
          </a:p>
          <a:p>
            <a:r>
              <a:rPr lang="ru-RU" sz="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Подобные модернизации могут «съедать» большую часть стоимости сопровождения в целом. </a:t>
            </a:r>
          </a:p>
          <a:p>
            <a:endParaRPr lang="ru-RU" sz="8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8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01306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Модернизирующее сопровождение – </a:t>
            </a:r>
            <a:r>
              <a:rPr lang="ru-RU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 </a:t>
            </a:r>
            <a:r>
              <a:rPr lang="ru-RU" sz="12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адаптивном и полном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вносятся сверх технических и функциональных требований спецификаций, установленных при первичном проектировании или выпуске предыдущей, базовой версии программного продукта.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Изменения, вносимые при </a:t>
            </a:r>
            <a:r>
              <a:rPr lang="ru-RU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адаптивном сопровождении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связаны с необходимостью приспособления программного продукта к изменившейся внешней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среде или требований пользователей.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Данные изменения могут быть связаны с реализацией новых требований к системному интерфейсу, самой системе или техническим средствам.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Изменения, вносимые при полном – модернизирующем сопровождении, улучшают функциональные характеристики ПС и его </a:t>
            </a:r>
            <a:r>
              <a:rPr lang="ru-RU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сопровождаемость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Такие изменения могут приводить к предоставлению пользователям новых функциональных возможностей,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пересмотру технологии применения сопровождаемых документов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или к изменению самих документов. 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Сопровождение программного средства, необходимое для изменения структуры или системы, то есть модификации ПС, вносятся в существующую архитектуру в рамках ограничений, установленных первичной структурой проекта.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Таким образом, модернизации продукта при адаптивном и полном сопровождении зачастую наиболее дорогостоящие и требуют больших временных затрат.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Заказчик может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заключить соглашение с разработчиком базовой версии ПС об </a:t>
            </a:r>
            <a:r>
              <a:rPr lang="ru-RU" sz="12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организации сопровождения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или выбрать в качестве сопроводителя третью сторону (помимо разработчика) (см. рис. 1.4). 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Сопровождение может также быть проведено по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соглашению между двумя сторонами внутри одного </a:t>
            </a:r>
            <a:r>
              <a:rPr lang="ru-RU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предпри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</a:t>
            </a:r>
          </a:p>
          <a:p>
            <a:r>
              <a:rPr lang="ru-RU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ятия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В стандарте </a:t>
            </a:r>
            <a:r>
              <a:rPr lang="ru-RU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ISO 14476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описаны задачи, рекомендуемые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 заключении соглашения между заказчиком и поставщиком.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560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Fact 41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Maintenance typically consumes 40 to 80 percent (average, 60 percent) of software costs.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Therefore,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is probably the most important life cycle phase of software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subject of software maintenance is full of ongoing surprises to people who don't know the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field very well.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First, there's the issue of what the word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maintenance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means in the software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field.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most other fields, it's about repairing things that break or wear out.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 the nature of software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 such that it never breaks or wears out.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is an intangible thing, having no particular physical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form, and so there is not anything to break or wear out.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But software can have errors in it.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software can be modified to do new things.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(That's where the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comes from, in fact.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It's an extremely malleable (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ковкий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product, in part because it is so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intangible.)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thing is, software's errors aren't due to material fatigue, but rather to errors made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the software was being built or errors made as the software is being changed.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software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maintenance is about fixing those errors as they are discovered and making those changes as they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become necessary.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 all makes sense to software people, even if it doesn't to folks from other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disciplines.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second surprise is how much cost and time software maintenance consumes.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cost and time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 construction of your average software product is 20 to 60 percent;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remaining 40 to 80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percent it is undergoing maintenance.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(For purposes that will become apparent later in this book, we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going to say that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maintenance consumes roughly 60 percent of the software life cycle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.)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From a cost and time point of view, maintenance is the dominant phase of software production.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of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error correction and modification consumes a whole lot of dollars and hours.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because of that,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maintenance is probably the most important life cycle phase of software.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That's pretty counterintuitive, even to software folks.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Just as software people believe that their product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won't have any errors in it,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people also tend to believe that, once their product is put into</a:t>
            </a:r>
            <a:r>
              <a:rPr lang="ru-RU" sz="12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1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production, it will run undisturbed for years—or even decades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fact, the Y2K problem was an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interesting example of the role of maintenance in software.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(Y2K was the need to fix software that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handled years as two-digit numbers when the calendar switched from 1999 [99] to 2000 [00].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Some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programs took that to mean that time had moved backwards.)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 were two surprises to Y2K.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first was how pervasive the problem was.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second was how long-lasting the programs that needed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fixed had been (many of them dated back to the 1960s or 1970s).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There's an old software saying that I'd like to make into the following corollary (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вывод; заключение; следствие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):</a:t>
            </a:r>
          </a:p>
          <a:p>
            <a:endParaRPr lang="ru-RU" sz="1200" b="1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Old hardware becomes obsolete; old software goes into production every night.</a:t>
            </a:r>
            <a:endParaRPr lang="ru-RU" sz="1200" b="1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1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is one of these facts that exemplifies the need for </a:t>
            </a:r>
            <a:r>
              <a:rPr lang="en-US" sz="1200" b="0" i="1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frequently forgotten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people tend to behave as if the original development of the software product is all that matters.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 do academics teaching software classes.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Whereas a great deal of emphasis is put on the so-called front-end life cycle phases in the practitioner and academic literature of the field,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almost nothing is said about the vital maintenance activities. 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fact, many companies do not collect enough data to know how much maintenance they are doing.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the computer science or software engineering curriculum that contains material on software maintenance is rare indeed.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result of all this forgetting is that otherwise knowledgeable people often say absolutely crazy things about maintenance.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 will see what some of those absolutely crazy things are in the discussion surrounding the next fact.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 fact will also deal with the obvious question, "how much of that software maintenance is about error correction, and how much is about modification?"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you're betting on error correction, you're in for another one of those ongoing surprises.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1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1272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We'll return, in </a:t>
            </a:r>
            <a:r>
              <a:rPr lang="en-US" sz="1200" b="0" i="0" u="none" strike="noStrike" baseline="0" dirty="0">
                <a:solidFill>
                  <a:srgbClr val="00339B"/>
                </a:solidFill>
                <a:latin typeface="TimesNewRoman"/>
              </a:rPr>
              <a:t>Fact 43</a:t>
            </a:r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, to the issue of whether this phenomenon is really a problem.</a:t>
            </a:r>
          </a:p>
          <a:p>
            <a:pPr algn="l"/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At this point, let's turn to the issue of where the remaining 40 percent of the maintenance dollar is spent, once that 60 percent is taken out for enhancements. </a:t>
            </a:r>
          </a:p>
          <a:p>
            <a:pPr algn="l"/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The biggest surprise of this surprising fact is how little of the maintenance dollar is spent on fixing errors. </a:t>
            </a:r>
          </a:p>
          <a:p>
            <a:pPr algn="l"/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Study after study has shown that error correction is almost down in the software life cycle noise level—only 17 percent of the maintenance dollar is spent on corrections. </a:t>
            </a:r>
          </a:p>
          <a:p>
            <a:pPr algn="l"/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For all the talk of buggy software, the metrics on maintenance costs do not bear out any claims that production software is error-prone.</a:t>
            </a:r>
          </a:p>
          <a:p>
            <a:pPr algn="l"/>
            <a:endParaRPr lang="en-US" sz="1200" b="0" i="0" u="none" strike="noStrike" baseline="0" dirty="0">
              <a:solidFill>
                <a:srgbClr val="000000"/>
              </a:solidFill>
              <a:latin typeface="TimesNewRoman"/>
            </a:endParaRPr>
          </a:p>
          <a:p>
            <a:pPr algn="l"/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OK, so that's 60 + 17 = 77 percent. Where does the rest of maintenance cost go? </a:t>
            </a:r>
          </a:p>
          <a:p>
            <a:pPr algn="l"/>
            <a:endParaRPr lang="en-US" sz="1200" b="0" i="0" u="none" strike="noStrike" baseline="0" dirty="0">
              <a:solidFill>
                <a:srgbClr val="000000"/>
              </a:solidFill>
              <a:latin typeface="TimesNewRoman"/>
            </a:endParaRPr>
          </a:p>
          <a:p>
            <a:pPr algn="l"/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18% is spent on something called </a:t>
            </a:r>
            <a:r>
              <a:rPr lang="en-US" sz="1200" b="1" i="1" u="none" strike="noStrike" baseline="0" dirty="0">
                <a:solidFill>
                  <a:srgbClr val="000000"/>
                </a:solidFill>
                <a:latin typeface="TimesNewRoman"/>
              </a:rPr>
              <a:t>adaptive maintenance</a:t>
            </a:r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—making the software continue to work when its environment is changed. </a:t>
            </a:r>
          </a:p>
          <a:p>
            <a:pPr algn="l"/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It's to run on a new computer or on a new operating system or to interface with new packages or to accommodate new devices, for example. </a:t>
            </a:r>
          </a:p>
          <a:p>
            <a:pPr algn="l"/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Notice that this 18 percent spent on adaptation is marginally more than the 17 percent spent on correction. </a:t>
            </a:r>
          </a:p>
          <a:p>
            <a:pPr algn="l"/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It really is true that software error correction lies down in the life cycle cost noise level.</a:t>
            </a:r>
          </a:p>
          <a:p>
            <a:pPr algn="l"/>
            <a:endParaRPr lang="en-US" sz="1200" b="0" i="0" u="none" strike="noStrike" baseline="0" dirty="0">
              <a:solidFill>
                <a:srgbClr val="000000"/>
              </a:solidFill>
              <a:latin typeface="TimesNewRoman"/>
            </a:endParaRPr>
          </a:p>
          <a:p>
            <a:pPr algn="l"/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Oh, and by the way, what's the remaining 5 percent of the maintenance dollar spent on? The ever-popular "other." </a:t>
            </a:r>
          </a:p>
          <a:p>
            <a:pPr algn="l"/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This includes, interestingly enough, maintenance done to the software to make it more maintainable. </a:t>
            </a:r>
          </a:p>
          <a:p>
            <a:pPr algn="l"/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(The old term for this was </a:t>
            </a:r>
            <a:r>
              <a:rPr lang="en-US" sz="1200" b="0" i="1" u="none" strike="noStrike" baseline="0" dirty="0">
                <a:solidFill>
                  <a:srgbClr val="000000"/>
                </a:solidFill>
                <a:latin typeface="TimesNewRoman,Italic"/>
              </a:rPr>
              <a:t>preventive maintenance</a:t>
            </a:r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. </a:t>
            </a:r>
          </a:p>
          <a:p>
            <a:pPr algn="l"/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The term </a:t>
            </a:r>
            <a:r>
              <a:rPr lang="en-US" sz="1200" b="0" i="1" u="none" strike="noStrike" baseline="0" dirty="0">
                <a:solidFill>
                  <a:srgbClr val="000000"/>
                </a:solidFill>
                <a:latin typeface="TimesNewRoman,Italic"/>
              </a:rPr>
              <a:t>refactoring </a:t>
            </a:r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has recently been invented to describe this activity [</a:t>
            </a:r>
            <a:r>
              <a:rPr lang="en-US" sz="1200" b="0" i="0" u="none" strike="noStrike" baseline="0" dirty="0">
                <a:solidFill>
                  <a:srgbClr val="00339B"/>
                </a:solidFill>
                <a:latin typeface="TimesNewRoman"/>
              </a:rPr>
              <a:t>Fowler 1999</a:t>
            </a:r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].)</a:t>
            </a:r>
          </a:p>
          <a:p>
            <a:pPr algn="l"/>
            <a:endParaRPr lang="en-US" sz="1200" b="0" i="0" u="none" strike="noStrike" baseline="0" dirty="0">
              <a:solidFill>
                <a:srgbClr val="000000"/>
              </a:solidFill>
              <a:latin typeface="TimesNewRoman"/>
            </a:endParaRPr>
          </a:p>
          <a:p>
            <a:pPr algn="l"/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Now, I'd like to make something out of the two 60 percent facts we've been discussing here. </a:t>
            </a:r>
          </a:p>
          <a:p>
            <a:pPr algn="l"/>
            <a:endParaRPr lang="ru-RU" sz="1200" b="0" i="0" u="none" strike="noStrike" baseline="0" dirty="0">
              <a:solidFill>
                <a:srgbClr val="000000"/>
              </a:solidFill>
              <a:latin typeface="TimesNewRoman"/>
            </a:endParaRPr>
          </a:p>
          <a:p>
            <a:pPr algn="l"/>
            <a:r>
              <a:rPr lang="en-US" sz="1200" b="0" i="0" u="none" strike="noStrike" baseline="0" dirty="0">
                <a:solidFill>
                  <a:srgbClr val="000000"/>
                </a:solidFill>
                <a:latin typeface="TimesNewRoman"/>
              </a:rPr>
              <a:t>They constitute what I like to call the 60/60 rule of software maintenance:</a:t>
            </a:r>
          </a:p>
          <a:p>
            <a:pPr algn="l"/>
            <a:r>
              <a:rPr lang="en-US" sz="1200" b="1" i="0" u="none" strike="noStrike" baseline="0" dirty="0">
                <a:solidFill>
                  <a:srgbClr val="000000"/>
                </a:solidFill>
                <a:latin typeface="TimesNewRoman,Bold"/>
              </a:rPr>
              <a:t>The 60/60 rule: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i="0" u="none" strike="noStrike" baseline="0" dirty="0">
                <a:solidFill>
                  <a:srgbClr val="000000"/>
                </a:solidFill>
                <a:latin typeface="TimesNewRoman,Bold"/>
              </a:rPr>
              <a:t>60 percent of software's dollar is spent on maintenance,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b="1" i="0" u="none" strike="noStrike" baseline="0" dirty="0">
                <a:solidFill>
                  <a:srgbClr val="000000"/>
                </a:solidFill>
                <a:latin typeface="TimesNewRoman,Bold"/>
              </a:rPr>
              <a:t>and 60 percent of that maintenance is enhancement. </a:t>
            </a:r>
          </a:p>
          <a:p>
            <a:pPr algn="l"/>
            <a:r>
              <a:rPr lang="en-US" sz="1200" b="1" i="0" u="none" strike="noStrike" baseline="0" dirty="0">
                <a:solidFill>
                  <a:srgbClr val="000000"/>
                </a:solidFill>
                <a:latin typeface="TimesNewRoman,Bold"/>
              </a:rPr>
              <a:t>Enhancing old software is, therefore, a big deal.</a:t>
            </a:r>
          </a:p>
          <a:p>
            <a:pPr algn="l"/>
            <a:endParaRPr lang="en-US" sz="1200" b="1" i="0" u="none" strike="noStrike" baseline="0" dirty="0">
              <a:solidFill>
                <a:srgbClr val="000000"/>
              </a:solidFill>
              <a:latin typeface="TimesNewRoman,Bold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If the first 60 percent of the 60/60 rule is frequently forgotten,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second 60 percent is forgotten even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often.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Even knowledgeable software experts talk about the excessive cost of software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maintenance as if it were primarily about correcting mistakes made when the product was originally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built.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One leader in the field, paraphrasing a business management slogan, even spoke of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"obliterating" software maintenance, as if it were a bad thing.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Enhancement, we are going to see in the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next fact, is a good thing. 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particular 60 percent stems from what is uniquely possible in the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software field—enhancing old products significantly to do new things.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95826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Рис. 1.5.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Распределение расходов на сопровождение. Источник: [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Лиенц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1980]</a:t>
            </a:r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 программном сопровождении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Приведенный список факторов не включил обычно приводимое качество: возможность сопровождения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maintainability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Чтобы понять почему, мы должны поближе взглянуть на лежащее в его основе понятие: 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сопровождение (maintenance)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Сопровождение начинается с момента поставки ПО пользователям.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Обсуждения методологии создания ПО обычно сосредоточивается на фазе разработки; то же находим и во вводных курсах по программированию.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широко известно, что 70% стоимости ПО приходится на его сопровождение.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Никакое изучение качества ПО не может быть удовлетворительным, если оно игнорирует этот аспект.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означает сопровождение для ПО?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на минуту задуматься, то становится ясно, что этот термин употребляется неправильно: ПО не изнашивается от постоянного использования, и ему не требуется такое "обслуживание", как автомобилю или телевизору. Специалисты по программным продуктам используют это слово для описания уважаемых (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noble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 не очень уважаемых функций сопровождения.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 уважаемой, достойной части работы можно отнести модификацию системы.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Поскольку спецификации компьютерных систем меняются, отражая изменения во внешнем мире, должны меняться и сами системы. 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Наименее уважаемая часть - это запоздалая отладка: удаление ошибок, которых не должно было быть в начале.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Вышеприведенная диаграмма, взятая из ключевого исследования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Лиенца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Свонсона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проливает некоторый свет на то, что на самом деле значит включающий разнообразные понятия термин "сопровождение". Исследование рассмотрело 487 систем, разрабатывающих ПО разного рода; возможно, оно немного устарело, но более поздние публикации подтверждают те же общие результаты. Оно показывает долю стоимости, приходящуюся на каждый идентифицированный авторами вид работ по сопровождению.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Более двух пятых стоимости идет на расширения и модификации, требующиеся пользователям. Это то, что мы выше назвали уважаемой частью сопровождения, без которой работающая система обойтись не может. Неразрешенный вопрос в том, какую долю общей работы промышленность может сэкономить, если с самого начала она будет строить ПО, уделяя больше внимание расширяемости. Мы можем законно ожидать, что объектная технология здесь будет полезна.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Второй значимый фактор в распределения стоимости сопровождения особенно интересен: изменение формата данных. При изменении физической структуры файлов и других элементов данных приходится адаптировать программы. Например, американская почтовая служба несколько лет назад ввела почтовый код "5+4", использующий девять цифр вместо пяти. Пришлось переписывать многочисленные программы, имеющих дело с адресами и "знающих", что почтовый код состоит точно из пяти цифр. По сообщениям прессы, затраты оценивались в сотни миллионов долларов.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Другая известная проблема -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Millenium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переход компьютеров на даты нового тысячелетия.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Вопрос не в том, что некоторая часть программы знает физическую структуру данных: это неизбежно, поскольку доступ к данным необходим. Но при традиционных методах построения это знание распространяется слишком на многие части системы, приводя к неоправданно большим программным изменениям при изменении физической структуры. Другими словами, если почтовые коды изменяются с пяти до девяти цифр или даты требуют еще одной цифры, то резонно ожидать, что программа, манипулирующая кодами и датами, будет требовать адаптации. Недопустимо лишь, чтобы изменения в программе были несоизмеримы по сравнению с концептуальным размером изменения спецификации.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Теория абстрактных типов данных даст ключ к этой проблеме (Лекция 6 подробно описывает абстрактные типы данных), позволяя программам иметь доступ к данным с помощью внешних свойств, а не физической реализации.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Следующие пункты в списке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Лиенца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Свонсона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также интересны, но не так непосредственно связаны с темами этой книги. Аварийная отладка (производимая в спешке, когда пользователь сообщает, что программа не дает ожидаемых результатов или ведет себя катастрофически)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стoит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больше, чем обычные плановые исправления. Это так не только потому, что она производится в короткие сроки, но и потому, что она прерывает плановый процесс выпуска новых (безошибочных) вариантов и может дать новые ошибки.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Еще одно интересное наблюдение в распределении затрат по видам деятельности - это сравнительно низкая доля (5,5%) стоимости документации. Помните, что это - стоимость задач, решаемых в период эксплуатации. Наблюдение здесь - или скорее, догадка, при отсутствии более точных данных - таково: проект должен либо заботиться о том, чтобы создание документации стало частью разработки, либо совсем не делать этого. Мы научимся использовать стиль построения, в котором большая часть документации действительно встроена в ПО, и есть специальные инструменты для ее извлечения.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Последние два вида работ дают очень малую долю: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- это улучшение эффективности; похоже, предполагается, что когда система работает, менеджеры проекта и программисты неохотно прерывают ее работу с целью улучшения производительности, предпочитая не трогать довольно хорошую систему. (При рассмотрении принципа "сначала сделай ее хорошо, а потом сделай ее быстрой" многие проекты, возможно, вполне довольствуются первым шагом.)</a:t>
            </a:r>
          </a:p>
          <a:p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Небольшие средства тратятся и на "переход к новой аппаратной среде". Из-за отсутствия более детальных данных можно высказать лишь некоторое предположение. Все системы относятся к двум крайним случаям, промежуточные варианты практически отсутствуют. В первом случае системы изначально строятся как переносимые, и потому для них этот вид затрат невелик. Другие настолько тесно привязаны к своей первоначальной платформе и перенос был бы так труден, что разработчики даже не пытаются делать что-то в этом направлении.</a:t>
            </a: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21815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2000" b="1" i="0" u="none" strike="noStrike" baseline="0" dirty="0">
                <a:latin typeface="Arial,Bold"/>
              </a:rPr>
              <a:t>Fact 43</a:t>
            </a:r>
          </a:p>
          <a:p>
            <a:pPr algn="l"/>
            <a:r>
              <a:rPr lang="en-US" sz="1200" b="1" i="0" u="none" strike="noStrike" baseline="0" dirty="0">
                <a:latin typeface="TimesNewRoman"/>
              </a:rPr>
              <a:t>Maintenance is a solution, not a problem.</a:t>
            </a:r>
          </a:p>
          <a:p>
            <a:pPr algn="l"/>
            <a:endParaRPr lang="ru-RU" sz="1200" b="1" i="1" u="none" strike="noStrike" baseline="0" dirty="0">
              <a:latin typeface="Arial,BoldItalic"/>
            </a:endParaRPr>
          </a:p>
          <a:p>
            <a:pPr algn="l"/>
            <a:r>
              <a:rPr lang="en-US" sz="1200" b="1" i="1" u="none" strike="noStrike" baseline="0" dirty="0">
                <a:latin typeface="Arial,BoldItalic"/>
              </a:rPr>
              <a:t>Discussion</a:t>
            </a: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Oh, how I love this fact! </a:t>
            </a:r>
            <a:endParaRPr lang="ru-RU" sz="1200" b="0" i="0" u="none" strike="noStrike" baseline="0" dirty="0">
              <a:latin typeface="TimesNewRoman"/>
            </a:endParaRP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It says so succinctly what needs to be said about the field of software</a:t>
            </a:r>
            <a:r>
              <a:rPr lang="ru-RU" sz="1200" b="0" i="0" u="none" strike="noStrike" baseline="0" dirty="0">
                <a:latin typeface="TimesNewRoman"/>
              </a:rPr>
              <a:t> </a:t>
            </a:r>
            <a:r>
              <a:rPr lang="en-US" sz="1200" b="0" i="0" u="none" strike="noStrike" baseline="0" dirty="0">
                <a:latin typeface="TimesNewRoman"/>
              </a:rPr>
              <a:t>maintenance. </a:t>
            </a:r>
            <a:endParaRPr lang="ru-RU" sz="1200" b="0" i="0" u="none" strike="noStrike" baseline="0" dirty="0">
              <a:latin typeface="TimesNewRoman"/>
            </a:endParaRP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(Truth be told, I suppose this is more opinion than fact. But I hope by now the previous</a:t>
            </a:r>
            <a:r>
              <a:rPr lang="ru-RU" sz="1200" b="0" i="0" u="none" strike="noStrike" baseline="0" dirty="0">
                <a:latin typeface="TimesNewRoman"/>
              </a:rPr>
              <a:t> </a:t>
            </a:r>
            <a:r>
              <a:rPr lang="en-US" sz="1200" b="0" i="0" u="none" strike="noStrike" baseline="0" dirty="0">
                <a:latin typeface="TimesNewRoman"/>
              </a:rPr>
              <a:t>facts have led you to accept this one as fact as well.)</a:t>
            </a: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Far too many people see software maintenance as a problem, something to be diminished and perhaps</a:t>
            </a:r>
            <a:r>
              <a:rPr lang="ru-RU" sz="1200" b="0" i="0" u="none" strike="noStrike" baseline="0" dirty="0">
                <a:latin typeface="TimesNewRoman"/>
              </a:rPr>
              <a:t> </a:t>
            </a:r>
            <a:r>
              <a:rPr lang="en-US" sz="1200" b="0" i="0" u="none" strike="noStrike" baseline="0" dirty="0">
                <a:latin typeface="TimesNewRoman"/>
              </a:rPr>
              <a:t>even "obliterated." </a:t>
            </a:r>
            <a:endParaRPr lang="ru-RU" sz="1200" b="0" i="0" u="none" strike="noStrike" baseline="0" dirty="0">
              <a:latin typeface="TimesNewRoman"/>
            </a:endParaRP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In saying that, they are really expressing their ignorance. </a:t>
            </a:r>
            <a:endParaRPr lang="ru-RU" sz="1200" b="0" i="0" u="none" strike="noStrike" baseline="0" dirty="0">
              <a:latin typeface="TimesNewRoman"/>
            </a:endParaRP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The only way that</a:t>
            </a:r>
            <a:r>
              <a:rPr lang="ru-RU" sz="1200" b="0" i="0" u="none" strike="noStrike" baseline="0" dirty="0">
                <a:latin typeface="TimesNewRoman"/>
              </a:rPr>
              <a:t> </a:t>
            </a:r>
            <a:r>
              <a:rPr lang="en-US" sz="1200" b="0" i="0" u="none" strike="noStrike" baseline="0" dirty="0">
                <a:latin typeface="TimesNewRoman"/>
              </a:rPr>
              <a:t>software maintenance could be a problem would be if nearly all of it were about fixing errors. </a:t>
            </a:r>
            <a:endParaRPr lang="ru-RU" sz="1200" b="0" i="0" u="none" strike="noStrike" baseline="0" dirty="0">
              <a:latin typeface="TimesNewRoman"/>
            </a:endParaRP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And we</a:t>
            </a:r>
            <a:r>
              <a:rPr lang="ru-RU" sz="1200" b="0" i="0" u="none" strike="noStrike" baseline="0" dirty="0">
                <a:latin typeface="TimesNewRoman"/>
              </a:rPr>
              <a:t> </a:t>
            </a:r>
            <a:r>
              <a:rPr lang="en-US" sz="1200" b="0" i="0" u="none" strike="noStrike" baseline="0" dirty="0">
                <a:latin typeface="TimesNewRoman"/>
              </a:rPr>
              <a:t>have already seen that it's not. Far from it, in fact.</a:t>
            </a: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Maintenance, instead, is software's unique solution to the problem "we built this thing, but now we</a:t>
            </a: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wish we had built something a little different." In the tangible products field, this is a big dilemma. If</a:t>
            </a: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you've ever remodeled a house, for example, you know how difficult—and unpredictable—changing a</a:t>
            </a: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tangible product can be. (A remodeler once told me that most of his clients got divorces during the</a:t>
            </a: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[exceedingly contentious] remodeling process. I quickly decided I wouldn't do any remodeling!)</a:t>
            </a: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Instead, modifying software to do something different is comparatively simple. (Notice the key word</a:t>
            </a:r>
          </a:p>
          <a:p>
            <a:pPr algn="l"/>
            <a:r>
              <a:rPr lang="en-US" sz="1200" b="0" i="1" u="none" strike="noStrike" baseline="0" dirty="0">
                <a:latin typeface="TimesNewRoman,Italic"/>
              </a:rPr>
              <a:t>comparatively. </a:t>
            </a:r>
            <a:r>
              <a:rPr lang="en-US" sz="1200" b="0" i="0" u="none" strike="noStrike" baseline="0" dirty="0">
                <a:latin typeface="TimesNewRoman"/>
              </a:rPr>
              <a:t>Making changes to software is nontrivial. It's simply easier than its tangible product</a:t>
            </a: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alternatives.)</a:t>
            </a:r>
          </a:p>
          <a:p>
            <a:pPr algn="l"/>
            <a:r>
              <a:rPr lang="en-US" sz="1200" b="1" i="1" u="none" strike="noStrike" baseline="0" dirty="0">
                <a:latin typeface="Arial,BoldItalic"/>
              </a:rPr>
              <a:t>Controversy</a:t>
            </a: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The controversy about this fact is simply the culmination of the controversies about the previous two.</a:t>
            </a: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To the extent that this issue arises at all, there is probably more disagreement about this fact (and its</a:t>
            </a: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implications) than any other in the software field. But whereas controversy is usually about the</a:t>
            </a: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presentation of two relatively different but potentially correct points of view on a topic, in this case the</a:t>
            </a: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notion that maintenance in software is a problem is simply untrue. (How's that for spreading trouble</a:t>
            </a:r>
          </a:p>
          <a:p>
            <a:pPr algn="l"/>
            <a:r>
              <a:rPr lang="en-US" sz="1200" b="0" i="0" u="none" strike="noStrike" baseline="0" dirty="0">
                <a:latin typeface="TimesNewRoman"/>
              </a:rPr>
              <a:t>on oiled waters?)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1788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Процесс сопровождения охватывает следующие работы: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a)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подготовку процесса;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b)  анализ проблем и изменений (модификаций);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c)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внесение изменений;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d)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проверку и приемку при сопровождении;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e)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перенос;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f)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снятие с эксплуатации.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Исходные данные преобразуют или используют в работах по сопровождению для получения выходных результатов.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Рекомендуется проводить соответствующий контроль с целью проверить корректность выходных результатов конкретной работы по сопровождению.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Выходными результатами являются соответствующие данные или объекты, создаваемые при выполнении конкретной работы по сопровождению.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обеспечения работ по сопровождению используют вспомогательные и организационные процессы по ГОСТ Р ИСО/МЭК 12207.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 рисунке 2 показана общая структура процесса сопровождения.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12459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  <a:p>
            <a:r>
              <a:rPr lang="ru-RU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8.6 Снятие программного средства с эксплуатации</a:t>
            </a: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Сразу же по достижении программным продуктом окончания срока его службы этот программный продукт должен быть снят с эксплуатации.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Должен быть проведен анализ, подтверждающий решение о снятии программного продукта с эксплуатации.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 правило, подобный анализ экономически обоснован и может быть включен в план снятия с эксплуатации. 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анализе должны быть определены и экономически обоснованы: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 возможность сохранения устаревшей технологии;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переход на новую технологию путем создания нового программного продукта;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разработка нового программного продукта для обеспечения модульности;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разработка нового программного продукта для упрощения сопровождения;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разработка нового программного продукта для обеспечения стандартизации;</a:t>
            </a:r>
          </a:p>
          <a:p>
            <a:pPr marL="171450" indent="-171450">
              <a:buFontTx/>
              <a:buChar char="-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разработка нового программного продукта для обеспечения независимости продавца. </a:t>
            </a:r>
          </a:p>
          <a:p>
            <a:pPr marL="171450" indent="-171450">
              <a:buFontTx/>
              <a:buChar char="-"/>
            </a:pPr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Конкретный программный продукт может быть заменен новым продуктом, но в ряде случаев это может быть не прямой заменой одного продукта другим. </a:t>
            </a:r>
          </a:p>
          <a:p>
            <a:pPr marL="0" indent="0">
              <a:buFontTx/>
              <a:buNone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 снятии программного продукта сопроводитель должен определить необходимые для этого действия, а затем разработать и документально оформить этапы работ, обеспечивающие эффективное снятие продукта с эксплуатации. </a:t>
            </a:r>
          </a:p>
          <a:p>
            <a:pPr marL="0" indent="0">
              <a:buFontTx/>
              <a:buNone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Должны быть предусмотрены возможности доступа к архивным данным снятого программного продукта.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8.6.1   Исходные данные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Исходными данными для проведения работы по снятию с эксплуатации являются: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удаляемая базовая линия старого программного продукта;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 новый программный продукт;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старая среда эксплуатации.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8.6.2  Задачи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Сопроводитель, выполняющий снятие программного продукта с эксплуатации в соответствии с ГОСТ Р ИСО/МЭК 12207, должен разработать план снятия с эксплуатации, уведомить пользователей об этом, провести соответствующее обучение персонала, уведомить всех заинтересованных субъектов о завершении снятия продукта с эксплуатации и архивировать соответствующие данные.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8.6.2.1   План снятия с эксплуатации 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Должен быть (см. 5.5.6.1 ГОСТ Р ИСО/МЭК 12207) разработан, документально оформлен и реализован план снятия с эксплуатации при прекращении активной поддержки объекта эксплуатирующими и сопровождающими организациями.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 запланированным работам должны быть привлечены пользователи. 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содержание плана должны быть включены: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a)  сроки прекращения полной или частичной поддержки;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b)  требования по архивации программного продукта и соответствующих документов;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c)  обязательства по любым оставшимся вопросам поддержки;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d)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сроки перехода, при необходимости, к новому программному продукту; с) требования по доступу к архивным копиям данных.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 часть указанной задачи сопроводитель должен выполнить следующие этапы: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a)  анализ требований к снятию с эксплуатации;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b)  определить влияние снятия программного продукта на систему;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c)  установить программный продукт, заменяющий снимаемый (при его наличии);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d)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разработать график (программу) снятия программного продукта с эксплуатации;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e)  определить обязанности по любым оставшимся вопросам последующей поддержки системы;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f)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определить и документировать все действия по снятию с эксплуатации. 8.6.2.2 Уведомление о намерениях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Пользователи должны (см. 5.5.6.2 ГОСТ Р ИСО/МЭК 12207) получить уведомление о планах и работах по снятию с эксплуатации.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 содержание уведомления должны быть включены: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a)  описание заменяющего или модернизированного объекта с указанием даты его доступности для пользователей;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b)  объяснение того, почему прежний программный продукт нельзя больше поддерживать;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c)  описание других доступных вариантов поддержки в случае прекращения поддержки прежнего объекта.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 часть указанной задачи сопроводитель должен выполнить следующие этапы: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a)  определить все объекты (и их местоположения), затрагиваемые при данной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pa6oic;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b)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определить специфику каждого абонента;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c)  опубликовать соответствующий график (программу) снятия;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d)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отработать обратную связь с абонентами.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8.6.2.3 Реализация параллельной эксплуатации и обучение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Для плавного перехода к новой системе должна (см. 5.5.6.3 ГОСТ Р ИСО/МЭК 12207) быть проведена параллельная эксплуатация прежнего и нового программных продуктов. В течение этого периода обеспечивают необходимое обучение пользователей в соответствии с условиями договора.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 часть указанной задачи сопроводитель должен выполнить следующие этапы: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a)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провести обследование абонента;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b)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установить оборудование;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c)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установить программный продукт;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d)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провести предварительные испытания для проверки правильности установки технических и программных средств;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прогнать программные средства при рабочей загрузке параллельно со старой системой;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f)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собрать данные о новых и старых продуктах;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g)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выполнить преобразование данных и их анализ. </a:t>
            </a:r>
          </a:p>
          <a:p>
            <a:endParaRPr lang="ru-RU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8.6.2.4 Уведомление о завершении снятия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После выполнения запланированного снятия с эксплуатации должно быть (см. 5.5.6.4 ГОСТ Р ИСО/МЭК 12207) послано соответствующее уведомление всем заинтересованным сторонам. Все связанные с прежним объектом документы разработки, журналы регистрации и программы должны быть, при необходимости, помещены в архивы.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Как часть указанной задачи сопроводитель должен выполнить следующие этапы: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a)  опубликовать изменения к графику (программе) снятия;</a:t>
            </a:r>
          </a:p>
          <a:p>
            <a:pPr marL="228600" indent="-228600">
              <a:buAutoNum type="alphaLcParenR" startAt="2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документально зафиксировать специфику абонента и соответствующие решения; 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c)  архивировать старые программные средства и данные;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d)  </a:t>
            </a: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снять старое оборудование. 8.6.2.5 Архивные данные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Данные, использованные или связанные со снятым с эксплуатации программным продуктом, должны быть (см. 5.5.6.5 ГОСТ Р ИСО/МЭК 12207) доступными для защиты и аудиторской проверки в соответствии с условиями договора.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Должно быть проведено обновление данных на архивных носителях (компакт-дисках и других видах носителей) для упрощения поиска этих данных. Как часть указанной задачи сопроводитель должен выполнить следующие этапы: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a)  сохранить старые программные средства и данные, полученные при решении предыдущих задач;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b)  создать копии старых программных средств и данных, полученных при решении предыдущих задач;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c)  хранить соответствующие носители в безопасном месте.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8.6.3   Проверки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Контроль за рассматриваемой работой проводят посредством процесса совместного анализа (6.6 ГОСТ Р ИСО/МЭК 12207).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8.6.4  Обеспечение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 выполнении работы по снятию программного средства с эксплуатации используют следующие вспомогательные и организационные процессы жизненного цикла по ГОСТ Р ИСО/ МЭК 12207: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документирования;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управления конфигурацией;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обеспечения качества;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совместного анализа;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аудита;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обучения. 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8.6.5 Выходные результаты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Выходными результатами данной работы являются: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план снятия с эксплуатации;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уведомление о намерениях по снятию с эксплуатации;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результаты, полученные при выполнении снятия программного средства с эксплуатации;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обученный персонал;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снятый с эксплуатации программный продукт;</a:t>
            </a:r>
          </a:p>
          <a:p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 уведомление о завершении снятия с эксплуатации;</a:t>
            </a:r>
          </a:p>
          <a:p>
            <a:pPr marL="171450" indent="-171450">
              <a:buFontTx/>
              <a:buChar char="-"/>
            </a:pPr>
            <a:r>
              <a:rPr lang="ru-RU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архивированная базовая линия.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8D0756-48EF-4289-82F8-85562A36222F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5902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6F22-946C-441B-83E6-4D4D9DEE1BD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3442-6212-4C4A-8808-28B8A38E29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811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6F22-946C-441B-83E6-4D4D9DEE1BD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3442-6212-4C4A-8808-28B8A38E29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6586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6F22-946C-441B-83E6-4D4D9DEE1BD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3442-6212-4C4A-8808-28B8A38E29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470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6F22-946C-441B-83E6-4D4D9DEE1BD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3442-6212-4C4A-8808-28B8A38E29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493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6F22-946C-441B-83E6-4D4D9DEE1BD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3442-6212-4C4A-8808-28B8A38E29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535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6F22-946C-441B-83E6-4D4D9DEE1BD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3442-6212-4C4A-8808-28B8A38E29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62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6F22-946C-441B-83E6-4D4D9DEE1BD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3442-6212-4C4A-8808-28B8A38E29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774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6F22-946C-441B-83E6-4D4D9DEE1BD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3442-6212-4C4A-8808-28B8A38E29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3186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6F22-946C-441B-83E6-4D4D9DEE1BD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3442-6212-4C4A-8808-28B8A38E29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785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6F22-946C-441B-83E6-4D4D9DEE1BD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3442-6212-4C4A-8808-28B8A38E29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662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6F22-946C-441B-83E6-4D4D9DEE1BD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43442-6212-4C4A-8808-28B8A38E29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8759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6F03BF-4B68-4500-A819-871F9F3A9B6E}" type="datetimeFigureOut">
              <a:rPr lang="ru-RU"/>
              <a:pPr>
                <a:defRPr/>
              </a:pPr>
              <a:t>11.01.2026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cs typeface="+mn-cs"/>
              </a:defRPr>
            </a:lvl1pPr>
          </a:lstStyle>
          <a:p>
            <a:pPr>
              <a:defRPr/>
            </a:pPr>
            <a:fld id="{4620CC8D-89C3-4DB0-AF2A-8357D8F7A71C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31259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25A1DA-4E1D-43A8-A944-AD087FEEA2EC}" type="datetimeFigureOut">
              <a:rPr lang="ru-RU"/>
              <a:pPr>
                <a:defRPr/>
              </a:pPr>
              <a:t>11.01.2026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cs typeface="+mn-cs"/>
              </a:defRPr>
            </a:lvl1pPr>
          </a:lstStyle>
          <a:p>
            <a:pPr>
              <a:defRPr/>
            </a:pPr>
            <a:fld id="{219C02C2-5AF1-46C5-9920-ED8AABD675B4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68284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6C8228-6ED0-402A-B037-B895392B1B71}" type="datetimeFigureOut">
              <a:rPr lang="ru-RU"/>
              <a:pPr>
                <a:defRPr/>
              </a:pPr>
              <a:t>11.01.2026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cs typeface="+mn-cs"/>
              </a:defRPr>
            </a:lvl1pPr>
          </a:lstStyle>
          <a:p>
            <a:pPr>
              <a:defRPr/>
            </a:pPr>
            <a:fld id="{E05CB2EF-EE5E-4F29-A298-21BB8256636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23970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A319A-475E-48AE-8791-EFADEEFC971F}" type="datetimeFigureOut">
              <a:rPr lang="ru-RU"/>
              <a:pPr>
                <a:defRPr/>
              </a:pPr>
              <a:t>11.01.2026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cs typeface="+mn-cs"/>
              </a:defRPr>
            </a:lvl1pPr>
          </a:lstStyle>
          <a:p>
            <a:pPr>
              <a:defRPr/>
            </a:pPr>
            <a:fld id="{6CAA335F-0181-4539-94CA-4063E591A226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221862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F593DF-AA8A-4936-ABB8-3365972D3DEC}" type="datetimeFigureOut">
              <a:rPr lang="ru-RU"/>
              <a:pPr>
                <a:defRPr/>
              </a:pPr>
              <a:t>11.01.2026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cs typeface="+mn-cs"/>
              </a:defRPr>
            </a:lvl1pPr>
          </a:lstStyle>
          <a:p>
            <a:pPr>
              <a:defRPr/>
            </a:pPr>
            <a:fld id="{7394B898-2A52-40A6-838F-287B25CFC043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856309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B20D9-9BA8-4AF7-BE9E-469BC450F2D8}" type="datetimeFigureOut">
              <a:rPr lang="ru-RU"/>
              <a:pPr>
                <a:defRPr/>
              </a:pPr>
              <a:t>11.01.2026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cs typeface="+mn-cs"/>
              </a:defRPr>
            </a:lvl1pPr>
          </a:lstStyle>
          <a:p>
            <a:pPr>
              <a:defRPr/>
            </a:pPr>
            <a:fld id="{6C136684-B051-4C5E-BFDF-0C64EF52E81B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176001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7FDC22-E84D-42B9-A11F-F1527F11026C}" type="datetimeFigureOut">
              <a:rPr lang="ru-RU"/>
              <a:pPr>
                <a:defRPr/>
              </a:pPr>
              <a:t>11.01.2026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cs typeface="+mn-cs"/>
              </a:defRPr>
            </a:lvl1pPr>
          </a:lstStyle>
          <a:p>
            <a:pPr>
              <a:defRPr/>
            </a:pPr>
            <a:fld id="{042A3250-C311-42C7-A98E-EA99CDD3C162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633581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6177E-C546-4F0C-ABB8-E3BB794CB131}" type="datetimeFigureOut">
              <a:rPr lang="ru-RU"/>
              <a:pPr>
                <a:defRPr/>
              </a:pPr>
              <a:t>11.01.2026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cs typeface="+mn-cs"/>
              </a:defRPr>
            </a:lvl1pPr>
          </a:lstStyle>
          <a:p>
            <a:pPr>
              <a:defRPr/>
            </a:pPr>
            <a:fld id="{7A9710D1-6F26-4AE8-BD6F-118946DB51C8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200101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D121A-BFBF-444D-AFE0-C6076ECDA018}" type="datetimeFigureOut">
              <a:rPr lang="ru-RU"/>
              <a:pPr>
                <a:defRPr/>
              </a:pPr>
              <a:t>11.01.2026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cs typeface="+mn-cs"/>
              </a:defRPr>
            </a:lvl1pPr>
          </a:lstStyle>
          <a:p>
            <a:pPr>
              <a:defRPr/>
            </a:pPr>
            <a:fld id="{937C2834-D0A3-4992-8FE3-4145B40CFC07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374920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AF9CBB-5762-4049-BE0D-B39E597E8456}" type="datetimeFigureOut">
              <a:rPr lang="ru-RU"/>
              <a:pPr>
                <a:defRPr/>
              </a:pPr>
              <a:t>11.01.2026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cs typeface="+mn-cs"/>
              </a:defRPr>
            </a:lvl1pPr>
          </a:lstStyle>
          <a:p>
            <a:pPr>
              <a:defRPr/>
            </a:pPr>
            <a:fld id="{69E8859D-497C-4937-AD74-ED489E138E5D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9975638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DDBFF5-EF06-4B2E-AFB1-B87C585479A5}" type="datetimeFigureOut">
              <a:rPr lang="ru-RU"/>
              <a:pPr>
                <a:defRPr/>
              </a:pPr>
              <a:t>11.01.2026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mtClean="0">
                <a:cs typeface="+mn-cs"/>
              </a:defRPr>
            </a:lvl1pPr>
          </a:lstStyle>
          <a:p>
            <a:pPr>
              <a:defRPr/>
            </a:pPr>
            <a:fld id="{24C065AA-1F7C-40C9-9506-1FDFDDEB15D0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7846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C26F22-946C-441B-83E6-4D4D9DEE1BD0}" type="datetimeFigureOut">
              <a:rPr lang="ru-RU" smtClean="0"/>
              <a:t>11.01.2026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43442-6212-4C4A-8808-28B8A38E29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466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C053AE0-2CB1-4214-832D-1537CBD6F6FE}" type="datetimeFigureOut">
              <a:rPr lang="ru-RU"/>
              <a:pPr>
                <a:defRPr/>
              </a:pPr>
              <a:t>11.01.2026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A396915-721B-461F-A088-0384068A3FE4}" type="slidenum">
              <a:rPr lang="ru-RU" altLang="ru-RU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49153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1520" y="1124744"/>
            <a:ext cx="8640960" cy="3384376"/>
          </a:xfrm>
        </p:spPr>
        <p:txBody>
          <a:bodyPr>
            <a:normAutofit/>
          </a:bodyPr>
          <a:lstStyle/>
          <a:p>
            <a:r>
              <a:rPr lang="ru-RU" dirty="0"/>
              <a:t>Технология разработки программного обеспечения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95536" y="4941168"/>
            <a:ext cx="8424936" cy="1270992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Лекция 1</a:t>
            </a:r>
          </a:p>
          <a:p>
            <a:r>
              <a:rPr lang="ru-RU" dirty="0"/>
              <a:t>. Внедрение и сопровождение  программного обеспечения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833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94122"/>
          </a:xfrm>
        </p:spPr>
        <p:txBody>
          <a:bodyPr>
            <a:normAutofit/>
          </a:bodyPr>
          <a:lstStyle/>
          <a:p>
            <a:r>
              <a:rPr lang="ru-RU" altLang="ru-RU" dirty="0"/>
              <a:t>Этапы жизненного цикла ПО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484784"/>
            <a:ext cx="8892480" cy="5373216"/>
          </a:xfrm>
        </p:spPr>
        <p:txBody>
          <a:bodyPr rtlCol="0">
            <a:normAutofit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Выявление требований.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Анализ системы (требований)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Проектирование программного обеспечения.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Реализация программного обеспечения.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Тестирование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b="1" dirty="0"/>
              <a:t>Внедрение 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Сопровождение</a:t>
            </a:r>
            <a:endParaRPr lang="en-US" dirty="0"/>
          </a:p>
          <a:p>
            <a:pPr marL="514350" indent="-514350">
              <a:buFont typeface="+mj-lt"/>
              <a:buAutoNum type="arabicPeriod"/>
              <a:defRPr/>
            </a:pPr>
            <a:r>
              <a:rPr lang="ru-RU" dirty="0"/>
              <a:t>Снятие ПО с эксплуатации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2981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492896"/>
            <a:ext cx="91440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u-RU" b="1" dirty="0"/>
              <a:t>Внедрение программного обеспечения</a:t>
            </a:r>
          </a:p>
        </p:txBody>
      </p:sp>
    </p:spTree>
    <p:extLst>
      <p:ext uri="{BB962C8B-B14F-4D97-AF65-F5344CB8AC3E}">
        <p14:creationId xmlns:p14="http://schemas.microsoft.com/office/powerpoint/2010/main" val="2759007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94122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ru-RU" dirty="0"/>
              <a:t>Внедрение ПО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484784"/>
            <a:ext cx="8892480" cy="5373216"/>
          </a:xfrm>
        </p:spPr>
        <p:txBody>
          <a:bodyPr rtlCol="0">
            <a:normAutofit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Планирование развертывания в вычислительной среде организации заказчика.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Выполнение внедрения в работу организации заказчика.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Установка программ на компьютерах заказчика.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4818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22114"/>
          </a:xfrm>
        </p:spPr>
        <p:txBody>
          <a:bodyPr/>
          <a:lstStyle/>
          <a:p>
            <a:r>
              <a:rPr lang="ru-RU" dirty="0"/>
              <a:t>Современные программные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892480" cy="5517232"/>
          </a:xfrm>
        </p:spPr>
        <p:txBody>
          <a:bodyPr/>
          <a:lstStyle/>
          <a:p>
            <a:r>
              <a:rPr lang="ru-RU" dirty="0"/>
              <a:t>Распределенные</a:t>
            </a:r>
            <a:endParaRPr lang="en-US" dirty="0"/>
          </a:p>
          <a:p>
            <a:pPr lvl="1"/>
            <a:r>
              <a:rPr lang="ru-RU" dirty="0"/>
              <a:t>работают в локальной или глобальной сети</a:t>
            </a:r>
            <a:endParaRPr lang="en-US" dirty="0"/>
          </a:p>
          <a:p>
            <a:pPr lvl="1"/>
            <a:r>
              <a:rPr lang="ru-RU" dirty="0"/>
              <a:t>отдельные части системы хранятся и работают на разных компьютерах (узлах вычислительной среды).</a:t>
            </a:r>
          </a:p>
          <a:p>
            <a:pPr lvl="1"/>
            <a:r>
              <a:rPr lang="ru-RU" dirty="0"/>
              <a:t>используется связующее ПО (</a:t>
            </a:r>
            <a:r>
              <a:rPr lang="en-US" dirty="0"/>
              <a:t>middleware</a:t>
            </a:r>
            <a:r>
              <a:rPr lang="ru-RU" dirty="0"/>
              <a:t>)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Компонентные</a:t>
            </a:r>
          </a:p>
          <a:p>
            <a:pPr lvl="1"/>
            <a:r>
              <a:rPr lang="ru-RU" dirty="0"/>
              <a:t>собственные разработанные компоненты</a:t>
            </a:r>
            <a:r>
              <a:rPr lang="en-US" dirty="0"/>
              <a:t>;</a:t>
            </a:r>
            <a:endParaRPr lang="ru-RU" dirty="0"/>
          </a:p>
          <a:p>
            <a:pPr lvl="1"/>
            <a:r>
              <a:rPr lang="ru-RU" dirty="0"/>
              <a:t>готовые (разработанные другими компаниями).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491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94122"/>
          </a:xfrm>
        </p:spPr>
        <p:txBody>
          <a:bodyPr/>
          <a:lstStyle/>
          <a:p>
            <a:r>
              <a:rPr lang="ru-RU" dirty="0"/>
              <a:t>Вычислительная среда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412776"/>
            <a:ext cx="8892480" cy="5445224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Программная система работает в некоторой вычислительной среде.</a:t>
            </a:r>
          </a:p>
          <a:p>
            <a:r>
              <a:rPr lang="ru-RU" dirty="0"/>
              <a:t>Вычислительной среда – это совокупность технических и программных средств для поддержки работы программной системы.</a:t>
            </a:r>
          </a:p>
          <a:p>
            <a:r>
              <a:rPr lang="ru-RU" dirty="0"/>
              <a:t>Вычислительная среда включает</a:t>
            </a:r>
          </a:p>
          <a:p>
            <a:pPr lvl="1"/>
            <a:r>
              <a:rPr lang="ru-RU" dirty="0"/>
              <a:t>набор программных серверов</a:t>
            </a:r>
          </a:p>
          <a:p>
            <a:pPr lvl="2"/>
            <a:r>
              <a:rPr lang="en-US" dirty="0"/>
              <a:t>Web-</a:t>
            </a:r>
            <a:r>
              <a:rPr lang="ru-RU" dirty="0"/>
              <a:t>серверы</a:t>
            </a:r>
          </a:p>
          <a:p>
            <a:pPr lvl="2"/>
            <a:r>
              <a:rPr lang="ru-RU" dirty="0"/>
              <a:t>Серверы БД</a:t>
            </a:r>
          </a:p>
          <a:p>
            <a:pPr lvl="2"/>
            <a:r>
              <a:rPr lang="ru-RU" dirty="0"/>
              <a:t>…</a:t>
            </a:r>
          </a:p>
          <a:p>
            <a:pPr lvl="1"/>
            <a:r>
              <a:rPr lang="ru-RU" dirty="0"/>
              <a:t>набор стандартных сервисов</a:t>
            </a:r>
          </a:p>
          <a:p>
            <a:pPr lvl="2"/>
            <a:r>
              <a:rPr lang="ru-RU" dirty="0"/>
              <a:t>сервисы именований</a:t>
            </a:r>
          </a:p>
          <a:p>
            <a:pPr lvl="2"/>
            <a:r>
              <a:rPr lang="ru-RU" dirty="0"/>
              <a:t>поисковые сервисы</a:t>
            </a:r>
          </a:p>
          <a:p>
            <a:pPr lvl="1"/>
            <a:r>
              <a:rPr lang="ru-RU" dirty="0"/>
              <a:t>набор стандартных библиотек</a:t>
            </a:r>
          </a:p>
          <a:p>
            <a:pPr lvl="1"/>
            <a:r>
              <a:rPr lang="ru-RU" dirty="0"/>
              <a:t>набор стандартных компонент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3135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22114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Развертывание программной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892480" cy="5517232"/>
          </a:xfrm>
        </p:spPr>
        <p:txBody>
          <a:bodyPr>
            <a:normAutofit fontScale="92500" lnSpcReduction="10000"/>
          </a:bodyPr>
          <a:lstStyle/>
          <a:p>
            <a:r>
              <a:rPr lang="ru-RU" b="1" i="1" dirty="0"/>
              <a:t>Развертывание ПС</a:t>
            </a:r>
            <a:r>
              <a:rPr lang="ru-RU" dirty="0"/>
              <a:t> (</a:t>
            </a:r>
            <a:r>
              <a:rPr lang="en-US" dirty="0"/>
              <a:t>deployment</a:t>
            </a:r>
            <a:r>
              <a:rPr lang="ru-RU" dirty="0"/>
              <a:t>) – это распределение элементов системы между компьютерами (узлами вычислительной системы) для эффективного функционирования.</a:t>
            </a:r>
          </a:p>
          <a:p>
            <a:pPr lvl="1"/>
            <a:r>
              <a:rPr lang="ru-RU" dirty="0"/>
              <a:t>развертывание – это процесс распределения артефактов по узлам или экземпляров артефактов по экземплярам узлов. </a:t>
            </a:r>
          </a:p>
          <a:p>
            <a:r>
              <a:rPr lang="ru-RU" dirty="0"/>
              <a:t>Распределяются созданные в процессе разработки </a:t>
            </a:r>
            <a:r>
              <a:rPr lang="ru-RU" b="1" i="1" dirty="0"/>
              <a:t>артефакты</a:t>
            </a:r>
            <a:r>
              <a:rPr lang="ru-RU" dirty="0"/>
              <a:t> системы:</a:t>
            </a:r>
          </a:p>
          <a:p>
            <a:pPr lvl="1"/>
            <a:r>
              <a:rPr lang="ru-RU" dirty="0"/>
              <a:t>подсистемы, </a:t>
            </a:r>
          </a:p>
          <a:p>
            <a:pPr lvl="1"/>
            <a:r>
              <a:rPr lang="ru-RU" dirty="0"/>
              <a:t>компоненты (утилиты, библиотеки, </a:t>
            </a:r>
            <a:r>
              <a:rPr lang="ru-RU" dirty="0" err="1"/>
              <a:t>фреймверки</a:t>
            </a:r>
            <a:r>
              <a:rPr lang="ru-RU" dirty="0"/>
              <a:t>), </a:t>
            </a:r>
          </a:p>
          <a:p>
            <a:pPr lvl="1"/>
            <a:r>
              <a:rPr lang="ru-RU" dirty="0"/>
              <a:t>дополнительные файлы (установочные, настроечные, …)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188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922114"/>
          </a:xfrm>
        </p:spPr>
        <p:txBody>
          <a:bodyPr>
            <a:normAutofit/>
          </a:bodyPr>
          <a:lstStyle/>
          <a:p>
            <a:r>
              <a:rPr lang="en-US" sz="4000" dirty="0"/>
              <a:t>UML </a:t>
            </a:r>
            <a:r>
              <a:rPr lang="ru-RU" sz="4000" dirty="0"/>
              <a:t>диаграмма развертывания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196752"/>
            <a:ext cx="8892480" cy="5661248"/>
          </a:xfrm>
        </p:spPr>
        <p:txBody>
          <a:bodyPr>
            <a:normAutofit fontScale="85000" lnSpcReduction="20000"/>
          </a:bodyPr>
          <a:lstStyle/>
          <a:p>
            <a:r>
              <a:rPr lang="ru-RU" b="1" i="1" dirty="0"/>
              <a:t>Диаграмма развертывания</a:t>
            </a:r>
            <a:r>
              <a:rPr lang="ru-RU" dirty="0"/>
              <a:t> (диаграмма развертывания, </a:t>
            </a:r>
            <a:r>
              <a:rPr lang="en-US" dirty="0"/>
              <a:t>deployment diagram</a:t>
            </a:r>
            <a:r>
              <a:rPr lang="ru-RU" dirty="0"/>
              <a:t>) – модель распределения ПС на физическом оборудовании. </a:t>
            </a:r>
          </a:p>
          <a:p>
            <a:pPr lvl="1"/>
            <a:r>
              <a:rPr lang="ru-RU" dirty="0"/>
              <a:t>определяет физическое оборудование, на котором будет выполняться программная система, </a:t>
            </a:r>
          </a:p>
          <a:p>
            <a:pPr lvl="1"/>
            <a:r>
              <a:rPr lang="ru-RU" dirty="0"/>
              <a:t>описывает, как программное обеспечение развертывается на это оборудование.</a:t>
            </a:r>
          </a:p>
          <a:p>
            <a:r>
              <a:rPr lang="ru-RU" dirty="0"/>
              <a:t>Диаграмма развертывания проецирует программную архитектуру, созданную при проектировании, на исполняющую ее физическую архитектуру системы.</a:t>
            </a:r>
          </a:p>
          <a:p>
            <a:r>
              <a:rPr lang="ru-RU" i="1" dirty="0"/>
              <a:t>Диаграмма развертывания</a:t>
            </a:r>
            <a:r>
              <a:rPr lang="ru-RU" dirty="0"/>
              <a:t> показывает </a:t>
            </a:r>
          </a:p>
          <a:p>
            <a:pPr lvl="1"/>
            <a:r>
              <a:rPr lang="ru-RU" dirty="0"/>
              <a:t>топологию системы</a:t>
            </a:r>
          </a:p>
          <a:p>
            <a:pPr lvl="1"/>
            <a:r>
              <a:rPr lang="ru-RU" dirty="0"/>
              <a:t>распределение компонентов системы по ее узлам, </a:t>
            </a:r>
          </a:p>
          <a:p>
            <a:pPr lvl="1"/>
            <a:r>
              <a:rPr lang="ru-RU" dirty="0"/>
              <a:t>соединения - маршруты передачи информации между аппаратными узлами. 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4807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5010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Примеры диаграмм развертывания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AutoShape 2" descr="Картинки по запросу UML диаграмма развертывания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9" name="Picture 5" descr="http://dit.isuct.ru/ivt/books/CASE/case11/ch30/30-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24" y="1484784"/>
            <a:ext cx="3484398" cy="288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http://dit.isuct.ru/ivt/books/CASE/case11/ch30/30-4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3501008"/>
            <a:ext cx="4752528" cy="3197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738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22114"/>
          </a:xfrm>
        </p:spPr>
        <p:txBody>
          <a:bodyPr>
            <a:normAutofit/>
          </a:bodyPr>
          <a:lstStyle/>
          <a:p>
            <a:r>
              <a:rPr lang="ru-RU" dirty="0"/>
              <a:t>Артефакты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05680" y="1484784"/>
            <a:ext cx="8938320" cy="5373216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 узлах диаграммы развертывания показываются </a:t>
            </a:r>
            <a:r>
              <a:rPr lang="ru-RU" b="1" i="1" dirty="0"/>
              <a:t>артефакты</a:t>
            </a:r>
            <a:r>
              <a:rPr lang="ru-RU" dirty="0"/>
              <a:t>. </a:t>
            </a:r>
          </a:p>
          <a:p>
            <a:r>
              <a:rPr lang="ru-RU" b="1" i="1" dirty="0"/>
              <a:t>Артефакт</a:t>
            </a:r>
            <a:r>
              <a:rPr lang="ru-RU" dirty="0"/>
              <a:t> – это описание конкретной, реальной сущности, созданной или используемой в проекте</a:t>
            </a:r>
          </a:p>
          <a:p>
            <a:r>
              <a:rPr lang="ru-RU" dirty="0"/>
              <a:t>Примеры артефактов:</a:t>
            </a:r>
          </a:p>
          <a:p>
            <a:pPr lvl="1"/>
            <a:r>
              <a:rPr lang="ru-RU" dirty="0"/>
              <a:t>исходные файлы;</a:t>
            </a:r>
          </a:p>
          <a:p>
            <a:pPr lvl="1"/>
            <a:r>
              <a:rPr lang="ru-RU" dirty="0"/>
              <a:t>исполняемые файлы;</a:t>
            </a:r>
          </a:p>
          <a:p>
            <a:pPr lvl="1"/>
            <a:r>
              <a:rPr lang="ru-RU" dirty="0"/>
              <a:t>сценарии;</a:t>
            </a:r>
          </a:p>
          <a:p>
            <a:pPr lvl="1"/>
            <a:r>
              <a:rPr lang="ru-RU" dirty="0"/>
              <a:t>таблицы баз данных;</a:t>
            </a:r>
          </a:p>
          <a:p>
            <a:pPr lvl="1"/>
            <a:r>
              <a:rPr lang="ru-RU" dirty="0"/>
              <a:t>документы;</a:t>
            </a:r>
          </a:p>
          <a:p>
            <a:pPr lvl="1"/>
            <a:r>
              <a:rPr lang="ru-RU" dirty="0"/>
              <a:t>результаты процесса разработки (например UML-модель).</a:t>
            </a:r>
          </a:p>
          <a:p>
            <a:r>
              <a:rPr lang="ru-RU" dirty="0"/>
              <a:t>Артефакты помечены стереотипом </a:t>
            </a:r>
            <a:r>
              <a:rPr lang="ru-RU" dirty="0">
                <a:solidFill>
                  <a:srgbClr val="0000FF"/>
                </a:solidFill>
              </a:rPr>
              <a:t>«</a:t>
            </a:r>
            <a:r>
              <a:rPr lang="ru-RU" dirty="0" err="1">
                <a:solidFill>
                  <a:srgbClr val="0000FF"/>
                </a:solidFill>
              </a:rPr>
              <a:t>artifact</a:t>
            </a:r>
            <a:r>
              <a:rPr lang="ru-RU" dirty="0">
                <a:solidFill>
                  <a:srgbClr val="0000FF"/>
                </a:solidFill>
              </a:rPr>
              <a:t>»</a:t>
            </a:r>
            <a:r>
              <a:rPr lang="ru-RU" dirty="0"/>
              <a:t>. 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7447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50106"/>
          </a:xfrm>
        </p:spPr>
        <p:txBody>
          <a:bodyPr/>
          <a:lstStyle/>
          <a:p>
            <a:r>
              <a:rPr lang="ru-RU" dirty="0"/>
              <a:t>Экземпляр артефакта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42150" y="1556792"/>
            <a:ext cx="8901850" cy="5257800"/>
          </a:xfrm>
        </p:spPr>
        <p:txBody>
          <a:bodyPr>
            <a:normAutofit/>
          </a:bodyPr>
          <a:lstStyle/>
          <a:p>
            <a:r>
              <a:rPr lang="ru-RU" dirty="0"/>
              <a:t>Экземпляр артефакта представляет некоторую копию конкретного артефакта</a:t>
            </a:r>
          </a:p>
          <a:p>
            <a:pPr lvl="1"/>
            <a:r>
              <a:rPr lang="ru-RU" dirty="0"/>
              <a:t>Например, копию файла </a:t>
            </a:r>
            <a:r>
              <a:rPr lang="ru-RU" dirty="0">
                <a:solidFill>
                  <a:srgbClr val="0000FF"/>
                </a:solidFill>
              </a:rPr>
              <a:t>BankAccount.java</a:t>
            </a:r>
            <a:r>
              <a:rPr lang="ru-RU" dirty="0"/>
              <a:t>, развернутую на конкретном компьютере. </a:t>
            </a:r>
          </a:p>
          <a:p>
            <a:r>
              <a:rPr lang="ru-RU" dirty="0"/>
              <a:t>Экземпляры артефактов развертываются на экземплярах узлов.</a:t>
            </a:r>
          </a:p>
          <a:p>
            <a:r>
              <a:rPr lang="ru-RU" dirty="0"/>
              <a:t>Артефакты могут представлять один или более компонентов.</a:t>
            </a:r>
          </a:p>
          <a:p>
            <a:r>
              <a:rPr lang="ru-RU" dirty="0"/>
              <a:t>Артефакты могут обеспечивать физическое представление UML-элементов любого типа. 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1743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22114"/>
          </a:xfrm>
        </p:spPr>
        <p:txBody>
          <a:bodyPr>
            <a:normAutofit/>
          </a:bodyPr>
          <a:lstStyle/>
          <a:p>
            <a:r>
              <a:rPr lang="ru-RU" dirty="0"/>
              <a:t>Процесс развертывания ПО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484784"/>
            <a:ext cx="8892480" cy="3960440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В ходе развертывания ПО устанавливается в различных вычислительных средах.</a:t>
            </a:r>
          </a:p>
          <a:p>
            <a:r>
              <a:rPr lang="en-US" b="1" dirty="0"/>
              <a:t>DEV </a:t>
            </a:r>
            <a:r>
              <a:rPr lang="ru-RU" i="1" dirty="0"/>
              <a:t>– среда разработки ПО </a:t>
            </a:r>
            <a:r>
              <a:rPr lang="ru-RU" dirty="0"/>
              <a:t>(</a:t>
            </a:r>
            <a:r>
              <a:rPr lang="en-US" dirty="0"/>
              <a:t>Development</a:t>
            </a:r>
            <a:r>
              <a:rPr lang="ru-RU" dirty="0"/>
              <a:t> </a:t>
            </a:r>
            <a:r>
              <a:rPr lang="en-US" dirty="0" err="1"/>
              <a:t>Env</a:t>
            </a:r>
            <a:r>
              <a:rPr lang="ru-RU" dirty="0"/>
              <a:t>), в которой разработчики создают программный код и выполняют его модульное тестирование.</a:t>
            </a:r>
            <a:endParaRPr lang="en-US" dirty="0"/>
          </a:p>
          <a:p>
            <a:r>
              <a:rPr lang="en-US" b="1" dirty="0"/>
              <a:t>SIT</a:t>
            </a:r>
            <a:r>
              <a:rPr lang="en-US" dirty="0"/>
              <a:t> </a:t>
            </a:r>
            <a:r>
              <a:rPr lang="ru-RU" dirty="0"/>
              <a:t>– с</a:t>
            </a:r>
            <a:r>
              <a:rPr lang="ru-RU" i="1" dirty="0"/>
              <a:t>реда системной интеграции</a:t>
            </a:r>
            <a:r>
              <a:rPr lang="ru-RU" b="1" i="1" dirty="0"/>
              <a:t> </a:t>
            </a:r>
            <a:r>
              <a:rPr lang="ru-RU" dirty="0"/>
              <a:t>(</a:t>
            </a:r>
            <a:r>
              <a:rPr lang="en-US" dirty="0"/>
              <a:t>System Integration Testing </a:t>
            </a:r>
            <a:r>
              <a:rPr lang="en-US" dirty="0" err="1"/>
              <a:t>Env</a:t>
            </a:r>
            <a:r>
              <a:rPr lang="ru-RU" dirty="0"/>
              <a:t>) – среда в которой выполняется системная интеграция ПО.</a:t>
            </a:r>
          </a:p>
          <a:p>
            <a:r>
              <a:rPr lang="en-US" b="1" dirty="0"/>
              <a:t>UAT</a:t>
            </a:r>
            <a:r>
              <a:rPr lang="en-US" dirty="0"/>
              <a:t> </a:t>
            </a:r>
            <a:r>
              <a:rPr lang="ru-RU" dirty="0"/>
              <a:t>– </a:t>
            </a:r>
            <a:r>
              <a:rPr lang="ru-RU" i="1" dirty="0"/>
              <a:t>среда выполнения приемочных испытаний </a:t>
            </a:r>
            <a:r>
              <a:rPr lang="ru-RU" dirty="0"/>
              <a:t>(</a:t>
            </a:r>
            <a:r>
              <a:rPr lang="en-US" dirty="0"/>
              <a:t>User Acceptance Testing </a:t>
            </a:r>
            <a:r>
              <a:rPr lang="en-US" dirty="0" err="1"/>
              <a:t>Env</a:t>
            </a:r>
            <a:r>
              <a:rPr lang="ru-RU" dirty="0"/>
              <a:t>) – среда в которой выполняются приемо-сдаточные испытания ПО.</a:t>
            </a:r>
          </a:p>
          <a:p>
            <a:r>
              <a:rPr lang="en-US" b="1" dirty="0"/>
              <a:t>PROD</a:t>
            </a:r>
            <a:r>
              <a:rPr lang="en-US" dirty="0"/>
              <a:t> </a:t>
            </a:r>
            <a:r>
              <a:rPr lang="ru-RU" dirty="0"/>
              <a:t>– </a:t>
            </a:r>
            <a:r>
              <a:rPr lang="ru-RU" i="1" dirty="0"/>
              <a:t>производственная среда</a:t>
            </a:r>
            <a:r>
              <a:rPr lang="ru-RU" b="1" i="1" dirty="0"/>
              <a:t> </a:t>
            </a:r>
            <a:r>
              <a:rPr lang="ru-RU" dirty="0"/>
              <a:t>(</a:t>
            </a:r>
            <a:r>
              <a:rPr lang="en-US" dirty="0"/>
              <a:t>Production </a:t>
            </a:r>
            <a:r>
              <a:rPr lang="en-US" dirty="0" err="1"/>
              <a:t>Env</a:t>
            </a:r>
            <a:r>
              <a:rPr lang="ru-RU" dirty="0"/>
              <a:t>) – среда в которой будет выполняться реальная работа пользователей с ПО.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3"/>
          <a:srcRect l="13951" t="30230" r="12701" b="50294"/>
          <a:stretch/>
        </p:blipFill>
        <p:spPr>
          <a:xfrm>
            <a:off x="395536" y="5373216"/>
            <a:ext cx="8200502" cy="145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451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78098"/>
          </a:xfrm>
        </p:spPr>
        <p:txBody>
          <a:bodyPr/>
          <a:lstStyle/>
          <a:p>
            <a:r>
              <a:rPr lang="ru-RU" dirty="0"/>
              <a:t>Пример тестовой среды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4523"/>
            <a:ext cx="9144000" cy="573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65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Проблема развертывания программной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556792"/>
            <a:ext cx="8892480" cy="5301208"/>
          </a:xfrm>
        </p:spPr>
        <p:txBody>
          <a:bodyPr/>
          <a:lstStyle/>
          <a:p>
            <a:r>
              <a:rPr lang="ru-RU" dirty="0"/>
              <a:t>Различие в настройках операционных систем.</a:t>
            </a:r>
          </a:p>
          <a:p>
            <a:r>
              <a:rPr lang="ru-RU" dirty="0"/>
              <a:t>Различие в составе установленных стандартных компонент.</a:t>
            </a:r>
          </a:p>
          <a:p>
            <a:r>
              <a:rPr lang="ru-RU" dirty="0"/>
              <a:t>Различие в составе доступных сервисов.</a:t>
            </a:r>
          </a:p>
          <a:p>
            <a:r>
              <a:rPr lang="ru-RU" dirty="0"/>
              <a:t>Различие в правах доступа пользователей ПС.</a:t>
            </a:r>
          </a:p>
          <a:p>
            <a:r>
              <a:rPr lang="ru-RU" dirty="0"/>
              <a:t>Различие в имеющихся каналах связи.</a:t>
            </a:r>
          </a:p>
          <a:p>
            <a:r>
              <a:rPr lang="ru-RU" dirty="0"/>
              <a:t>…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529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22114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Внедрение ПО в вычислительную среду заказчика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600200"/>
            <a:ext cx="8928992" cy="525780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Внедрение ПО – это все работы, которые делают ПО доступным для пользователей</a:t>
            </a:r>
            <a:r>
              <a:rPr lang="en-US" dirty="0"/>
              <a:t>.</a:t>
            </a:r>
          </a:p>
          <a:p>
            <a:r>
              <a:rPr lang="ru-RU" dirty="0"/>
              <a:t>Весь процесс внедрения состоит из нескольких взаимосвязанных видов деятельности с возможными переходами между ними</a:t>
            </a:r>
            <a:r>
              <a:rPr lang="en-US" dirty="0"/>
              <a:t>. </a:t>
            </a:r>
          </a:p>
          <a:p>
            <a:r>
              <a:rPr lang="ru-RU" dirty="0"/>
              <a:t>Например:</a:t>
            </a:r>
          </a:p>
          <a:p>
            <a:pPr lvl="1"/>
            <a:r>
              <a:rPr lang="ru-RU" dirty="0"/>
              <a:t>процесс настройки программного обеспечения под определенные условия использования</a:t>
            </a:r>
          </a:p>
          <a:p>
            <a:pPr lvl="1"/>
            <a:r>
              <a:rPr lang="ru-RU" dirty="0"/>
              <a:t>обучения пользователей работе с программным продуктом.</a:t>
            </a:r>
          </a:p>
          <a:p>
            <a:r>
              <a:rPr lang="ru-RU" dirty="0"/>
              <a:t>Близкие понятия:</a:t>
            </a:r>
          </a:p>
          <a:p>
            <a:pPr lvl="1"/>
            <a:r>
              <a:rPr lang="ru-RU" dirty="0"/>
              <a:t>внедрение, </a:t>
            </a:r>
          </a:p>
          <a:p>
            <a:pPr lvl="1"/>
            <a:r>
              <a:rPr lang="ru-RU" dirty="0"/>
              <a:t>развертывание, </a:t>
            </a:r>
          </a:p>
          <a:p>
            <a:pPr lvl="1"/>
            <a:r>
              <a:rPr lang="ru-RU" dirty="0"/>
              <a:t>установка ПО.</a:t>
            </a:r>
          </a:p>
        </p:txBody>
      </p:sp>
    </p:spTree>
    <p:extLst>
      <p:ext uri="{BB962C8B-B14F-4D97-AF65-F5344CB8AC3E}">
        <p14:creationId xmlns:p14="http://schemas.microsoft.com/office/powerpoint/2010/main" val="2888648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94122"/>
          </a:xfrm>
        </p:spPr>
        <p:txBody>
          <a:bodyPr>
            <a:normAutofit/>
          </a:bodyPr>
          <a:lstStyle/>
          <a:p>
            <a:r>
              <a:rPr lang="ru-RU" b="1" dirty="0"/>
              <a:t>Опытное внедрение ПО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412776"/>
            <a:ext cx="8964488" cy="5445224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Опытное (пилотное) </a:t>
            </a:r>
            <a:r>
              <a:rPr lang="ru-RU" dirty="0"/>
              <a:t>внедрение ПО – первоначальная установка с целью окончательно определиться с в возможностью использования ПО.</a:t>
            </a:r>
          </a:p>
          <a:p>
            <a:r>
              <a:rPr lang="ru-RU" dirty="0"/>
              <a:t>Включает:</a:t>
            </a:r>
          </a:p>
          <a:p>
            <a:pPr lvl="1"/>
            <a:r>
              <a:rPr lang="ru-RU" dirty="0"/>
              <a:t>настройка рабочих мест. </a:t>
            </a:r>
          </a:p>
          <a:p>
            <a:pPr lvl="1"/>
            <a:r>
              <a:rPr lang="ru-RU" dirty="0"/>
              <a:t>первичное обучение специалистов заказчика по работе с ПО. </a:t>
            </a:r>
          </a:p>
          <a:p>
            <a:pPr lvl="1"/>
            <a:r>
              <a:rPr lang="ru-RU" dirty="0"/>
              <a:t>расширение нормативной базы организации путем включения в нее регламентов, описывающих порядок выполнения процедур автоматизируемых процессов. </a:t>
            </a:r>
          </a:p>
          <a:p>
            <a:pPr lvl="2"/>
            <a:r>
              <a:rPr lang="ru-RU" dirty="0"/>
              <a:t>иначе есть опасность возникновения рассогласования между автоматизированными процедурами и остальными процессами организации.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7711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22114"/>
          </a:xfrm>
        </p:spPr>
        <p:txBody>
          <a:bodyPr>
            <a:normAutofit/>
          </a:bodyPr>
          <a:lstStyle/>
          <a:p>
            <a:r>
              <a:rPr lang="ru-RU" dirty="0"/>
              <a:t>Завершение внедрения ПО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412776"/>
            <a:ext cx="8964488" cy="5445224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После завершения опытной эксплуатация ПО переводится в промышленную эксплуатацию, </a:t>
            </a:r>
          </a:p>
          <a:p>
            <a:r>
              <a:rPr lang="ru-RU" dirty="0"/>
              <a:t>Выполняется:</a:t>
            </a:r>
          </a:p>
          <a:p>
            <a:pPr lvl="1"/>
            <a:r>
              <a:rPr lang="ru-RU" dirty="0"/>
              <a:t>обучающие семинары для всех пользователей заказчика.</a:t>
            </a:r>
          </a:p>
          <a:p>
            <a:pPr lvl="1"/>
            <a:r>
              <a:rPr lang="ru-RU" dirty="0"/>
              <a:t>всесторонняя поддержка для успешной эксплуатации ПО заказчиком. </a:t>
            </a:r>
          </a:p>
          <a:p>
            <a:pPr lvl="1"/>
            <a:r>
              <a:rPr lang="ru-RU" dirty="0"/>
              <a:t>стандартизация существующей деятельности организации</a:t>
            </a:r>
          </a:p>
          <a:p>
            <a:pPr lvl="2"/>
            <a:r>
              <a:rPr lang="ru-RU" dirty="0"/>
              <a:t>выделяются лучшие практики выполнения процедур</a:t>
            </a:r>
            <a:r>
              <a:rPr lang="en-US" dirty="0"/>
              <a:t>;</a:t>
            </a:r>
            <a:endParaRPr lang="ru-RU" dirty="0"/>
          </a:p>
          <a:p>
            <a:pPr lvl="2"/>
            <a:r>
              <a:rPr lang="ru-RU" dirty="0"/>
              <a:t>они включаются в работу с ПО </a:t>
            </a:r>
            <a:r>
              <a:rPr lang="ru-RU" dirty="0" err="1"/>
              <a:t>по</a:t>
            </a:r>
            <a:r>
              <a:rPr lang="ru-RU" dirty="0"/>
              <a:t> принципу наибольшей полезности для большинства участников. </a:t>
            </a:r>
          </a:p>
          <a:p>
            <a:pPr lvl="2"/>
            <a:r>
              <a:rPr lang="ru-RU" dirty="0"/>
              <a:t>это увеличивает «полезность» ПО в организации.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5603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778098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работы по внедрению ПО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268760"/>
            <a:ext cx="9036496" cy="558924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/>
              <a:t>Установка и конфигурация оборудования и программного обеспечения</a:t>
            </a:r>
            <a:endParaRPr lang="ru-RU" dirty="0"/>
          </a:p>
          <a:p>
            <a:r>
              <a:rPr lang="ru-RU" b="1" dirty="0"/>
              <a:t>Настройка ПО</a:t>
            </a:r>
            <a:endParaRPr lang="ru-RU" dirty="0"/>
          </a:p>
          <a:p>
            <a:pPr lvl="1"/>
            <a:r>
              <a:rPr lang="ru-RU" dirty="0"/>
              <a:t>настройка </a:t>
            </a:r>
            <a:r>
              <a:rPr lang="ru-RU" b="1" dirty="0"/>
              <a:t>ПО</a:t>
            </a:r>
            <a:r>
              <a:rPr lang="ru-RU" dirty="0"/>
              <a:t> в соответствии с техническим заданием, </a:t>
            </a:r>
          </a:p>
          <a:p>
            <a:pPr lvl="1"/>
            <a:r>
              <a:rPr lang="ru-RU" dirty="0"/>
              <a:t>настройка сопряженных систем. </a:t>
            </a:r>
          </a:p>
          <a:p>
            <a:pPr lvl="1"/>
            <a:r>
              <a:rPr lang="ru-RU" dirty="0"/>
              <a:t>обучение системных администраторов работе с системой.</a:t>
            </a:r>
          </a:p>
          <a:p>
            <a:r>
              <a:rPr lang="ru-RU" b="1" dirty="0"/>
              <a:t>Внесение информации в ПО.</a:t>
            </a:r>
            <a:endParaRPr lang="ru-RU" dirty="0"/>
          </a:p>
          <a:p>
            <a:pPr lvl="1"/>
            <a:r>
              <a:rPr lang="ru-RU" dirty="0"/>
              <a:t>в базу данных настроенного ПО переносится или вносится актуальная исходная информация. </a:t>
            </a:r>
          </a:p>
          <a:p>
            <a:r>
              <a:rPr lang="ru-RU" b="1" dirty="0"/>
              <a:t>Обучение персонала работе с интерфейсом системы.</a:t>
            </a:r>
          </a:p>
          <a:p>
            <a:r>
              <a:rPr lang="ru-RU" b="1" dirty="0"/>
              <a:t>Опытная эксплуатация</a:t>
            </a:r>
            <a:endParaRPr lang="ru-RU" dirty="0"/>
          </a:p>
          <a:p>
            <a:pPr lvl="1"/>
            <a:r>
              <a:rPr lang="ru-RU" dirty="0"/>
              <a:t>верификация правильности настройки ПО,</a:t>
            </a:r>
          </a:p>
          <a:p>
            <a:pPr lvl="1"/>
            <a:r>
              <a:rPr lang="ru-RU" dirty="0"/>
              <a:t>обнаружение и устранение неточностей конфигурации.</a:t>
            </a:r>
          </a:p>
          <a:p>
            <a:r>
              <a:rPr lang="ru-RU" b="1" dirty="0"/>
              <a:t>Актуализация данных и перевод в промышленную эксплуатацию.</a:t>
            </a:r>
            <a:endParaRPr lang="ru-RU" dirty="0"/>
          </a:p>
          <a:p>
            <a:pPr lvl="1"/>
            <a:r>
              <a:rPr lang="ru-RU" dirty="0"/>
              <a:t>актуализация данных и система переводится в режим промышленной эксплуатации. </a:t>
            </a:r>
          </a:p>
          <a:p>
            <a:r>
              <a:rPr lang="ru-RU" sz="4000" b="1" dirty="0"/>
              <a:t>Переход к сопровождению ПО.</a:t>
            </a:r>
          </a:p>
        </p:txBody>
      </p:sp>
    </p:spTree>
    <p:extLst>
      <p:ext uri="{BB962C8B-B14F-4D97-AF65-F5344CB8AC3E}">
        <p14:creationId xmlns:p14="http://schemas.microsoft.com/office/powerpoint/2010/main" val="576670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492896"/>
            <a:ext cx="9144000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ru-RU" b="1" dirty="0"/>
              <a:t>Сопровождение программного обеспечения</a:t>
            </a:r>
          </a:p>
        </p:txBody>
      </p:sp>
    </p:spTree>
    <p:extLst>
      <p:ext uri="{BB962C8B-B14F-4D97-AF65-F5344CB8AC3E}">
        <p14:creationId xmlns:p14="http://schemas.microsoft.com/office/powerpoint/2010/main" val="2774220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96937"/>
          </a:xfrm>
        </p:spPr>
        <p:txBody>
          <a:bodyPr>
            <a:normAutofit/>
          </a:bodyPr>
          <a:lstStyle/>
          <a:p>
            <a:pPr eaLnBrk="1" hangingPunct="1"/>
            <a:r>
              <a:rPr lang="ru-RU" altLang="ru-RU" dirty="0"/>
              <a:t>Этапы жизненного цикла ПО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42888" y="1600200"/>
            <a:ext cx="8901112" cy="5257800"/>
          </a:xfrm>
        </p:spPr>
        <p:txBody>
          <a:bodyPr rtlCol="0">
            <a:normAutofit/>
          </a:bodyPr>
          <a:lstStyle/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Выявление требований.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Анализ системы (требований)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Проектирование программного обеспечения.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Реализация программного обеспечения.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Тестирование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Внедрение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b="1" dirty="0"/>
              <a:t>Сопровождение ПО</a:t>
            </a:r>
          </a:p>
          <a:p>
            <a:pPr marL="514350" indent="-514350" eaLnBrk="1" fontAlgn="auto" hangingPunct="1"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dirty="0"/>
              <a:t>Снятие ПО с эксплуатации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9506979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22114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Процессы ПИ, рассматриваемые в данном курсе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628800"/>
            <a:ext cx="8892480" cy="522919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i="1" dirty="0"/>
              <a:t>Процесс управления </a:t>
            </a:r>
            <a:r>
              <a:rPr lang="en-US" dirty="0"/>
              <a:t>(management process)</a:t>
            </a:r>
            <a:endParaRPr lang="ru-RU" dirty="0"/>
          </a:p>
          <a:p>
            <a:pPr lvl="1"/>
            <a:r>
              <a:rPr lang="ru-RU" dirty="0"/>
              <a:t>управление программными проектами</a:t>
            </a:r>
          </a:p>
          <a:p>
            <a:pPr marL="514350" indent="-514350">
              <a:buFont typeface="+mj-lt"/>
              <a:buAutoNum type="arabicPeriod"/>
            </a:pPr>
            <a:r>
              <a:rPr lang="ru-RU" i="1" dirty="0"/>
              <a:t>Процесс разработки </a:t>
            </a:r>
            <a:r>
              <a:rPr lang="en-US" dirty="0"/>
              <a:t>(development process)</a:t>
            </a:r>
            <a:endParaRPr lang="ru-RU" dirty="0"/>
          </a:p>
          <a:p>
            <a:pPr marL="914400" lvl="1" indent="-514350"/>
            <a:r>
              <a:rPr lang="ru-RU" dirty="0"/>
              <a:t>работы разработчика –  организации, которая создает программный продукт</a:t>
            </a:r>
          </a:p>
          <a:p>
            <a:pPr marL="514350" indent="-514350">
              <a:buFont typeface="+mj-lt"/>
              <a:buAutoNum type="arabicPeriod"/>
            </a:pPr>
            <a:r>
              <a:rPr lang="ru-RU" b="1" i="1" dirty="0"/>
              <a:t>Процесс сопровождения </a:t>
            </a:r>
            <a:r>
              <a:rPr lang="en-US" dirty="0"/>
              <a:t>(maintenance process)</a:t>
            </a:r>
            <a:endParaRPr lang="ru-RU" dirty="0"/>
          </a:p>
          <a:p>
            <a:pPr marL="947737" lvl="1" indent="-457200" eaLnBrk="1" fontAlgn="auto" hangingPunct="1">
              <a:spcAft>
                <a:spcPts val="0"/>
              </a:spcAft>
              <a:defRPr/>
            </a:pPr>
            <a:r>
              <a:rPr lang="ru-RU" dirty="0"/>
              <a:t>работы </a:t>
            </a:r>
            <a:r>
              <a:rPr lang="ru-RU" b="1" dirty="0"/>
              <a:t>организации, которая занимается сопровождением </a:t>
            </a:r>
            <a:r>
              <a:rPr lang="ru-RU" dirty="0"/>
              <a:t>программного продукта.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  <a:p>
            <a:pPr lvl="1"/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9251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50106"/>
          </a:xfrm>
        </p:spPr>
        <p:txBody>
          <a:bodyPr/>
          <a:lstStyle/>
          <a:p>
            <a:r>
              <a:rPr lang="ru-RU" dirty="0"/>
              <a:t>Процесс сопровождения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268760"/>
            <a:ext cx="8964488" cy="5589240"/>
          </a:xfrm>
        </p:spPr>
        <p:txBody>
          <a:bodyPr>
            <a:normAutofit/>
          </a:bodyPr>
          <a:lstStyle/>
          <a:p>
            <a:r>
              <a:rPr lang="ru-RU" dirty="0"/>
              <a:t>Процесс сопровождения необходим в связи с изменением требований к ПО на протяжении их жизненного цикла. </a:t>
            </a:r>
          </a:p>
          <a:p>
            <a:r>
              <a:rPr lang="ru-RU" dirty="0"/>
              <a:t>Цель процесса сопровождения – модификация ПО при сохранении его целостности. </a:t>
            </a:r>
          </a:p>
          <a:p>
            <a:r>
              <a:rPr lang="ru-RU" dirty="0"/>
              <a:t>Реализация процесса сопровождения ПО </a:t>
            </a:r>
          </a:p>
          <a:p>
            <a:pPr lvl="1"/>
            <a:r>
              <a:rPr lang="ru-RU" dirty="0"/>
              <a:t>начинается с планирования сопровождения </a:t>
            </a:r>
          </a:p>
          <a:p>
            <a:pPr lvl="1"/>
            <a:r>
              <a:rPr lang="ru-RU" dirty="0"/>
              <a:t>завершается снятием данного программного продукта с эксплуатации. 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1821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22114"/>
          </a:xfrm>
        </p:spPr>
        <p:txBody>
          <a:bodyPr/>
          <a:lstStyle/>
          <a:p>
            <a:r>
              <a:rPr lang="ru-RU" dirty="0"/>
              <a:t>Цель сопровождения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412776"/>
            <a:ext cx="8892480" cy="544522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ru-RU" b="1" i="1" dirty="0">
                <a:solidFill>
                  <a:prstClr val="black"/>
                </a:solidFill>
              </a:rPr>
              <a:t>Цели сопровождения</a:t>
            </a:r>
            <a:endParaRPr lang="ru-RU" dirty="0">
              <a:solidFill>
                <a:prstClr val="black"/>
              </a:solidFill>
            </a:endParaRPr>
          </a:p>
          <a:p>
            <a:pPr marL="514350" lvl="0" indent="-514350">
              <a:spcBef>
                <a:spcPts val="0"/>
              </a:spcBef>
              <a:buFont typeface="+mj-lt"/>
              <a:buAutoNum type="arabicPeriod"/>
              <a:defRPr/>
            </a:pPr>
            <a:r>
              <a:rPr lang="ru-RU" dirty="0">
                <a:solidFill>
                  <a:prstClr val="black"/>
                </a:solidFill>
              </a:rPr>
              <a:t>выявление и устранение обнаруженных дефектов и ошибок в программах и данных</a:t>
            </a:r>
            <a:r>
              <a:rPr lang="en-US" dirty="0">
                <a:solidFill>
                  <a:prstClr val="black"/>
                </a:solidFill>
              </a:rPr>
              <a:t>;</a:t>
            </a:r>
            <a:r>
              <a:rPr lang="ru-RU" dirty="0">
                <a:solidFill>
                  <a:prstClr val="black"/>
                </a:solidFill>
              </a:rPr>
              <a:t> </a:t>
            </a:r>
          </a:p>
          <a:p>
            <a:pPr marL="514350" lvl="0" indent="-514350">
              <a:spcBef>
                <a:spcPts val="0"/>
              </a:spcBef>
              <a:buFont typeface="+mj-lt"/>
              <a:buAutoNum type="arabicPeriod"/>
              <a:defRPr/>
            </a:pPr>
            <a:r>
              <a:rPr lang="ru-RU" dirty="0">
                <a:solidFill>
                  <a:prstClr val="black"/>
                </a:solidFill>
              </a:rPr>
              <a:t>введение новых функций и компонентов в ПС</a:t>
            </a:r>
            <a:r>
              <a:rPr lang="en-US" dirty="0">
                <a:solidFill>
                  <a:prstClr val="black"/>
                </a:solidFill>
              </a:rPr>
              <a:t>;</a:t>
            </a:r>
            <a:r>
              <a:rPr lang="ru-RU" dirty="0">
                <a:solidFill>
                  <a:prstClr val="black"/>
                </a:solidFill>
              </a:rPr>
              <a:t> </a:t>
            </a:r>
          </a:p>
          <a:p>
            <a:pPr marL="514350" lvl="0" indent="-514350">
              <a:spcBef>
                <a:spcPts val="0"/>
              </a:spcBef>
              <a:buFont typeface="+mj-lt"/>
              <a:buAutoNum type="arabicPeriod"/>
              <a:defRPr/>
            </a:pPr>
            <a:r>
              <a:rPr lang="ru-RU" dirty="0">
                <a:solidFill>
                  <a:prstClr val="black"/>
                </a:solidFill>
              </a:rPr>
              <a:t>анализ состояния и корректировка документации</a:t>
            </a:r>
            <a:r>
              <a:rPr lang="en-US" dirty="0">
                <a:solidFill>
                  <a:prstClr val="black"/>
                </a:solidFill>
              </a:rPr>
              <a:t>;</a:t>
            </a:r>
            <a:endParaRPr lang="ru-RU" dirty="0">
              <a:solidFill>
                <a:prstClr val="black"/>
              </a:solidFill>
            </a:endParaRPr>
          </a:p>
          <a:p>
            <a:pPr marL="514350" lvl="0" indent="-514350">
              <a:spcBef>
                <a:spcPts val="0"/>
              </a:spcBef>
              <a:buFont typeface="+mj-lt"/>
              <a:buAutoNum type="arabicPeriod"/>
              <a:defRPr/>
            </a:pPr>
            <a:r>
              <a:rPr lang="ru-RU" dirty="0">
                <a:solidFill>
                  <a:prstClr val="black"/>
                </a:solidFill>
              </a:rPr>
              <a:t>тиражирование и контроль распространения версий ПС</a:t>
            </a:r>
            <a:r>
              <a:rPr lang="en-US" dirty="0">
                <a:solidFill>
                  <a:prstClr val="black"/>
                </a:solidFill>
              </a:rPr>
              <a:t>;</a:t>
            </a:r>
            <a:endParaRPr lang="ru-RU" dirty="0">
              <a:solidFill>
                <a:prstClr val="black"/>
              </a:solidFill>
            </a:endParaRPr>
          </a:p>
          <a:p>
            <a:pPr marL="514350" lvl="0" indent="-514350">
              <a:spcBef>
                <a:spcPts val="0"/>
              </a:spcBef>
              <a:buFont typeface="+mj-lt"/>
              <a:buAutoNum type="arabicPeriod"/>
              <a:defRPr/>
            </a:pPr>
            <a:r>
              <a:rPr lang="ru-RU" dirty="0">
                <a:solidFill>
                  <a:prstClr val="black"/>
                </a:solidFill>
              </a:rPr>
              <a:t>актуализация и обеспечение сохранности документации и физических носителей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48493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22114"/>
          </a:xfrm>
        </p:spPr>
        <p:txBody>
          <a:bodyPr/>
          <a:lstStyle/>
          <a:p>
            <a:r>
              <a:rPr lang="ru-RU" dirty="0"/>
              <a:t>Основная задача сопровождения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412776"/>
            <a:ext cx="8892480" cy="5445224"/>
          </a:xfrm>
        </p:spPr>
        <p:txBody>
          <a:bodyPr>
            <a:normAutofit/>
          </a:bodyPr>
          <a:lstStyle/>
          <a:p>
            <a:r>
              <a:rPr lang="ru-RU" dirty="0"/>
              <a:t>Основная задача - изменить и улучшить существующий программный продукт, сохраняя его целостность и функциональную пригодность.</a:t>
            </a:r>
          </a:p>
          <a:p>
            <a:r>
              <a:rPr lang="ru-RU" dirty="0"/>
              <a:t>Технология сопровождения должна обеспечивать координированное развитие множества версий ПС и их компонентов, </a:t>
            </a:r>
          </a:p>
          <a:p>
            <a:pPr lvl="1"/>
            <a:r>
              <a:rPr lang="ru-RU" dirty="0"/>
              <a:t>каждая из которых имеет достаточно высокое качество и специфические функции, а также, возможно, различных пользователей.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6061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50106"/>
          </a:xfrm>
        </p:spPr>
        <p:txBody>
          <a:bodyPr/>
          <a:lstStyle/>
          <a:p>
            <a:r>
              <a:rPr lang="ru-RU" dirty="0"/>
              <a:t>Проблема сопровождения ПО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340768"/>
            <a:ext cx="8892480" cy="5517232"/>
          </a:xfrm>
        </p:spPr>
        <p:txBody>
          <a:bodyPr>
            <a:normAutofit/>
          </a:bodyPr>
          <a:lstStyle/>
          <a:p>
            <a:r>
              <a:rPr lang="ru-RU" dirty="0"/>
              <a:t>Проводилось много исследований, как разные компании выполняют разработку ПО</a:t>
            </a:r>
            <a:r>
              <a:rPr lang="en-US" dirty="0"/>
              <a:t>. </a:t>
            </a:r>
            <a:endParaRPr lang="ru-RU" dirty="0"/>
          </a:p>
          <a:p>
            <a:r>
              <a:rPr lang="ru-RU" dirty="0"/>
              <a:t>В результате были полученные следующие интересные результаты:</a:t>
            </a:r>
          </a:p>
          <a:p>
            <a:pPr lvl="1"/>
            <a:r>
              <a:rPr lang="ru-RU" b="1" dirty="0"/>
              <a:t>большинство компаний тратили 70% своих усилий на сопровождение ранее созданного ПО</a:t>
            </a:r>
            <a:r>
              <a:rPr lang="en-US" b="1" dirty="0"/>
              <a:t>;</a:t>
            </a:r>
          </a:p>
          <a:p>
            <a:pPr lvl="1"/>
            <a:r>
              <a:rPr lang="ru-RU" b="1" dirty="0"/>
              <a:t>работа по модификации существующего ПО часто требует в 5-10 раз больше усилий, чем первоначальная его разработка.</a:t>
            </a:r>
            <a:endParaRPr lang="en-US" b="1" dirty="0"/>
          </a:p>
          <a:p>
            <a:r>
              <a:rPr lang="ru-RU" dirty="0"/>
              <a:t>Стало понятно, что-то сопровождению ПО нужно уделять особое внимание.</a:t>
            </a:r>
          </a:p>
          <a:p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608049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22114"/>
          </a:xfrm>
        </p:spPr>
        <p:txBody>
          <a:bodyPr/>
          <a:lstStyle/>
          <a:p>
            <a:r>
              <a:rPr lang="ru-RU" dirty="0" err="1"/>
              <a:t>Сопровождаемость</a:t>
            </a:r>
            <a:r>
              <a:rPr lang="en-US" dirty="0"/>
              <a:t> </a:t>
            </a:r>
            <a:r>
              <a:rPr lang="ru-RU" dirty="0"/>
              <a:t>ПО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520" y="1340768"/>
            <a:ext cx="8892480" cy="5517232"/>
          </a:xfrm>
        </p:spPr>
        <p:txBody>
          <a:bodyPr>
            <a:normAutofit lnSpcReduction="10000"/>
          </a:bodyPr>
          <a:lstStyle/>
          <a:p>
            <a:r>
              <a:rPr lang="ru-RU" sz="2800" b="1" i="1" dirty="0" err="1">
                <a:latin typeface="+mj-lt"/>
              </a:rPr>
              <a:t>Сопровождаемость</a:t>
            </a:r>
            <a:r>
              <a:rPr lang="ru-RU" sz="2800" b="1" i="1" dirty="0">
                <a:latin typeface="+mj-lt"/>
              </a:rPr>
              <a:t> ПО </a:t>
            </a:r>
            <a:r>
              <a:rPr lang="ru-RU" sz="2800" dirty="0">
                <a:latin typeface="+mj-lt"/>
              </a:rPr>
              <a:t>– возможность и простота внесения изменений в программный продукт после его ввода в эксплуатацию. .</a:t>
            </a:r>
          </a:p>
          <a:p>
            <a:pPr lvl="1"/>
            <a:r>
              <a:rPr lang="ru-RU" sz="2000" dirty="0">
                <a:latin typeface="+mj-lt"/>
              </a:rPr>
              <a:t>важная характеристикой ПС для заказчиков, поставщиков и пользователей, </a:t>
            </a:r>
          </a:p>
          <a:p>
            <a:r>
              <a:rPr lang="ru-RU" sz="2800" dirty="0">
                <a:latin typeface="+mj-lt"/>
              </a:rPr>
              <a:t>Требования к </a:t>
            </a:r>
            <a:r>
              <a:rPr lang="ru-RU" sz="2800" dirty="0" err="1">
                <a:latin typeface="+mj-lt"/>
              </a:rPr>
              <a:t>сопровождаемости</a:t>
            </a:r>
            <a:r>
              <a:rPr lang="ru-RU" sz="2800" dirty="0">
                <a:latin typeface="+mj-lt"/>
              </a:rPr>
              <a:t> должны включаться в требования к разработке ПО</a:t>
            </a:r>
          </a:p>
          <a:p>
            <a:pPr lvl="1"/>
            <a:r>
              <a:rPr lang="ru-RU" sz="2000" dirty="0">
                <a:latin typeface="+mj-lt"/>
              </a:rPr>
              <a:t>их выполнение следует оценивать в процессе разработки модификаций ПС. </a:t>
            </a:r>
          </a:p>
          <a:p>
            <a:r>
              <a:rPr lang="ru-RU" sz="2800" dirty="0">
                <a:latin typeface="+mj-lt"/>
              </a:rPr>
              <a:t>Для определения и оценки качества модифицированного ПО могут быть использованы различные показатели, </a:t>
            </a:r>
          </a:p>
          <a:p>
            <a:pPr lvl="1"/>
            <a:r>
              <a:rPr lang="ru-RU" sz="2000" dirty="0">
                <a:latin typeface="+mj-lt"/>
              </a:rPr>
              <a:t>качественные и количественные стандартизированные метрики в соответствии с </a:t>
            </a:r>
            <a:r>
              <a:rPr lang="ru-RU" sz="2000" b="1" dirty="0">
                <a:latin typeface="+mj-lt"/>
              </a:rPr>
              <a:t>ISO 9126</a:t>
            </a:r>
            <a:r>
              <a:rPr lang="ru-RU" sz="2000" dirty="0"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34716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ru-RU" dirty="0"/>
              <a:t>Типы сопровождения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1484784"/>
            <a:ext cx="8928992" cy="5256584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46" t="26110" r="14155" b="28695"/>
          <a:stretch/>
        </p:blipFill>
        <p:spPr bwMode="auto">
          <a:xfrm>
            <a:off x="323528" y="2492896"/>
            <a:ext cx="8289011" cy="335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9856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22114"/>
          </a:xfrm>
        </p:spPr>
        <p:txBody>
          <a:bodyPr/>
          <a:lstStyle/>
          <a:p>
            <a:r>
              <a:rPr lang="ru-RU" dirty="0"/>
              <a:t>Корректирующее сопровождение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484784"/>
            <a:ext cx="8820472" cy="5373216"/>
          </a:xfrm>
        </p:spPr>
        <p:txBody>
          <a:bodyPr>
            <a:normAutofit fontScale="85000" lnSpcReduction="20000"/>
          </a:bodyPr>
          <a:lstStyle/>
          <a:p>
            <a:r>
              <a:rPr lang="ru-RU" b="1" i="1" dirty="0"/>
              <a:t>Корректирующее сопровождение </a:t>
            </a:r>
            <a:r>
              <a:rPr lang="en-US" dirty="0"/>
              <a:t>– </a:t>
            </a:r>
            <a:r>
              <a:rPr lang="ru-RU" dirty="0"/>
              <a:t>это изменения в ПО, в связи с необходимостью устранения выявленных  ошибок и дефектов в программном продукте. </a:t>
            </a:r>
          </a:p>
          <a:p>
            <a:pPr lvl="1"/>
            <a:r>
              <a:rPr lang="ru-RU" dirty="0"/>
              <a:t>проводят в случае выявления несоответствия программного продукта установленным требованиям</a:t>
            </a:r>
            <a:r>
              <a:rPr lang="en-US" dirty="0"/>
              <a:t>;</a:t>
            </a:r>
            <a:endParaRPr lang="ru-RU" dirty="0"/>
          </a:p>
          <a:p>
            <a:pPr lvl="1"/>
            <a:r>
              <a:rPr lang="ru-RU" dirty="0"/>
              <a:t>непредсказуемый и его трудно планировать и регламентировать. </a:t>
            </a:r>
          </a:p>
          <a:p>
            <a:r>
              <a:rPr lang="ru-RU" dirty="0"/>
              <a:t>Ошибки в ПО</a:t>
            </a:r>
          </a:p>
          <a:p>
            <a:pPr lvl="1"/>
            <a:r>
              <a:rPr lang="ru-RU" dirty="0"/>
              <a:t>ошибки программистов в модулях</a:t>
            </a:r>
            <a:r>
              <a:rPr lang="en-US" dirty="0"/>
              <a:t>;</a:t>
            </a:r>
            <a:endParaRPr lang="ru-RU" dirty="0"/>
          </a:p>
          <a:p>
            <a:pPr lvl="1"/>
            <a:r>
              <a:rPr lang="ru-RU" dirty="0"/>
              <a:t>некорректная интеграция компонентов программ при наличии нескольких версий модулей</a:t>
            </a:r>
            <a:r>
              <a:rPr lang="en-US" dirty="0"/>
              <a:t>;</a:t>
            </a:r>
            <a:endParaRPr lang="ru-RU" dirty="0"/>
          </a:p>
          <a:p>
            <a:pPr lvl="1"/>
            <a:r>
              <a:rPr lang="ru-RU" dirty="0"/>
              <a:t>применением дублирующих или конфликтующих друг с другом копий модулей и различными дефектами взаимодействия программных компонентов между собой и с данными.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50583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50106"/>
          </a:xfrm>
        </p:spPr>
        <p:txBody>
          <a:bodyPr/>
          <a:lstStyle/>
          <a:p>
            <a:r>
              <a:rPr lang="ru-RU" dirty="0"/>
              <a:t>Корректирующее сопровождение (2)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556792"/>
            <a:ext cx="8964488" cy="5301208"/>
          </a:xfrm>
        </p:spPr>
        <p:txBody>
          <a:bodyPr>
            <a:normAutofit/>
          </a:bodyPr>
          <a:lstStyle/>
          <a:p>
            <a:pPr marL="171450" indent="-171450"/>
            <a:r>
              <a:rPr lang="ru-RU" sz="2400" b="1" dirty="0"/>
              <a:t>Корректирующее сопровождение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2400" dirty="0"/>
              <a:t>связано с изменениями, вызванными необходимостью устранения (исправления) фактических ошибок в программном продукте</a:t>
            </a:r>
            <a:r>
              <a:rPr lang="en-US" sz="2400" dirty="0"/>
              <a:t>;</a:t>
            </a:r>
            <a:endParaRPr lang="ru-RU" sz="24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2400" dirty="0"/>
              <a:t>проводят в случае несоответствия программного продукта установленным требованиям.</a:t>
            </a:r>
          </a:p>
          <a:p>
            <a:pPr marL="171450" indent="-171450"/>
            <a:r>
              <a:rPr lang="ru-RU" sz="2400" b="1" dirty="0"/>
              <a:t>Профилактическое сопровождение</a:t>
            </a:r>
            <a:r>
              <a:rPr lang="ru-RU" sz="2400" dirty="0"/>
              <a:t> связано с изменениями, вызванными необходимостью устранения (исправления) потенциальных (скрытых) ошибок в программном продукте.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ru-RU" sz="2400" dirty="0"/>
              <a:t>обычно проводят для программных продуктов, связанных с обеспечением или защитой жизни людей.</a:t>
            </a:r>
          </a:p>
        </p:txBody>
      </p:sp>
    </p:spTree>
    <p:extLst>
      <p:ext uri="{BB962C8B-B14F-4D97-AF65-F5344CB8AC3E}">
        <p14:creationId xmlns:p14="http://schemas.microsoft.com/office/powerpoint/2010/main" val="20735393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922114"/>
          </a:xfrm>
        </p:spPr>
        <p:txBody>
          <a:bodyPr/>
          <a:lstStyle/>
          <a:p>
            <a:r>
              <a:rPr lang="ru-RU" dirty="0"/>
              <a:t>Модернизирующее сопровождение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268760"/>
            <a:ext cx="8964488" cy="5589240"/>
          </a:xfrm>
        </p:spPr>
        <p:txBody>
          <a:bodyPr>
            <a:normAutofit fontScale="77500" lnSpcReduction="20000"/>
          </a:bodyPr>
          <a:lstStyle/>
          <a:p>
            <a:r>
              <a:rPr lang="ru-RU" b="1" i="1" dirty="0"/>
              <a:t>Модернизирующее сопровождение </a:t>
            </a:r>
            <a:r>
              <a:rPr lang="ru-RU" b="1" dirty="0"/>
              <a:t>– </a:t>
            </a:r>
            <a:r>
              <a:rPr lang="ru-RU" dirty="0"/>
              <a:t>внесение изменений в ПО для улучшения его работы</a:t>
            </a:r>
          </a:p>
          <a:p>
            <a:pPr lvl="1"/>
            <a:r>
              <a:rPr lang="ru-RU" dirty="0"/>
              <a:t>сверх первоначальных требований к ПО. </a:t>
            </a:r>
          </a:p>
          <a:p>
            <a:r>
              <a:rPr lang="ru-RU" b="1" i="1" dirty="0"/>
              <a:t>Адаптивное сопровождение </a:t>
            </a:r>
            <a:r>
              <a:rPr lang="ru-RU" dirty="0"/>
              <a:t>– внесение изменения в связи с необходимостью приспособления ПО к изменившейся внешней</a:t>
            </a:r>
            <a:r>
              <a:rPr lang="en-US" dirty="0"/>
              <a:t> </a:t>
            </a:r>
            <a:r>
              <a:rPr lang="ru-RU" dirty="0"/>
              <a:t>среде или требований пользователей. </a:t>
            </a:r>
          </a:p>
          <a:p>
            <a:pPr lvl="1"/>
            <a:r>
              <a:rPr lang="ru-RU" dirty="0"/>
              <a:t>могут быть связаны с реализацией новых требований к системному интерфейсу, самой системе или техническим средствам. </a:t>
            </a:r>
          </a:p>
          <a:p>
            <a:r>
              <a:rPr lang="ru-RU" b="1" i="1" dirty="0"/>
              <a:t>Полное сопровождение</a:t>
            </a:r>
            <a:r>
              <a:rPr lang="ru-RU" dirty="0"/>
              <a:t> – модернизирующее сопровождение, которое улучшает функциональные характеристики ПС и его </a:t>
            </a:r>
            <a:r>
              <a:rPr lang="ru-RU" dirty="0" err="1"/>
              <a:t>сопровождаемость</a:t>
            </a:r>
            <a:r>
              <a:rPr lang="ru-RU" dirty="0"/>
              <a:t>. </a:t>
            </a:r>
          </a:p>
          <a:p>
            <a:pPr lvl="1"/>
            <a:r>
              <a:rPr lang="ru-RU" dirty="0"/>
              <a:t>предоставлению пользователям новых функциональных возможностей, </a:t>
            </a:r>
          </a:p>
          <a:p>
            <a:pPr lvl="1"/>
            <a:r>
              <a:rPr lang="ru-RU" dirty="0"/>
              <a:t>пересмотру технологии применения сопровождаемых документов </a:t>
            </a:r>
          </a:p>
          <a:p>
            <a:pPr lvl="1"/>
            <a:r>
              <a:rPr lang="ru-RU" dirty="0"/>
              <a:t>изменению самих документов.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94714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22114"/>
          </a:xfrm>
        </p:spPr>
        <p:txBody>
          <a:bodyPr/>
          <a:lstStyle/>
          <a:p>
            <a:r>
              <a:rPr lang="ru-RU" b="1" dirty="0"/>
              <a:t>Стоимость сопровождения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412776"/>
            <a:ext cx="8820472" cy="5445224"/>
          </a:xfrm>
        </p:spPr>
        <p:txBody>
          <a:bodyPr/>
          <a:lstStyle/>
          <a:p>
            <a:r>
              <a:rPr lang="ru-RU" dirty="0"/>
              <a:t>На поддержку (сопровождение) обычно тратится примерно 40-80% (в среднем 60%) стоимости ПО.</a:t>
            </a:r>
          </a:p>
          <a:p>
            <a:r>
              <a:rPr lang="ru-RU" dirty="0"/>
              <a:t>На модернизацию (усовершенствование) ПО тратится примерно 60% от затрат на сопровождение ПО.</a:t>
            </a:r>
          </a:p>
          <a:p>
            <a:r>
              <a:rPr lang="ru-RU" dirty="0"/>
              <a:t>Правило 60/60 – примерно 60% тратится на сопровождение и из них примерно 60% тратится на модернизацию.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8578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922114"/>
          </a:xfrm>
        </p:spPr>
        <p:txBody>
          <a:bodyPr>
            <a:normAutofit/>
          </a:bodyPr>
          <a:lstStyle/>
          <a:p>
            <a:r>
              <a:rPr lang="ru-RU" dirty="0"/>
              <a:t>Структура стоимости сопровождения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484784"/>
            <a:ext cx="8820472" cy="5373216"/>
          </a:xfrm>
        </p:spPr>
        <p:txBody>
          <a:bodyPr/>
          <a:lstStyle/>
          <a:p>
            <a:r>
              <a:rPr lang="ru-RU" dirty="0"/>
              <a:t>60% - улучшение ПО  </a:t>
            </a:r>
          </a:p>
          <a:p>
            <a:pPr lvl="1"/>
            <a:r>
              <a:rPr lang="ru-RU" dirty="0"/>
              <a:t>добавление функциональности</a:t>
            </a:r>
          </a:p>
          <a:p>
            <a:r>
              <a:rPr lang="ru-RU" dirty="0"/>
              <a:t>17% - исправление ошибок</a:t>
            </a:r>
          </a:p>
          <a:p>
            <a:r>
              <a:rPr lang="ru-RU" dirty="0"/>
              <a:t>18% - адаптивная поддержка</a:t>
            </a:r>
          </a:p>
          <a:p>
            <a:pPr lvl="1"/>
            <a:r>
              <a:rPr lang="ru-RU" dirty="0"/>
              <a:t>настройка ПО на работу в изменяющихся условиях.</a:t>
            </a:r>
          </a:p>
          <a:p>
            <a:pPr lvl="1"/>
            <a:r>
              <a:rPr lang="ru-RU" dirty="0"/>
              <a:t>новая среда, новая ОС</a:t>
            </a:r>
          </a:p>
          <a:p>
            <a:r>
              <a:rPr lang="ru-RU" dirty="0"/>
              <a:t>5% - другое (превентивная поддержка)</a:t>
            </a:r>
          </a:p>
          <a:p>
            <a:pPr lvl="1"/>
            <a:r>
              <a:rPr lang="ru-RU" dirty="0"/>
              <a:t>на улучшение структуры ПО</a:t>
            </a:r>
          </a:p>
          <a:p>
            <a:pPr lvl="1"/>
            <a:r>
              <a:rPr lang="ru-RU" dirty="0"/>
              <a:t>рефакторинг</a:t>
            </a:r>
          </a:p>
          <a:p>
            <a:pPr lvl="1"/>
            <a:endParaRPr lang="ru-RU" dirty="0"/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0365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Распределение затрат на сопровождение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38249" t="24046" r="9102" b="24835"/>
          <a:stretch/>
        </p:blipFill>
        <p:spPr>
          <a:xfrm>
            <a:off x="323528" y="1600200"/>
            <a:ext cx="8424936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468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ru-RU" dirty="0"/>
              <a:t>Распределение расходов по причинам сопровождения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1650653"/>
            <a:ext cx="4680520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3900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50106"/>
          </a:xfrm>
        </p:spPr>
        <p:txBody>
          <a:bodyPr>
            <a:normAutofit fontScale="90000"/>
          </a:bodyPr>
          <a:lstStyle/>
          <a:p>
            <a:r>
              <a:rPr lang="ru-RU" dirty="0"/>
              <a:t>Сопровождение как новые возможности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3528" y="1484784"/>
            <a:ext cx="8820472" cy="5373216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Поддержка (сопровождение) ПО – это возможность развития, а не проблема.</a:t>
            </a:r>
          </a:p>
          <a:p>
            <a:r>
              <a:rPr lang="ru-RU" dirty="0"/>
              <a:t>Поддержка ПО отличается от разработки ПО только одной дополнительной работой – «разбор (понимание) существующего продукта».</a:t>
            </a:r>
          </a:p>
          <a:p>
            <a:pPr lvl="1"/>
            <a:r>
              <a:rPr lang="ru-RU" dirty="0"/>
              <a:t>на данную работу тратится примерно 30% общей стоимости поддержки ПО.</a:t>
            </a:r>
          </a:p>
          <a:p>
            <a:pPr lvl="1"/>
            <a:r>
              <a:rPr lang="ru-RU" dirty="0"/>
              <a:t>можно говорить о том, что поддержка ПО является более сложной задачей, чем разработка нового ПО.</a:t>
            </a:r>
          </a:p>
          <a:p>
            <a:r>
              <a:rPr lang="ru-RU" dirty="0"/>
              <a:t>Более совершенная разработка ПО приводит к увеличению затрат на сопровождение, а не к их уменьшению.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3250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78098"/>
          </a:xfrm>
        </p:spPr>
        <p:txBody>
          <a:bodyPr>
            <a:normAutofit/>
          </a:bodyPr>
          <a:lstStyle/>
          <a:p>
            <a:r>
              <a:rPr lang="ru-RU" dirty="0"/>
              <a:t>Работы процесса сопровождения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268760"/>
            <a:ext cx="4248472" cy="5445223"/>
          </a:xfrm>
        </p:spPr>
        <p:txBody>
          <a:bodyPr>
            <a:normAutofit/>
          </a:bodyPr>
          <a:lstStyle/>
          <a:p>
            <a:pPr marL="279400" indent="-279400">
              <a:buFont typeface="+mj-lt"/>
              <a:buAutoNum type="arabicPeriod"/>
            </a:pPr>
            <a:r>
              <a:rPr lang="ru-RU" sz="2800" dirty="0"/>
              <a:t>подготовку процесса сопровождения;</a:t>
            </a:r>
          </a:p>
          <a:p>
            <a:pPr marL="279400" indent="-279400">
              <a:buFont typeface="+mj-lt"/>
              <a:buAutoNum type="arabicPeriod"/>
            </a:pPr>
            <a:r>
              <a:rPr lang="ru-RU" sz="2800" dirty="0"/>
              <a:t>анализ проблем и изменений (модификаций);</a:t>
            </a:r>
          </a:p>
          <a:p>
            <a:pPr marL="279400" indent="-279400">
              <a:buFont typeface="+mj-lt"/>
              <a:buAutoNum type="arabicPeriod"/>
            </a:pPr>
            <a:r>
              <a:rPr lang="ru-RU" sz="2800" dirty="0"/>
              <a:t>внесение изменений;</a:t>
            </a:r>
          </a:p>
          <a:p>
            <a:pPr marL="279400" indent="-279400">
              <a:buFont typeface="+mj-lt"/>
              <a:buAutoNum type="arabicPeriod"/>
            </a:pPr>
            <a:r>
              <a:rPr lang="ru-RU" sz="2800" dirty="0"/>
              <a:t>проверку и приемку при сопровождении;</a:t>
            </a:r>
          </a:p>
          <a:p>
            <a:pPr marL="279400" indent="-279400">
              <a:buFont typeface="+mj-lt"/>
              <a:buAutoNum type="arabicPeriod"/>
            </a:pPr>
            <a:r>
              <a:rPr lang="ru-RU" sz="2800" dirty="0"/>
              <a:t>перенос;</a:t>
            </a:r>
          </a:p>
          <a:p>
            <a:pPr marL="279400" indent="-279400">
              <a:buFont typeface="+mj-lt"/>
              <a:buAutoNum type="arabicPeriod"/>
            </a:pPr>
            <a:r>
              <a:rPr lang="ru-RU" sz="2800" dirty="0"/>
              <a:t>снятие с эксплуатации.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57" t="24685" r="21528" b="11314"/>
          <a:stretch/>
        </p:blipFill>
        <p:spPr bwMode="auto">
          <a:xfrm>
            <a:off x="4329062" y="2204864"/>
            <a:ext cx="4814938" cy="3520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5088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Снятие программного средства с эксплуатации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600200"/>
            <a:ext cx="8964488" cy="5257800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Сразу же по достижении ПО окончания срока его службы оно должно быть снят с эксплуатации. </a:t>
            </a:r>
          </a:p>
          <a:p>
            <a:r>
              <a:rPr lang="ru-RU" dirty="0"/>
              <a:t>Проводится анализ, подтверждающий решение о снятии программного продукта с эксплуатации. </a:t>
            </a:r>
          </a:p>
          <a:p>
            <a:r>
              <a:rPr lang="ru-RU" dirty="0"/>
              <a:t>В анализе должны быть определены и экономически обоснованы:</a:t>
            </a:r>
          </a:p>
          <a:p>
            <a:pPr lvl="1"/>
            <a:r>
              <a:rPr lang="ru-RU" dirty="0"/>
              <a:t>возможность сохранения устаревшей технологии;</a:t>
            </a:r>
          </a:p>
          <a:p>
            <a:pPr lvl="1"/>
            <a:r>
              <a:rPr lang="ru-RU" dirty="0"/>
              <a:t>переход на новую технологию путем создания нового ПО;</a:t>
            </a:r>
          </a:p>
          <a:p>
            <a:pPr lvl="1"/>
            <a:r>
              <a:rPr lang="ru-RU" dirty="0"/>
              <a:t>разработка нового программного продукта для обеспечения модульности;</a:t>
            </a:r>
          </a:p>
          <a:p>
            <a:pPr lvl="1"/>
            <a:r>
              <a:rPr lang="ru-RU" dirty="0"/>
              <a:t>разработка нового ПО для упрощения сопровождения;</a:t>
            </a:r>
          </a:p>
          <a:p>
            <a:pPr lvl="1"/>
            <a:r>
              <a:rPr lang="ru-RU" dirty="0"/>
              <a:t>разработка нового ПО для обеспечения стандартизации.</a:t>
            </a:r>
          </a:p>
          <a:p>
            <a:r>
              <a:rPr lang="ru-RU" dirty="0"/>
              <a:t>ПО включается в план снятия с эксплуатации. 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89422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6688</TotalTime>
  <Words>9267</Words>
  <Application>Microsoft Office PowerPoint</Application>
  <PresentationFormat>Экран (4:3)</PresentationFormat>
  <Paragraphs>896</Paragraphs>
  <Slides>37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37</vt:i4>
      </vt:variant>
    </vt:vector>
  </HeadingPairs>
  <TitlesOfParts>
    <vt:vector size="48" baseType="lpstr">
      <vt:lpstr>Arial</vt:lpstr>
      <vt:lpstr>Arial,Bold</vt:lpstr>
      <vt:lpstr>Arial,BoldItalic</vt:lpstr>
      <vt:lpstr>Calibri</vt:lpstr>
      <vt:lpstr>Times New Roman</vt:lpstr>
      <vt:lpstr>TimesNewRoman</vt:lpstr>
      <vt:lpstr>TimesNewRoman,Bold</vt:lpstr>
      <vt:lpstr>TimesNewRoman,BoldItalic</vt:lpstr>
      <vt:lpstr>TimesNewRoman,Italic</vt:lpstr>
      <vt:lpstr>Тема Office</vt:lpstr>
      <vt:lpstr>1_Тема Office</vt:lpstr>
      <vt:lpstr>Технология разработки программного обеспечения  </vt:lpstr>
      <vt:lpstr>Этапы жизненного цикла ПО</vt:lpstr>
      <vt:lpstr>Внедрение программного обеспечения</vt:lpstr>
      <vt:lpstr>Внедрение ПО</vt:lpstr>
      <vt:lpstr>Современные программные системы</vt:lpstr>
      <vt:lpstr>Вычислительная среда</vt:lpstr>
      <vt:lpstr>Развертывание программной системы</vt:lpstr>
      <vt:lpstr>UML диаграмма развертывания</vt:lpstr>
      <vt:lpstr>Примеры диаграмм развертывания</vt:lpstr>
      <vt:lpstr>Артефакты</vt:lpstr>
      <vt:lpstr>Экземпляр артефакта</vt:lpstr>
      <vt:lpstr>Процесс развертывания ПО</vt:lpstr>
      <vt:lpstr>Пример тестовой среды</vt:lpstr>
      <vt:lpstr>Проблема развертывания программной системы</vt:lpstr>
      <vt:lpstr>Внедрение ПО в вычислительную среду заказчика</vt:lpstr>
      <vt:lpstr>Опытное внедрение ПО</vt:lpstr>
      <vt:lpstr>Завершение внедрения ПО</vt:lpstr>
      <vt:lpstr>Основные работы по внедрению ПО</vt:lpstr>
      <vt:lpstr>Сопровождение программного обеспечения</vt:lpstr>
      <vt:lpstr>Этапы жизненного цикла ПО</vt:lpstr>
      <vt:lpstr>Процессы ПИ, рассматриваемые в данном курсе</vt:lpstr>
      <vt:lpstr>Процесс сопровождения</vt:lpstr>
      <vt:lpstr>Цель сопровождения</vt:lpstr>
      <vt:lpstr>Основная задача сопровождения</vt:lpstr>
      <vt:lpstr>Проблема сопровождения ПО</vt:lpstr>
      <vt:lpstr>Сопровождаемость ПО</vt:lpstr>
      <vt:lpstr>Типы сопровождения</vt:lpstr>
      <vt:lpstr>Корректирующее сопровождение </vt:lpstr>
      <vt:lpstr>Корректирующее сопровождение (2)</vt:lpstr>
      <vt:lpstr>Модернизирующее сопровождение </vt:lpstr>
      <vt:lpstr>Стоимость сопровождения</vt:lpstr>
      <vt:lpstr>Структура стоимости сопровождения</vt:lpstr>
      <vt:lpstr>Распределение затрат на сопровождение</vt:lpstr>
      <vt:lpstr>Распределение расходов по причинам сопровождения</vt:lpstr>
      <vt:lpstr>Сопровождение как новые возможности</vt:lpstr>
      <vt:lpstr>Работы процесса сопровождения</vt:lpstr>
      <vt:lpstr>Снятие программного средства с эксплуатации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Технология разработки программного обеспечения</dc:title>
  <dc:creator>Тузовский</dc:creator>
  <cp:lastModifiedBy>admin</cp:lastModifiedBy>
  <cp:revision>94</cp:revision>
  <dcterms:created xsi:type="dcterms:W3CDTF">2013-12-24T07:11:58Z</dcterms:created>
  <dcterms:modified xsi:type="dcterms:W3CDTF">2026-01-11T10:51:21Z</dcterms:modified>
</cp:coreProperties>
</file>